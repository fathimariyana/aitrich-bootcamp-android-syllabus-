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530225" y="1371600"/>
            <a:ext cx="77724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THE ANDROID STACK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8CA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Beginner-Friendly Guide to Android's Architecture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463040" cy="64008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548640" y="41148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21408" y="4114800"/>
            <a:ext cx="1463040" cy="64008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8" name="Text 6"/>
          <p:cNvSpPr/>
          <p:nvPr/>
        </p:nvSpPr>
        <p:spPr>
          <a:xfrm>
            <a:off x="2121408" y="41148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 Framework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94176" y="4114800"/>
            <a:ext cx="1463040" cy="64008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0" name="Text 8"/>
          <p:cNvSpPr/>
          <p:nvPr/>
        </p:nvSpPr>
        <p:spPr>
          <a:xfrm>
            <a:off x="3694176" y="41148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Native Libraries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66944" y="4114800"/>
            <a:ext cx="1463040" cy="640080"/>
          </a:xfrm>
          <a:prstGeom prst="rect">
            <a:avLst/>
          </a:prstGeom>
          <a:solidFill>
            <a:srgbClr val="0096B7"/>
          </a:solidFill>
        </p:spPr>
      </p:sp>
      <p:sp>
        <p:nvSpPr>
          <p:cNvPr id="12" name="Text 10"/>
          <p:cNvSpPr/>
          <p:nvPr/>
        </p:nvSpPr>
        <p:spPr>
          <a:xfrm>
            <a:off x="5266944" y="41148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 Runtime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39712" y="4114800"/>
            <a:ext cx="1463040" cy="640080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14" name="Text 12"/>
          <p:cNvSpPr/>
          <p:nvPr/>
        </p:nvSpPr>
        <p:spPr>
          <a:xfrm>
            <a:off x="6839712" y="4114800"/>
            <a:ext cx="14630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Linux Kernel</a:t>
            </a:r>
            <a:endParaRPr lang="en-US" sz="900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What is Android?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6" name="Text 4"/>
          <p:cNvSpPr/>
          <p:nvPr/>
        </p:nvSpPr>
        <p:spPr>
          <a:xfrm>
            <a:off x="658368" y="1042416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</a:rPr>
              <a:t>Software Stack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14600" y="1042416"/>
            <a:ext cx="60807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Android is a complete software stack for mobile devices — not just an 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9" name="Shape 7"/>
          <p:cNvSpPr/>
          <p:nvPr/>
        </p:nvSpPr>
        <p:spPr>
          <a:xfrm>
            <a:off x="457200" y="1764792"/>
            <a:ext cx="73152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0" name="Text 8"/>
          <p:cNvSpPr/>
          <p:nvPr/>
        </p:nvSpPr>
        <p:spPr>
          <a:xfrm>
            <a:off x="658368" y="1801368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</a:rPr>
              <a:t>Operating System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14600" y="1801368"/>
            <a:ext cx="60807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Provides the platform on which everything runs (based on Linux 2.6).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23744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3" name="Shape 11"/>
          <p:cNvSpPr/>
          <p:nvPr/>
        </p:nvSpPr>
        <p:spPr>
          <a:xfrm>
            <a:off x="457200" y="2523744"/>
            <a:ext cx="73152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4" name="Text 12"/>
          <p:cNvSpPr/>
          <p:nvPr/>
        </p:nvSpPr>
        <p:spPr>
          <a:xfrm>
            <a:off x="658368" y="2560320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</a:rPr>
              <a:t>Middleware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14600" y="2560320"/>
            <a:ext cx="60807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Programming that allows apps to communicate with networks and each other.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7" name="Shape 15"/>
          <p:cNvSpPr/>
          <p:nvPr/>
        </p:nvSpPr>
        <p:spPr>
          <a:xfrm>
            <a:off x="457200" y="3282696"/>
            <a:ext cx="73152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8" name="Text 16"/>
          <p:cNvSpPr/>
          <p:nvPr/>
        </p:nvSpPr>
        <p:spPr>
          <a:xfrm>
            <a:off x="658368" y="3319272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14600" y="3319272"/>
            <a:ext cx="60807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Actual programs users interact with: Email, SMS, Maps, Browser, Contacts.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41648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1" name="Shape 19"/>
          <p:cNvSpPr/>
          <p:nvPr/>
        </p:nvSpPr>
        <p:spPr>
          <a:xfrm>
            <a:off x="457200" y="4041648"/>
            <a:ext cx="73152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2" name="Text 20"/>
          <p:cNvSpPr/>
          <p:nvPr/>
        </p:nvSpPr>
        <p:spPr>
          <a:xfrm>
            <a:off x="658368" y="4078224"/>
            <a:ext cx="18288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</a:rPr>
              <a:t>Written in Java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4078224"/>
            <a:ext cx="608076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All Android applications are written using the Java programming language.</a:t>
            </a:r>
            <a:endParaRPr lang="en-US" sz="11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Android Software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0" y="914400"/>
            <a:ext cx="4572000" cy="594360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5" name="Text 3"/>
          <p:cNvSpPr/>
          <p:nvPr/>
        </p:nvSpPr>
        <p:spPr>
          <a:xfrm>
            <a:off x="2286000" y="914400"/>
            <a:ext cx="45720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5920" y="1600200"/>
            <a:ext cx="5852160" cy="59436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7" name="Text 5"/>
          <p:cNvSpPr/>
          <p:nvPr/>
        </p:nvSpPr>
        <p:spPr>
          <a:xfrm>
            <a:off x="1645920" y="1600200"/>
            <a:ext cx="58521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APPLICATION FRAMEWORK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46175" y="2240280"/>
            <a:ext cx="7132320" cy="594360"/>
          </a:xfrm>
          <a:prstGeom prst="rect">
            <a:avLst/>
          </a:prstGeom>
          <a:solidFill>
            <a:srgbClr val="023E8A"/>
          </a:solidFill>
        </p:spPr>
        <p:txBody>
          <a:bodyPr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9160" y="2377440"/>
            <a:ext cx="713232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NATIVE LIBRARIES  |  ANDROID RUNTIME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971800"/>
            <a:ext cx="8412480" cy="594360"/>
          </a:xfrm>
          <a:prstGeom prst="rect">
            <a:avLst/>
          </a:prstGeom>
          <a:solidFill>
            <a:srgbClr val="03045E"/>
          </a:solidFill>
        </p:spPr>
      </p:sp>
      <p:sp>
        <p:nvSpPr>
          <p:cNvPr id="11" name="Text 9"/>
          <p:cNvSpPr/>
          <p:nvPr/>
        </p:nvSpPr>
        <p:spPr>
          <a:xfrm>
            <a:off x="365760" y="2971800"/>
            <a:ext cx="8412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LINUX KERNEL (2.6)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28750" y="2286000"/>
            <a:ext cx="1463040" cy="5029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3" name="Text 11"/>
          <p:cNvSpPr/>
          <p:nvPr/>
        </p:nvSpPr>
        <p:spPr>
          <a:xfrm>
            <a:off x="1428750" y="228600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Core Libraries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98235" y="2331720"/>
            <a:ext cx="1463040" cy="50292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5" name="Text 13"/>
          <p:cNvSpPr/>
          <p:nvPr/>
        </p:nvSpPr>
        <p:spPr>
          <a:xfrm>
            <a:off x="6198235" y="2377440"/>
            <a:ext cx="14630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Dalvik VM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9DC3"/>
                </a:solidFill>
              </a:rPr>
              <a:t>Each layer depends on the layer below it. The Linux Kernel is the foundation.</a:t>
            </a:r>
            <a:endParaRPr lang="en-US" sz="12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Linux Kernel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</a:rPr>
              <a:t>The foundation of Android — acts as hardware abstraction layer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3840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Why Linux?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01168" cy="201168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777240" y="173736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Great memory &amp; process management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201168" cy="201168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9" name="Text 7"/>
          <p:cNvSpPr/>
          <p:nvPr/>
        </p:nvSpPr>
        <p:spPr>
          <a:xfrm>
            <a:off x="777240" y="2221992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Permissions-based security model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52344"/>
            <a:ext cx="201168" cy="201168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1" name="Text 9"/>
          <p:cNvSpPr/>
          <p:nvPr/>
        </p:nvSpPr>
        <p:spPr>
          <a:xfrm>
            <a:off x="777240" y="2706624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Proven, reliable driver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36976"/>
            <a:ext cx="201168" cy="201168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3" name="Text 11"/>
          <p:cNvSpPr/>
          <p:nvPr/>
        </p:nvSpPr>
        <p:spPr>
          <a:xfrm>
            <a:off x="777240" y="3191256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Support for shared libraries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21608"/>
            <a:ext cx="201168" cy="201168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5" name="Text 13"/>
          <p:cNvSpPr/>
          <p:nvPr/>
        </p:nvSpPr>
        <p:spPr>
          <a:xfrm>
            <a:off x="777240" y="3675888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Open source — free to use &amp; modify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1325880"/>
            <a:ext cx="4114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7F00"/>
                </a:solidFill>
              </a:rPr>
              <a:t>Kernel Drivers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178308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18" name="Text 16"/>
          <p:cNvSpPr/>
          <p:nvPr/>
        </p:nvSpPr>
        <p:spPr>
          <a:xfrm>
            <a:off x="4754880" y="17830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Display Driver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766560" y="178308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20" name="Text 18"/>
          <p:cNvSpPr/>
          <p:nvPr/>
        </p:nvSpPr>
        <p:spPr>
          <a:xfrm>
            <a:off x="6766560" y="178308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Camera Driver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22" name="Text 20"/>
          <p:cNvSpPr/>
          <p:nvPr/>
        </p:nvSpPr>
        <p:spPr>
          <a:xfrm>
            <a:off x="4754880" y="22860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Bluetooth Driver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66560" y="228600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24" name="Text 22"/>
          <p:cNvSpPr/>
          <p:nvPr/>
        </p:nvSpPr>
        <p:spPr>
          <a:xfrm>
            <a:off x="6766560" y="228600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Shared Memory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78892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26" name="Text 24"/>
          <p:cNvSpPr/>
          <p:nvPr/>
        </p:nvSpPr>
        <p:spPr>
          <a:xfrm>
            <a:off x="4754880" y="27889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Binder (IPC)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66560" y="278892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28" name="Text 26"/>
          <p:cNvSpPr/>
          <p:nvPr/>
        </p:nvSpPr>
        <p:spPr>
          <a:xfrm>
            <a:off x="6766560" y="278892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USB Driver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29184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30" name="Text 28"/>
          <p:cNvSpPr/>
          <p:nvPr/>
        </p:nvSpPr>
        <p:spPr>
          <a:xfrm>
            <a:off x="4754880" y="329184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Keypad Driver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766560" y="329184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32" name="Text 30"/>
          <p:cNvSpPr/>
          <p:nvPr/>
        </p:nvSpPr>
        <p:spPr>
          <a:xfrm>
            <a:off x="6766560" y="329184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WiFi Driver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79476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34" name="Text 32"/>
          <p:cNvSpPr/>
          <p:nvPr/>
        </p:nvSpPr>
        <p:spPr>
          <a:xfrm>
            <a:off x="4754880" y="37947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Audio Drivers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6560" y="3794760"/>
            <a:ext cx="1828800" cy="411480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36" name="Text 34"/>
          <p:cNvSpPr/>
          <p:nvPr/>
        </p:nvSpPr>
        <p:spPr>
          <a:xfrm>
            <a:off x="6766560" y="3794760"/>
            <a:ext cx="18288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Power Mgmt</a:t>
            </a:r>
            <a:endParaRPr lang="en-US" sz="95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Linux Kernel — Binder (IPC)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01168" cy="201168"/>
          </a:xfrm>
          <a:prstGeom prst="ellipse">
            <a:avLst/>
          </a:prstGeom>
          <a:solidFill>
            <a:srgbClr val="F77F00"/>
          </a:solidFill>
        </p:spPr>
      </p:sp>
      <p:sp>
        <p:nvSpPr>
          <p:cNvPr id="5" name="Text 3"/>
          <p:cNvSpPr/>
          <p:nvPr/>
        </p:nvSpPr>
        <p:spPr>
          <a:xfrm>
            <a:off x="777240" y="960120"/>
            <a:ext cx="8046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OpenBinder-based driver for Inter-Process Communication (IPC)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01168" cy="201168"/>
          </a:xfrm>
          <a:prstGeom prst="ellipse">
            <a:avLst/>
          </a:prstGeom>
          <a:solidFill>
            <a:srgbClr val="F77F00"/>
          </a:solidFill>
        </p:spPr>
      </p:sp>
      <p:sp>
        <p:nvSpPr>
          <p:cNvPr id="7" name="Text 5"/>
          <p:cNvSpPr/>
          <p:nvPr/>
        </p:nvSpPr>
        <p:spPr>
          <a:xfrm>
            <a:off x="777240" y="1399032"/>
            <a:ext cx="8046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Allows apps and services to communicate across different processes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201168" cy="201168"/>
          </a:xfrm>
          <a:prstGeom prst="ellipse">
            <a:avLst/>
          </a:prstGeom>
          <a:solidFill>
            <a:srgbClr val="F77F00"/>
          </a:solidFill>
        </p:spPr>
      </p:sp>
      <p:sp>
        <p:nvSpPr>
          <p:cNvPr id="9" name="Text 7"/>
          <p:cNvSpPr/>
          <p:nvPr/>
        </p:nvSpPr>
        <p:spPr>
          <a:xfrm>
            <a:off x="777240" y="1837944"/>
            <a:ext cx="8046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High performance through shared memory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201168" cy="201168"/>
          </a:xfrm>
          <a:prstGeom prst="ellipse">
            <a:avLst/>
          </a:prstGeom>
          <a:solidFill>
            <a:srgbClr val="F77F00"/>
          </a:solidFill>
        </p:spPr>
      </p:sp>
      <p:sp>
        <p:nvSpPr>
          <p:cNvPr id="11" name="Text 9"/>
          <p:cNvSpPr/>
          <p:nvPr/>
        </p:nvSpPr>
        <p:spPr>
          <a:xfrm>
            <a:off x="777240" y="2276856"/>
            <a:ext cx="8046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Per-process thread pool for handling requests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201168" cy="201168"/>
          </a:xfrm>
          <a:prstGeom prst="ellipse">
            <a:avLst/>
          </a:prstGeom>
          <a:solidFill>
            <a:srgbClr val="F77F00"/>
          </a:solidFill>
        </p:spPr>
      </p:sp>
      <p:sp>
        <p:nvSpPr>
          <p:cNvPr id="13" name="Text 11"/>
          <p:cNvSpPr/>
          <p:nvPr/>
        </p:nvSpPr>
        <p:spPr>
          <a:xfrm>
            <a:off x="777240" y="2715768"/>
            <a:ext cx="8046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Synchronous calls between processes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8CAE4"/>
                </a:solidFill>
              </a:rPr>
              <a:t>How Binder Works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2286000" cy="82296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16" name="Text 14"/>
          <p:cNvSpPr/>
          <p:nvPr/>
        </p:nvSpPr>
        <p:spPr>
          <a:xfrm>
            <a:off x="731520" y="3703320"/>
            <a:ext cx="2286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(App A)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3703320"/>
            <a:ext cx="2286000" cy="82296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18" name="Text 16"/>
          <p:cNvSpPr/>
          <p:nvPr/>
        </p:nvSpPr>
        <p:spPr>
          <a:xfrm>
            <a:off x="3566160" y="3703320"/>
            <a:ext cx="2286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BINDER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Driver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703320"/>
            <a:ext cx="2286000" cy="822960"/>
          </a:xfrm>
          <a:prstGeom prst="rect">
            <a:avLst/>
          </a:prstGeom>
          <a:solidFill>
            <a:srgbClr val="1A3A5C"/>
          </a:solidFill>
        </p:spPr>
      </p:sp>
      <p:sp>
        <p:nvSpPr>
          <p:cNvPr id="20" name="Text 18"/>
          <p:cNvSpPr/>
          <p:nvPr/>
        </p:nvSpPr>
        <p:spPr>
          <a:xfrm>
            <a:off x="6400800" y="3703320"/>
            <a:ext cx="22860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Process 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(Service A)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17520" y="4114800"/>
            <a:ext cx="7315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4114800"/>
            <a:ext cx="7315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1800" y="39319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06440" y="393192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Linux Kernel — Power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54864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6" name="Text 4"/>
          <p:cNvSpPr/>
          <p:nvPr/>
        </p:nvSpPr>
        <p:spPr>
          <a:xfrm>
            <a:off x="640080" y="1005840"/>
            <a:ext cx="7955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Lightweight driver built on top of standard Linux power management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8229600" cy="5486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8" name="Shape 6"/>
          <p:cNvSpPr/>
          <p:nvPr/>
        </p:nvSpPr>
        <p:spPr>
          <a:xfrm>
            <a:off x="457200" y="1664208"/>
            <a:ext cx="64008" cy="54864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9" name="Text 7"/>
          <p:cNvSpPr/>
          <p:nvPr/>
        </p:nvSpPr>
        <p:spPr>
          <a:xfrm>
            <a:off x="640080" y="1664208"/>
            <a:ext cx="7955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CPU turns OFF when no application or service needs power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322576"/>
            <a:ext cx="8229600" cy="5486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1" name="Shape 9"/>
          <p:cNvSpPr/>
          <p:nvPr/>
        </p:nvSpPr>
        <p:spPr>
          <a:xfrm>
            <a:off x="457200" y="2322576"/>
            <a:ext cx="64008" cy="54864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12" name="Text 10"/>
          <p:cNvSpPr/>
          <p:nvPr/>
        </p:nvSpPr>
        <p:spPr>
          <a:xfrm>
            <a:off x="640080" y="2322576"/>
            <a:ext cx="7955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Wake Locks allow components to keep the CPU/screen powered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80944"/>
            <a:ext cx="8229600" cy="5486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4" name="Shape 12"/>
          <p:cNvSpPr/>
          <p:nvPr/>
        </p:nvSpPr>
        <p:spPr>
          <a:xfrm>
            <a:off x="457200" y="2980944"/>
            <a:ext cx="64008" cy="54864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15" name="Text 13"/>
          <p:cNvSpPr/>
          <p:nvPr/>
        </p:nvSpPr>
        <p:spPr>
          <a:xfrm>
            <a:off x="640080" y="2980944"/>
            <a:ext cx="7955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Full Wake Lock: keeps CPU, screen &amp; keyboard 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5486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7" name="Shape 15"/>
          <p:cNvSpPr/>
          <p:nvPr/>
        </p:nvSpPr>
        <p:spPr>
          <a:xfrm>
            <a:off x="457200" y="3639312"/>
            <a:ext cx="64008" cy="54864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18" name="Text 16"/>
          <p:cNvSpPr/>
          <p:nvPr/>
        </p:nvSpPr>
        <p:spPr>
          <a:xfrm>
            <a:off x="640080" y="3639312"/>
            <a:ext cx="7955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Partial Wake Lock: only CPU stays ON (screen/keyboard can sleep)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43891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8CAE4"/>
                </a:solidFill>
              </a:rPr>
              <a:t>No Active Wake Locks → CPU turns OFF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438912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No Partial Wake Locks → Screen &amp; Keyboard turn OFF</a:t>
            </a:r>
            <a:endParaRPr lang="en-US" sz="1100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4124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Linux Kernel — Other Components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058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347472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6" name="Text 4"/>
          <p:cNvSpPr/>
          <p:nvPr/>
        </p:nvSpPr>
        <p:spPr>
          <a:xfrm>
            <a:off x="457200" y="109728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Logger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Lightweight logging device to capture system, radio, and log data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023360" cy="10058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9" name="Shape 7"/>
          <p:cNvSpPr/>
          <p:nvPr/>
        </p:nvSpPr>
        <p:spPr>
          <a:xfrm>
            <a:off x="4846320" y="1097280"/>
            <a:ext cx="4023360" cy="347472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10" name="Text 8"/>
          <p:cNvSpPr/>
          <p:nvPr/>
        </p:nvSpPr>
        <p:spPr>
          <a:xfrm>
            <a:off x="4846320" y="109728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Android Alarm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81328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Provides timers that wake the device from sleep; keeps monotonic time while asleep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023360" cy="10058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3" name="Shape 11"/>
          <p:cNvSpPr/>
          <p:nvPr/>
        </p:nvSpPr>
        <p:spPr>
          <a:xfrm>
            <a:off x="457200" y="2240280"/>
            <a:ext cx="4023360" cy="347472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14" name="Text 12"/>
          <p:cNvSpPr/>
          <p:nvPr/>
        </p:nvSpPr>
        <p:spPr>
          <a:xfrm>
            <a:off x="457200" y="224028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M-Systems (YAFFS2)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2624328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File system for memory cards and flash media storage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240280"/>
            <a:ext cx="4023360" cy="10058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7" name="Shape 15"/>
          <p:cNvSpPr/>
          <p:nvPr/>
        </p:nvSpPr>
        <p:spPr>
          <a:xfrm>
            <a:off x="4846320" y="2240280"/>
            <a:ext cx="4023360" cy="347472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18" name="Text 16"/>
          <p:cNvSpPr/>
          <p:nvPr/>
        </p:nvSpPr>
        <p:spPr>
          <a:xfrm>
            <a:off x="4846320" y="224028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Bluetooth Driver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624328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Manages Bluetooth radio communication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4023360" cy="10058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1" name="Shape 19"/>
          <p:cNvSpPr/>
          <p:nvPr/>
        </p:nvSpPr>
        <p:spPr>
          <a:xfrm>
            <a:off x="457200" y="3383280"/>
            <a:ext cx="4023360" cy="347472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22" name="Text 20"/>
          <p:cNvSpPr/>
          <p:nvPr/>
        </p:nvSpPr>
        <p:spPr>
          <a:xfrm>
            <a:off x="457200" y="338328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Display Driver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767328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Controls the LCD/OLED screen output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383280"/>
            <a:ext cx="4023360" cy="10058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5" name="Shape 23"/>
          <p:cNvSpPr/>
          <p:nvPr/>
        </p:nvSpPr>
        <p:spPr>
          <a:xfrm>
            <a:off x="4846320" y="3383280"/>
            <a:ext cx="4023360" cy="347472"/>
          </a:xfrm>
          <a:prstGeom prst="rect">
            <a:avLst/>
          </a:prstGeom>
          <a:solidFill>
            <a:srgbClr val="7B2D00"/>
          </a:solidFill>
        </p:spPr>
      </p:sp>
      <p:sp>
        <p:nvSpPr>
          <p:cNvPr id="26" name="Text 24"/>
          <p:cNvSpPr/>
          <p:nvPr/>
        </p:nvSpPr>
        <p:spPr>
          <a:xfrm>
            <a:off x="4846320" y="3383280"/>
            <a:ext cx="40233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Audio Drivers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767328"/>
            <a:ext cx="38404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Manages audio input/output routing</a:t>
            </a:r>
            <a:endParaRPr lang="en-US" sz="1050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Native Libraries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</a:rPr>
              <a:t>Written in C/C++ — accessed by apps through Java interfaces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7" name="Text 5"/>
          <p:cNvSpPr/>
          <p:nvPr/>
        </p:nvSpPr>
        <p:spPr>
          <a:xfrm>
            <a:off x="640080" y="134416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Bionic Libc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27632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Custom C library, small &amp; fast for embedded devices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0" name="Shape 8"/>
          <p:cNvSpPr/>
          <p:nvPr/>
        </p:nvSpPr>
        <p:spPr>
          <a:xfrm>
            <a:off x="4800600" y="1325880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1" name="Text 9"/>
          <p:cNvSpPr/>
          <p:nvPr/>
        </p:nvSpPr>
        <p:spPr>
          <a:xfrm>
            <a:off x="4983480" y="1344168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WebKit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627632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Browser engine with full CSS, JS, DOM, AJAX support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075688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4" name="Shape 12"/>
          <p:cNvSpPr/>
          <p:nvPr/>
        </p:nvSpPr>
        <p:spPr>
          <a:xfrm>
            <a:off x="457200" y="2075688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5" name="Text 13"/>
          <p:cNvSpPr/>
          <p:nvPr/>
        </p:nvSpPr>
        <p:spPr>
          <a:xfrm>
            <a:off x="640080" y="2093976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Media Framework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377440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Handles audio, video and image playback &amp; recording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075688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8" name="Shape 16"/>
          <p:cNvSpPr/>
          <p:nvPr/>
        </p:nvSpPr>
        <p:spPr>
          <a:xfrm>
            <a:off x="4800600" y="2075688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9" name="Text 17"/>
          <p:cNvSpPr/>
          <p:nvPr/>
        </p:nvSpPr>
        <p:spPr>
          <a:xfrm>
            <a:off x="4983480" y="2093976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SQLite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377440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Lightweight embedded relational database (500KB)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825496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2" name="Shape 20"/>
          <p:cNvSpPr/>
          <p:nvPr/>
        </p:nvSpPr>
        <p:spPr>
          <a:xfrm>
            <a:off x="457200" y="2825496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23" name="Text 21"/>
          <p:cNvSpPr/>
          <p:nvPr/>
        </p:nvSpPr>
        <p:spPr>
          <a:xfrm>
            <a:off x="640080" y="2843784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Surface Manager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127248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Composites 2D/3D surfaces for the display (SurfaceFlinger)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825496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6" name="Shape 24"/>
          <p:cNvSpPr/>
          <p:nvPr/>
        </p:nvSpPr>
        <p:spPr>
          <a:xfrm>
            <a:off x="4800600" y="2825496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27" name="Text 25"/>
          <p:cNvSpPr/>
          <p:nvPr/>
        </p:nvSpPr>
        <p:spPr>
          <a:xfrm>
            <a:off x="4983480" y="2843784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Audio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127248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Manages all audio routing and output (AudioFlinger)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575304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0" name="Shape 28"/>
          <p:cNvSpPr/>
          <p:nvPr/>
        </p:nvSpPr>
        <p:spPr>
          <a:xfrm>
            <a:off x="457200" y="3575304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1" name="Text 29"/>
          <p:cNvSpPr/>
          <p:nvPr/>
        </p:nvSpPr>
        <p:spPr>
          <a:xfrm>
            <a:off x="640080" y="3593592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OpenGL|ES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877056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3D graphics library — hardware or software rendering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575304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4" name="Shape 32"/>
          <p:cNvSpPr/>
          <p:nvPr/>
        </p:nvSpPr>
        <p:spPr>
          <a:xfrm>
            <a:off x="4800600" y="3575304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5" name="Text 33"/>
          <p:cNvSpPr/>
          <p:nvPr/>
        </p:nvSpPr>
        <p:spPr>
          <a:xfrm>
            <a:off x="4983480" y="3593592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SGL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877056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Android's 2D graphics library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325112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8" name="Shape 36"/>
          <p:cNvSpPr/>
          <p:nvPr/>
        </p:nvSpPr>
        <p:spPr>
          <a:xfrm>
            <a:off x="457200" y="4325112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9" name="Text 37"/>
          <p:cNvSpPr/>
          <p:nvPr/>
        </p:nvSpPr>
        <p:spPr>
          <a:xfrm>
            <a:off x="640080" y="434340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FreeType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626864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Font rasterization engine — converts fonts to bitmaps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4325112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42" name="Shape 40"/>
          <p:cNvSpPr/>
          <p:nvPr/>
        </p:nvSpPr>
        <p:spPr>
          <a:xfrm>
            <a:off x="4800600" y="4325112"/>
            <a:ext cx="64008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43" name="Text 41"/>
          <p:cNvSpPr/>
          <p:nvPr/>
        </p:nvSpPr>
        <p:spPr>
          <a:xfrm>
            <a:off x="4983480" y="4343400"/>
            <a:ext cx="1371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C4B6"/>
                </a:solidFill>
              </a:rPr>
              <a:t>SSL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83480" y="4626864"/>
            <a:ext cx="38404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Secure Socket Layer for encrypted networking</a:t>
            </a:r>
            <a:endParaRPr lang="en-US" sz="950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Native Libraries — Key Details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82880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5" name="Shape 3"/>
          <p:cNvSpPr/>
          <p:nvPr/>
        </p:nvSpPr>
        <p:spPr>
          <a:xfrm>
            <a:off x="457200" y="914400"/>
            <a:ext cx="4023360" cy="38404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Bionic Libc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389888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8" name="Text 6"/>
          <p:cNvSpPr/>
          <p:nvPr/>
        </p:nvSpPr>
        <p:spPr>
          <a:xfrm>
            <a:off x="804672" y="1353312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Custom standard C library for Android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719072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10" name="Text 8"/>
          <p:cNvSpPr/>
          <p:nvPr/>
        </p:nvSpPr>
        <p:spPr>
          <a:xfrm>
            <a:off x="804672" y="1682496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Very small footprint — loads into every process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048256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12" name="Text 10"/>
          <p:cNvSpPr/>
          <p:nvPr/>
        </p:nvSpPr>
        <p:spPr>
          <a:xfrm>
            <a:off x="804672" y="201168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Optimized for limited CPU power on mobile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14" name="Text 12"/>
          <p:cNvSpPr/>
          <p:nvPr/>
        </p:nvSpPr>
        <p:spPr>
          <a:xfrm>
            <a:off x="804672" y="2340864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Must compile all native code against Bionic (not glibc)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914400"/>
            <a:ext cx="4023360" cy="182880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6" name="Shape 14"/>
          <p:cNvSpPr/>
          <p:nvPr/>
        </p:nvSpPr>
        <p:spPr>
          <a:xfrm>
            <a:off x="4663440" y="914400"/>
            <a:ext cx="4023360" cy="38404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17" name="Text 15"/>
          <p:cNvSpPr/>
          <p:nvPr/>
        </p:nvSpPr>
        <p:spPr>
          <a:xfrm>
            <a:off x="4663440" y="91440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WebKit (LibWebCore)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754880" y="1389888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19" name="Text 17"/>
          <p:cNvSpPr/>
          <p:nvPr/>
        </p:nvSpPr>
        <p:spPr>
          <a:xfrm>
            <a:off x="5010912" y="1353312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Open-source browser rendering engine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0" y="1719072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21" name="Text 19"/>
          <p:cNvSpPr/>
          <p:nvPr/>
        </p:nvSpPr>
        <p:spPr>
          <a:xfrm>
            <a:off x="5010912" y="1682496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Renders full desktop-mode web pages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2048256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23" name="Text 21"/>
          <p:cNvSpPr/>
          <p:nvPr/>
        </p:nvSpPr>
        <p:spPr>
          <a:xfrm>
            <a:off x="5010912" y="2011680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Full CSS, JavaScript, DOM, AJAX support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377440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25" name="Text 23"/>
          <p:cNvSpPr/>
          <p:nvPr/>
        </p:nvSpPr>
        <p:spPr>
          <a:xfrm>
            <a:off x="5010912" y="2340864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Supports single-column &amp; adaptive layouts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880360"/>
            <a:ext cx="4023360" cy="164592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7" name="Shape 25"/>
          <p:cNvSpPr/>
          <p:nvPr/>
        </p:nvSpPr>
        <p:spPr>
          <a:xfrm>
            <a:off x="457200" y="2880360"/>
            <a:ext cx="4023360" cy="38404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28" name="Text 26"/>
          <p:cNvSpPr/>
          <p:nvPr/>
        </p:nvSpPr>
        <p:spPr>
          <a:xfrm>
            <a:off x="457200" y="288036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Media Framework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48640" y="3355848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30" name="Text 28"/>
          <p:cNvSpPr/>
          <p:nvPr/>
        </p:nvSpPr>
        <p:spPr>
          <a:xfrm>
            <a:off x="804672" y="3319272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Based on PacketVideo OpenCore platform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3685032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32" name="Text 30"/>
          <p:cNvSpPr/>
          <p:nvPr/>
        </p:nvSpPr>
        <p:spPr>
          <a:xfrm>
            <a:off x="804672" y="3648456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Supports standard video/audio/image formats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014216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34" name="Text 32"/>
          <p:cNvSpPr/>
          <p:nvPr/>
        </p:nvSpPr>
        <p:spPr>
          <a:xfrm>
            <a:off x="804672" y="3977640"/>
            <a:ext cx="34747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Hardware and software codec plug-ins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663440" y="2880360"/>
            <a:ext cx="4023360" cy="164592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6" name="Shape 34"/>
          <p:cNvSpPr/>
          <p:nvPr/>
        </p:nvSpPr>
        <p:spPr>
          <a:xfrm>
            <a:off x="4663440" y="2880360"/>
            <a:ext cx="4023360" cy="384048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37" name="Text 35"/>
          <p:cNvSpPr/>
          <p:nvPr/>
        </p:nvSpPr>
        <p:spPr>
          <a:xfrm>
            <a:off x="4663440" y="2880360"/>
            <a:ext cx="4023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SQLite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754880" y="3355848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39" name="Text 37"/>
          <p:cNvSpPr/>
          <p:nvPr/>
        </p:nvSpPr>
        <p:spPr>
          <a:xfrm>
            <a:off x="5010912" y="3319272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Lightweight embedded relational database (~500KB)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685032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41" name="Text 39"/>
          <p:cNvSpPr/>
          <p:nvPr/>
        </p:nvSpPr>
        <p:spPr>
          <a:xfrm>
            <a:off x="5010912" y="3648456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Not a standalone server — linked into the app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54880" y="4014216"/>
            <a:ext cx="164592" cy="164592"/>
          </a:xfrm>
          <a:prstGeom prst="ellipse">
            <a:avLst/>
          </a:prstGeom>
          <a:solidFill>
            <a:srgbClr val="2EC4B6"/>
          </a:solidFill>
        </p:spPr>
      </p:sp>
      <p:sp>
        <p:nvSpPr>
          <p:cNvPr id="43" name="Text 41"/>
          <p:cNvSpPr/>
          <p:nvPr/>
        </p:nvSpPr>
        <p:spPr>
          <a:xfrm>
            <a:off x="5010912" y="3977640"/>
            <a:ext cx="356616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8F4FD"/>
                </a:solidFill>
              </a:rPr>
              <a:t>Stored as a single cross-platform file</a:t>
            </a:r>
            <a:endParaRPr lang="en-US" sz="1050" dirty="0"/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Android Runtime (ART)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</a:rPr>
              <a:t>A vital component — every app runs inside the Android Runtime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Two Major Parts: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301752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7" name="Shape 5"/>
          <p:cNvSpPr/>
          <p:nvPr/>
        </p:nvSpPr>
        <p:spPr>
          <a:xfrm>
            <a:off x="457200" y="1737360"/>
            <a:ext cx="4023360" cy="457200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8" name="Text 6"/>
          <p:cNvSpPr/>
          <p:nvPr/>
        </p:nvSpPr>
        <p:spPr>
          <a:xfrm>
            <a:off x="457200" y="173736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Dalvik Virtual Machine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0" name="Text 8"/>
          <p:cNvSpPr/>
          <p:nvPr/>
        </p:nvSpPr>
        <p:spPr>
          <a:xfrm>
            <a:off x="804672" y="2249424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Android's custom VM based on Java VM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2" name="Text 10"/>
          <p:cNvSpPr/>
          <p:nvPr/>
        </p:nvSpPr>
        <p:spPr>
          <a:xfrm>
            <a:off x="804672" y="2642616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Each app runs in its OWN process with its own Dalvik VM instance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72384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4" name="Text 12"/>
          <p:cNvSpPr/>
          <p:nvPr/>
        </p:nvSpPr>
        <p:spPr>
          <a:xfrm>
            <a:off x="804672" y="303580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Apps are isolated — one crash does not affect others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465576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6" name="Text 14"/>
          <p:cNvSpPr/>
          <p:nvPr/>
        </p:nvSpPr>
        <p:spPr>
          <a:xfrm>
            <a:off x="804672" y="342900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Designed for limited CPU (250–500MHz) and RAM (20–40MB)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18" name="Text 16"/>
          <p:cNvSpPr/>
          <p:nvPr/>
        </p:nvSpPr>
        <p:spPr>
          <a:xfrm>
            <a:off x="804672" y="382219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Runs .dex files (Dalvik Executable format)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251960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0" name="Text 18"/>
          <p:cNvSpPr/>
          <p:nvPr/>
        </p:nvSpPr>
        <p:spPr>
          <a:xfrm>
            <a:off x="804672" y="4215384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More compact &amp; efficient than standard .class files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737360"/>
            <a:ext cx="4023360" cy="301752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2" name="Shape 20"/>
          <p:cNvSpPr/>
          <p:nvPr/>
        </p:nvSpPr>
        <p:spPr>
          <a:xfrm>
            <a:off x="4663440" y="1737360"/>
            <a:ext cx="4023360" cy="457200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23" name="Text 21"/>
          <p:cNvSpPr/>
          <p:nvPr/>
        </p:nvSpPr>
        <p:spPr>
          <a:xfrm>
            <a:off x="4663440" y="173736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Core Libraries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5" name="Text 23"/>
          <p:cNvSpPr/>
          <p:nvPr/>
        </p:nvSpPr>
        <p:spPr>
          <a:xfrm>
            <a:off x="5010912" y="2249424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Provides most Java standard library functionality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679192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7" name="Text 25"/>
          <p:cNvSpPr/>
          <p:nvPr/>
        </p:nvSpPr>
        <p:spPr>
          <a:xfrm>
            <a:off x="5010912" y="2642616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Data Structures (Lists, Maps, Sets)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072384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29" name="Text 27"/>
          <p:cNvSpPr/>
          <p:nvPr/>
        </p:nvSpPr>
        <p:spPr>
          <a:xfrm>
            <a:off x="5010912" y="3035808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Utilities &amp; Math functions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465576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31" name="Text 29"/>
          <p:cNvSpPr/>
          <p:nvPr/>
        </p:nvSpPr>
        <p:spPr>
          <a:xfrm>
            <a:off x="5010912" y="3429000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File Access (I/O operations)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858768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33" name="Text 31"/>
          <p:cNvSpPr/>
          <p:nvPr/>
        </p:nvSpPr>
        <p:spPr>
          <a:xfrm>
            <a:off x="5010912" y="3822192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Network Access (sockets, HTTP)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4251960"/>
            <a:ext cx="164592" cy="164592"/>
          </a:xfrm>
          <a:prstGeom prst="ellipse">
            <a:avLst/>
          </a:prstGeom>
          <a:solidFill>
            <a:srgbClr val="00B4D8"/>
          </a:solidFill>
        </p:spPr>
      </p:sp>
      <p:sp>
        <p:nvSpPr>
          <p:cNvPr id="35" name="Text 33"/>
          <p:cNvSpPr/>
          <p:nvPr/>
        </p:nvSpPr>
        <p:spPr>
          <a:xfrm>
            <a:off x="5010912" y="4215384"/>
            <a:ext cx="356616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4FD"/>
                </a:solidFill>
              </a:rPr>
              <a:t>Graphics (2D drawing, colors)</a:t>
            </a:r>
            <a:endParaRPr lang="en-US" sz="10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Dalvik VM — 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645920" cy="91440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5" name="Text 3"/>
          <p:cNvSpPr/>
          <p:nvPr/>
        </p:nvSpPr>
        <p:spPr>
          <a:xfrm>
            <a:off x="457200" y="1234440"/>
            <a:ext cx="1645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.java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 Code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1234440"/>
            <a:ext cx="1645920" cy="914400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7" name="Text 5"/>
          <p:cNvSpPr/>
          <p:nvPr/>
        </p:nvSpPr>
        <p:spPr>
          <a:xfrm>
            <a:off x="2286000" y="1234440"/>
            <a:ext cx="1645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Java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Compiler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50208" y="1444752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114800" y="1234440"/>
            <a:ext cx="1645920" cy="91440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10" name="Text 8"/>
          <p:cNvSpPr/>
          <p:nvPr/>
        </p:nvSpPr>
        <p:spPr>
          <a:xfrm>
            <a:off x="4114800" y="1234440"/>
            <a:ext cx="1645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.class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Bytecode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1645920" cy="914400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12" name="Text 10"/>
          <p:cNvSpPr/>
          <p:nvPr/>
        </p:nvSpPr>
        <p:spPr>
          <a:xfrm>
            <a:off x="5943600" y="1234440"/>
            <a:ext cx="1645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dx Tool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(SDK)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07808" y="1444752"/>
            <a:ext cx="502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772400" y="1234440"/>
            <a:ext cx="1645920" cy="914400"/>
          </a:xfrm>
          <a:prstGeom prst="rect">
            <a:avLst/>
          </a:prstGeom>
          <a:solidFill>
            <a:srgbClr val="00695C"/>
          </a:solidFill>
        </p:spPr>
      </p:sp>
      <p:sp>
        <p:nvSpPr>
          <p:cNvPr id="15" name="Text 13"/>
          <p:cNvSpPr/>
          <p:nvPr/>
        </p:nvSpPr>
        <p:spPr>
          <a:xfrm>
            <a:off x="7772400" y="1234440"/>
            <a:ext cx="16459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.dex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Dalvik Exec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8CAE4"/>
                </a:solidFill>
              </a:rPr>
              <a:t>Java VM vs Dalvik VM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743200" cy="329184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18" name="Text 16"/>
          <p:cNvSpPr/>
          <p:nvPr/>
        </p:nvSpPr>
        <p:spPr>
          <a:xfrm>
            <a:off x="457200" y="2926080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Aspect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926080"/>
            <a:ext cx="2743200" cy="329184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20" name="Text 18"/>
          <p:cNvSpPr/>
          <p:nvPr/>
        </p:nvSpPr>
        <p:spPr>
          <a:xfrm>
            <a:off x="3291840" y="2926080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Java VM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926080"/>
            <a:ext cx="2743200" cy="329184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22" name="Text 20"/>
          <p:cNvSpPr/>
          <p:nvPr/>
        </p:nvSpPr>
        <p:spPr>
          <a:xfrm>
            <a:off x="6126480" y="2926080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Dalvik VM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73552"/>
            <a:ext cx="2743200" cy="329184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24" name="Text 22"/>
          <p:cNvSpPr/>
          <p:nvPr/>
        </p:nvSpPr>
        <p:spPr>
          <a:xfrm>
            <a:off x="457200" y="3273552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Bytecode format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273552"/>
            <a:ext cx="2743200" cy="329184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26" name="Text 24"/>
          <p:cNvSpPr/>
          <p:nvPr/>
        </p:nvSpPr>
        <p:spPr>
          <a:xfrm>
            <a:off x="3291840" y="3273552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.class files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3273552"/>
            <a:ext cx="2743200" cy="329184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28" name="Text 26"/>
          <p:cNvSpPr/>
          <p:nvPr/>
        </p:nvSpPr>
        <p:spPr>
          <a:xfrm>
            <a:off x="6126480" y="3273552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.dex files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621024"/>
            <a:ext cx="2743200" cy="329184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0" name="Text 28"/>
          <p:cNvSpPr/>
          <p:nvPr/>
        </p:nvSpPr>
        <p:spPr>
          <a:xfrm>
            <a:off x="457200" y="3621024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Processes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91840" y="3621024"/>
            <a:ext cx="2743200" cy="329184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2" name="Text 30"/>
          <p:cNvSpPr/>
          <p:nvPr/>
        </p:nvSpPr>
        <p:spPr>
          <a:xfrm>
            <a:off x="3291840" y="3621024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One JVM instance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26480" y="3621024"/>
            <a:ext cx="2743200" cy="329184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4" name="Text 32"/>
          <p:cNvSpPr/>
          <p:nvPr/>
        </p:nvSpPr>
        <p:spPr>
          <a:xfrm>
            <a:off x="6126480" y="3621024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One DVM per app process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68496"/>
            <a:ext cx="2743200" cy="329184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36" name="Text 34"/>
          <p:cNvSpPr/>
          <p:nvPr/>
        </p:nvSpPr>
        <p:spPr>
          <a:xfrm>
            <a:off x="457200" y="3968496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Memory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91840" y="3968496"/>
            <a:ext cx="2743200" cy="329184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38" name="Text 36"/>
          <p:cNvSpPr/>
          <p:nvPr/>
        </p:nvSpPr>
        <p:spPr>
          <a:xfrm>
            <a:off x="3291840" y="3968496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Higher footprint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26480" y="3968496"/>
            <a:ext cx="2743200" cy="329184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40" name="Text 38"/>
          <p:cNvSpPr/>
          <p:nvPr/>
        </p:nvSpPr>
        <p:spPr>
          <a:xfrm>
            <a:off x="6126480" y="3968496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Optimized for mobile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315968"/>
            <a:ext cx="2743200" cy="329184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42" name="Text 40"/>
          <p:cNvSpPr/>
          <p:nvPr/>
        </p:nvSpPr>
        <p:spPr>
          <a:xfrm>
            <a:off x="457200" y="4315968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Stack type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91840" y="4315968"/>
            <a:ext cx="2743200" cy="329184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44" name="Text 42"/>
          <p:cNvSpPr/>
          <p:nvPr/>
        </p:nvSpPr>
        <p:spPr>
          <a:xfrm>
            <a:off x="3291840" y="4315968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Stack-based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26480" y="4315968"/>
            <a:ext cx="2743200" cy="329184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46" name="Text 44"/>
          <p:cNvSpPr/>
          <p:nvPr/>
        </p:nvSpPr>
        <p:spPr>
          <a:xfrm>
            <a:off x="6126480" y="4315968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Register-based (faster)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663440"/>
            <a:ext cx="2743200" cy="329184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48" name="Text 46"/>
          <p:cNvSpPr/>
          <p:nvPr/>
        </p:nvSpPr>
        <p:spPr>
          <a:xfrm>
            <a:off x="457200" y="4663440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Isolation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91840" y="4663440"/>
            <a:ext cx="2743200" cy="329184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50" name="Text 48"/>
          <p:cNvSpPr/>
          <p:nvPr/>
        </p:nvSpPr>
        <p:spPr>
          <a:xfrm>
            <a:off x="3291840" y="4663440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Shared JVM possible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26480" y="4663440"/>
            <a:ext cx="2743200" cy="329184"/>
          </a:xfrm>
          <a:prstGeom prst="rect">
            <a:avLst/>
          </a:prstGeom>
          <a:solidFill>
            <a:srgbClr val="131C2E"/>
          </a:solidFill>
        </p:spPr>
      </p:sp>
      <p:sp>
        <p:nvSpPr>
          <p:cNvPr id="52" name="Text 50"/>
          <p:cNvSpPr/>
          <p:nvPr/>
        </p:nvSpPr>
        <p:spPr>
          <a:xfrm>
            <a:off x="6126480" y="4663440"/>
            <a:ext cx="27432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F4FD"/>
                </a:solidFill>
              </a:rPr>
              <a:t>Fully isolated per app</a:t>
            </a:r>
            <a:endParaRPr lang="en-US" sz="1000" dirty="0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Application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8CAE4"/>
                </a:solidFill>
              </a:rPr>
              <a:t>Developers use these APIs to build apps — full access to the same tools as built-in apps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7" name="Text 5"/>
          <p:cNvSpPr/>
          <p:nvPr/>
        </p:nvSpPr>
        <p:spPr>
          <a:xfrm>
            <a:off x="640080" y="129844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Activity Manager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Manages the lifecycle of apps and handles navigation back-stack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0" name="Shape 8"/>
          <p:cNvSpPr/>
          <p:nvPr/>
        </p:nvSpPr>
        <p:spPr>
          <a:xfrm>
            <a:off x="4800600" y="1280160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1" name="Text 9"/>
          <p:cNvSpPr/>
          <p:nvPr/>
        </p:nvSpPr>
        <p:spPr>
          <a:xfrm>
            <a:off x="4983480" y="1298448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Package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581912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Tracks all installed applications and their permissions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029968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4" name="Shape 12"/>
          <p:cNvSpPr/>
          <p:nvPr/>
        </p:nvSpPr>
        <p:spPr>
          <a:xfrm>
            <a:off x="457200" y="2029968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5" name="Text 13"/>
          <p:cNvSpPr/>
          <p:nvPr/>
        </p:nvSpPr>
        <p:spPr>
          <a:xfrm>
            <a:off x="640080" y="2048256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Window Manager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331720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Creates display surfaces and organizes layers on screen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029968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8" name="Shape 16"/>
          <p:cNvSpPr/>
          <p:nvPr/>
        </p:nvSpPr>
        <p:spPr>
          <a:xfrm>
            <a:off x="4800600" y="2029968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9" name="Text 17"/>
          <p:cNvSpPr/>
          <p:nvPr/>
        </p:nvSpPr>
        <p:spPr>
          <a:xfrm>
            <a:off x="4983480" y="2048256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Content Providers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2331720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Allows apps to share or access data from other apps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779776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2" name="Shape 20"/>
          <p:cNvSpPr/>
          <p:nvPr/>
        </p:nvSpPr>
        <p:spPr>
          <a:xfrm>
            <a:off x="457200" y="2779776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3" name="Text 21"/>
          <p:cNvSpPr/>
          <p:nvPr/>
        </p:nvSpPr>
        <p:spPr>
          <a:xfrm>
            <a:off x="640080" y="2798064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View System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081528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UI building blocks: lists, grids, text boxes, buttons, web views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2779776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6" name="Shape 24"/>
          <p:cNvSpPr/>
          <p:nvPr/>
        </p:nvSpPr>
        <p:spPr>
          <a:xfrm>
            <a:off x="4800600" y="2779776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7" name="Text 25"/>
          <p:cNvSpPr/>
          <p:nvPr/>
        </p:nvSpPr>
        <p:spPr>
          <a:xfrm>
            <a:off x="4983480" y="2798064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Notification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3081528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Enables all apps to display alerts in the status bar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529584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0" name="Shape 28"/>
          <p:cNvSpPr/>
          <p:nvPr/>
        </p:nvSpPr>
        <p:spPr>
          <a:xfrm>
            <a:off x="457200" y="3529584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1" name="Text 29"/>
          <p:cNvSpPr/>
          <p:nvPr/>
        </p:nvSpPr>
        <p:spPr>
          <a:xfrm>
            <a:off x="640080" y="354787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Telephony Manager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831336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Provides core phone call and telephony functionalities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529584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4" name="Shape 32"/>
          <p:cNvSpPr/>
          <p:nvPr/>
        </p:nvSpPr>
        <p:spPr>
          <a:xfrm>
            <a:off x="4800600" y="3529584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5" name="Text 33"/>
          <p:cNvSpPr/>
          <p:nvPr/>
        </p:nvSpPr>
        <p:spPr>
          <a:xfrm>
            <a:off x="4983480" y="3547872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Location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3831336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Provides device GPS/network location and geo-fencing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57200" y="4279392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38" name="Shape 36"/>
          <p:cNvSpPr/>
          <p:nvPr/>
        </p:nvSpPr>
        <p:spPr>
          <a:xfrm>
            <a:off x="457200" y="4279392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9" name="Text 37"/>
          <p:cNvSpPr/>
          <p:nvPr/>
        </p:nvSpPr>
        <p:spPr>
          <a:xfrm>
            <a:off x="640080" y="42976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Resource Manager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4581144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Provides access to non-code assets (images, strings, layouts)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800600" y="4279392"/>
            <a:ext cx="416052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42" name="Shape 40"/>
          <p:cNvSpPr/>
          <p:nvPr/>
        </p:nvSpPr>
        <p:spPr>
          <a:xfrm>
            <a:off x="4800600" y="4279392"/>
            <a:ext cx="64008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3" name="Text 41"/>
          <p:cNvSpPr/>
          <p:nvPr/>
        </p:nvSpPr>
        <p:spPr>
          <a:xfrm>
            <a:off x="4983480" y="4297680"/>
            <a:ext cx="17373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XMPP Service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83480" y="4581144"/>
            <a:ext cx="3858768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</a:rPr>
              <a:t>XML-based messaging protocol — P2P messages &amp; Google Talk</a:t>
            </a:r>
            <a:endParaRPr lang="en-US" sz="950" dirty="0"/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Applications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</a:rPr>
              <a:t>The top layer — what users interact with directly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6" name="Shape 4"/>
          <p:cNvSpPr/>
          <p:nvPr/>
        </p:nvSpPr>
        <p:spPr>
          <a:xfrm>
            <a:off x="457200" y="1325880"/>
            <a:ext cx="64008" cy="411480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7" name="Text 5"/>
          <p:cNvSpPr/>
          <p:nvPr/>
        </p:nvSpPr>
        <p:spPr>
          <a:xfrm>
            <a:off x="640080" y="1325880"/>
            <a:ext cx="7955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Both built-in and user-installed apps live here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9" name="Shape 7"/>
          <p:cNvSpPr/>
          <p:nvPr/>
        </p:nvSpPr>
        <p:spPr>
          <a:xfrm>
            <a:off x="457200" y="1828800"/>
            <a:ext cx="64008" cy="411480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10" name="Text 8"/>
          <p:cNvSpPr/>
          <p:nvPr/>
        </p:nvSpPr>
        <p:spPr>
          <a:xfrm>
            <a:off x="640080" y="1828800"/>
            <a:ext cx="7955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All apps are written using the Java programming language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2" name="Shape 10"/>
          <p:cNvSpPr/>
          <p:nvPr/>
        </p:nvSpPr>
        <p:spPr>
          <a:xfrm>
            <a:off x="457200" y="2331720"/>
            <a:ext cx="64008" cy="411480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13" name="Text 11"/>
          <p:cNvSpPr/>
          <p:nvPr/>
        </p:nvSpPr>
        <p:spPr>
          <a:xfrm>
            <a:off x="640080" y="2331720"/>
            <a:ext cx="7955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Each app runs in its own isolated Dalvik VM process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5" name="Shape 13"/>
          <p:cNvSpPr/>
          <p:nvPr/>
        </p:nvSpPr>
        <p:spPr>
          <a:xfrm>
            <a:off x="457200" y="2834640"/>
            <a:ext cx="64008" cy="411480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16" name="Text 14"/>
          <p:cNvSpPr/>
          <p:nvPr/>
        </p:nvSpPr>
        <p:spPr>
          <a:xfrm>
            <a:off x="640080" y="2834640"/>
            <a:ext cx="795528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4FD"/>
                </a:solidFill>
              </a:rPr>
              <a:t>Apps can access lower layers only through the Application Framework APIs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Built-in Applications: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1325880" cy="457200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19" name="Text 17"/>
          <p:cNvSpPr/>
          <p:nvPr/>
        </p:nvSpPr>
        <p:spPr>
          <a:xfrm>
            <a:off x="457200" y="38404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Home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01952" y="3840480"/>
            <a:ext cx="1325880" cy="457200"/>
          </a:xfrm>
          <a:prstGeom prst="rect">
            <a:avLst/>
          </a:prstGeom>
          <a:solidFill>
            <a:srgbClr val="0077B6"/>
          </a:solidFill>
        </p:spPr>
      </p:sp>
      <p:sp>
        <p:nvSpPr>
          <p:cNvPr id="21" name="Text 19"/>
          <p:cNvSpPr/>
          <p:nvPr/>
        </p:nvSpPr>
        <p:spPr>
          <a:xfrm>
            <a:off x="1901952" y="38404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Dialer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46704" y="3840480"/>
            <a:ext cx="1325880" cy="457200"/>
          </a:xfrm>
          <a:prstGeom prst="rect">
            <a:avLst/>
          </a:prstGeom>
          <a:solidFill>
            <a:srgbClr val="023E8A"/>
          </a:solidFill>
        </p:spPr>
      </p:sp>
      <p:sp>
        <p:nvSpPr>
          <p:cNvPr id="23" name="Text 21"/>
          <p:cNvSpPr/>
          <p:nvPr/>
        </p:nvSpPr>
        <p:spPr>
          <a:xfrm>
            <a:off x="3346704" y="38404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SMS/MMS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91456" y="3840480"/>
            <a:ext cx="1325880" cy="4572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25" name="Text 23"/>
          <p:cNvSpPr/>
          <p:nvPr/>
        </p:nvSpPr>
        <p:spPr>
          <a:xfrm>
            <a:off x="4791456" y="38404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Browser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36208" y="3840480"/>
            <a:ext cx="1325880" cy="457200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27" name="Text 25"/>
          <p:cNvSpPr/>
          <p:nvPr/>
        </p:nvSpPr>
        <p:spPr>
          <a:xfrm>
            <a:off x="6236208" y="38404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Camera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680960" y="3840480"/>
            <a:ext cx="1325880" cy="457200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29" name="Text 27"/>
          <p:cNvSpPr/>
          <p:nvPr/>
        </p:nvSpPr>
        <p:spPr>
          <a:xfrm>
            <a:off x="7680960" y="384048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Email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1325880" cy="457200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31" name="Text 29"/>
          <p:cNvSpPr/>
          <p:nvPr/>
        </p:nvSpPr>
        <p:spPr>
          <a:xfrm>
            <a:off x="457200" y="438912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Calendar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01952" y="4389120"/>
            <a:ext cx="1325880" cy="457200"/>
          </a:xfrm>
          <a:prstGeom prst="rect">
            <a:avLst/>
          </a:prstGeom>
          <a:solidFill>
            <a:srgbClr val="7B1FA2"/>
          </a:solidFill>
        </p:spPr>
      </p:sp>
      <p:sp>
        <p:nvSpPr>
          <p:cNvPr id="33" name="Text 31"/>
          <p:cNvSpPr/>
          <p:nvPr/>
        </p:nvSpPr>
        <p:spPr>
          <a:xfrm>
            <a:off x="1901952" y="438912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Contacts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46704" y="4389120"/>
            <a:ext cx="1325880" cy="45720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35" name="Text 33"/>
          <p:cNvSpPr/>
          <p:nvPr/>
        </p:nvSpPr>
        <p:spPr>
          <a:xfrm>
            <a:off x="3346704" y="438912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Maps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91456" y="4389120"/>
            <a:ext cx="1325880" cy="457200"/>
          </a:xfrm>
          <a:prstGeom prst="rect">
            <a:avLst/>
          </a:prstGeom>
          <a:solidFill>
            <a:srgbClr val="00695C"/>
          </a:solidFill>
        </p:spPr>
      </p:sp>
      <p:sp>
        <p:nvSpPr>
          <p:cNvPr id="37" name="Text 35"/>
          <p:cNvSpPr/>
          <p:nvPr/>
        </p:nvSpPr>
        <p:spPr>
          <a:xfrm>
            <a:off x="4791456" y="438912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Clock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36208" y="4389120"/>
            <a:ext cx="1325880" cy="457200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39" name="Text 37"/>
          <p:cNvSpPr/>
          <p:nvPr/>
        </p:nvSpPr>
        <p:spPr>
          <a:xfrm>
            <a:off x="6236208" y="438912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Media Player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80960" y="4389120"/>
            <a:ext cx="1325880" cy="457200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41" name="Text 39"/>
          <p:cNvSpPr/>
          <p:nvPr/>
        </p:nvSpPr>
        <p:spPr>
          <a:xfrm>
            <a:off x="7680960" y="4389120"/>
            <a:ext cx="1325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Calculator</a:t>
            </a:r>
            <a:endParaRPr lang="en-US" sz="1000" dirty="0"/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86868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Complete Android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" y="731520"/>
            <a:ext cx="8778240" cy="292608"/>
          </a:xfrm>
          <a:prstGeom prst="rect">
            <a:avLst/>
          </a:prstGeom>
          <a:solidFill>
            <a:srgbClr val="003566"/>
          </a:solidFill>
        </p:spPr>
      </p:sp>
      <p:sp>
        <p:nvSpPr>
          <p:cNvPr id="4" name="Text 2"/>
          <p:cNvSpPr/>
          <p:nvPr/>
        </p:nvSpPr>
        <p:spPr>
          <a:xfrm>
            <a:off x="182880" y="731520"/>
            <a:ext cx="8778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042416"/>
            <a:ext cx="1024128" cy="274320"/>
          </a:xfrm>
          <a:prstGeom prst="rect">
            <a:avLst/>
          </a:prstGeom>
          <a:solidFill>
            <a:srgbClr val="023E8A"/>
          </a:solidFill>
        </p:spPr>
      </p:sp>
      <p:sp>
        <p:nvSpPr>
          <p:cNvPr id="6" name="Text 4"/>
          <p:cNvSpPr/>
          <p:nvPr/>
        </p:nvSpPr>
        <p:spPr>
          <a:xfrm>
            <a:off x="182880" y="1042416"/>
            <a:ext cx="1024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Home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280160" y="1042416"/>
            <a:ext cx="1024128" cy="274320"/>
          </a:xfrm>
          <a:prstGeom prst="rect">
            <a:avLst/>
          </a:prstGeom>
          <a:solidFill>
            <a:srgbClr val="023E8A"/>
          </a:solidFill>
        </p:spPr>
      </p:sp>
      <p:sp>
        <p:nvSpPr>
          <p:cNvPr id="8" name="Text 6"/>
          <p:cNvSpPr/>
          <p:nvPr/>
        </p:nvSpPr>
        <p:spPr>
          <a:xfrm>
            <a:off x="1280160" y="1042416"/>
            <a:ext cx="1024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Dialer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377440" y="1042416"/>
            <a:ext cx="1024128" cy="274320"/>
          </a:xfrm>
          <a:prstGeom prst="rect">
            <a:avLst/>
          </a:prstGeom>
          <a:solidFill>
            <a:srgbClr val="023E8A"/>
          </a:solidFill>
        </p:spPr>
      </p:sp>
      <p:sp>
        <p:nvSpPr>
          <p:cNvPr id="10" name="Text 8"/>
          <p:cNvSpPr/>
          <p:nvPr/>
        </p:nvSpPr>
        <p:spPr>
          <a:xfrm>
            <a:off x="2377440" y="1042416"/>
            <a:ext cx="1024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SMS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74720" y="1042416"/>
            <a:ext cx="1024128" cy="274320"/>
          </a:xfrm>
          <a:prstGeom prst="rect">
            <a:avLst/>
          </a:prstGeom>
          <a:solidFill>
            <a:srgbClr val="023E8A"/>
          </a:solidFill>
        </p:spPr>
      </p:sp>
      <p:sp>
        <p:nvSpPr>
          <p:cNvPr id="12" name="Text 10"/>
          <p:cNvSpPr/>
          <p:nvPr/>
        </p:nvSpPr>
        <p:spPr>
          <a:xfrm>
            <a:off x="3474720" y="1042416"/>
            <a:ext cx="1024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Browser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0" y="1042416"/>
            <a:ext cx="1024128" cy="274320"/>
          </a:xfrm>
          <a:prstGeom prst="rect">
            <a:avLst/>
          </a:prstGeom>
          <a:solidFill>
            <a:srgbClr val="023E8A"/>
          </a:solidFill>
        </p:spPr>
      </p:sp>
      <p:sp>
        <p:nvSpPr>
          <p:cNvPr id="14" name="Text 12"/>
          <p:cNvSpPr/>
          <p:nvPr/>
        </p:nvSpPr>
        <p:spPr>
          <a:xfrm>
            <a:off x="4572000" y="1042416"/>
            <a:ext cx="1024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Camera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669280" y="1042416"/>
            <a:ext cx="1024128" cy="274320"/>
          </a:xfrm>
          <a:prstGeom prst="rect">
            <a:avLst/>
          </a:prstGeom>
          <a:solidFill>
            <a:srgbClr val="023E8A"/>
          </a:solidFill>
        </p:spPr>
      </p:sp>
      <p:sp>
        <p:nvSpPr>
          <p:cNvPr id="16" name="Text 14"/>
          <p:cNvSpPr/>
          <p:nvPr/>
        </p:nvSpPr>
        <p:spPr>
          <a:xfrm>
            <a:off x="5669280" y="1042416"/>
            <a:ext cx="1024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Contacts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766560" y="1042416"/>
            <a:ext cx="1024128" cy="274320"/>
          </a:xfrm>
          <a:prstGeom prst="rect">
            <a:avLst/>
          </a:prstGeom>
          <a:solidFill>
            <a:srgbClr val="023E8A"/>
          </a:solidFill>
        </p:spPr>
      </p:sp>
      <p:sp>
        <p:nvSpPr>
          <p:cNvPr id="18" name="Text 16"/>
          <p:cNvSpPr/>
          <p:nvPr/>
        </p:nvSpPr>
        <p:spPr>
          <a:xfrm>
            <a:off x="6766560" y="1042416"/>
            <a:ext cx="1024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Email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863840" y="1042416"/>
            <a:ext cx="1024128" cy="274320"/>
          </a:xfrm>
          <a:prstGeom prst="rect">
            <a:avLst/>
          </a:prstGeom>
          <a:solidFill>
            <a:srgbClr val="023E8A"/>
          </a:solidFill>
        </p:spPr>
      </p:sp>
      <p:sp>
        <p:nvSpPr>
          <p:cNvPr id="20" name="Text 18"/>
          <p:cNvSpPr/>
          <p:nvPr/>
        </p:nvSpPr>
        <p:spPr>
          <a:xfrm>
            <a:off x="7863840" y="1042416"/>
            <a:ext cx="1024128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Calendar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82880" y="1389888"/>
            <a:ext cx="8778240" cy="274320"/>
          </a:xfrm>
          <a:prstGeom prst="rect">
            <a:avLst/>
          </a:prstGeom>
          <a:solidFill>
            <a:srgbClr val="1565C0"/>
          </a:solidFill>
        </p:spPr>
      </p:sp>
      <p:sp>
        <p:nvSpPr>
          <p:cNvPr id="22" name="Text 20"/>
          <p:cNvSpPr/>
          <p:nvPr/>
        </p:nvSpPr>
        <p:spPr>
          <a:xfrm>
            <a:off x="182880" y="1389888"/>
            <a:ext cx="87782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APPLICATION FRAMEWORK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1691640"/>
            <a:ext cx="2103120" cy="27432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4" name="Text 22"/>
          <p:cNvSpPr/>
          <p:nvPr/>
        </p:nvSpPr>
        <p:spPr>
          <a:xfrm>
            <a:off x="182880" y="16916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Activity Manager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77440" y="1691640"/>
            <a:ext cx="2103120" cy="27432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6" name="Text 24"/>
          <p:cNvSpPr/>
          <p:nvPr/>
        </p:nvSpPr>
        <p:spPr>
          <a:xfrm>
            <a:off x="2377440" y="16916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Window Manager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1691640"/>
            <a:ext cx="2103120" cy="27432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28" name="Text 26"/>
          <p:cNvSpPr/>
          <p:nvPr/>
        </p:nvSpPr>
        <p:spPr>
          <a:xfrm>
            <a:off x="4572000" y="16916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Content Providers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766560" y="1691640"/>
            <a:ext cx="2103120" cy="27432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0" name="Text 28"/>
          <p:cNvSpPr/>
          <p:nvPr/>
        </p:nvSpPr>
        <p:spPr>
          <a:xfrm>
            <a:off x="6766560" y="169164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View System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" y="2011680"/>
            <a:ext cx="2103120" cy="27432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2" name="Text 30"/>
          <p:cNvSpPr/>
          <p:nvPr/>
        </p:nvSpPr>
        <p:spPr>
          <a:xfrm>
            <a:off x="182880" y="201168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Notification Mgr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377440" y="2011680"/>
            <a:ext cx="2103120" cy="27432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4" name="Text 32"/>
          <p:cNvSpPr/>
          <p:nvPr/>
        </p:nvSpPr>
        <p:spPr>
          <a:xfrm>
            <a:off x="2377440" y="201168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Package Manager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2011680"/>
            <a:ext cx="2103120" cy="27432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6" name="Text 34"/>
          <p:cNvSpPr/>
          <p:nvPr/>
        </p:nvSpPr>
        <p:spPr>
          <a:xfrm>
            <a:off x="4572000" y="201168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Telephony Manager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766560" y="2011680"/>
            <a:ext cx="2103120" cy="274320"/>
          </a:xfrm>
          <a:prstGeom prst="rect">
            <a:avLst/>
          </a:prstGeom>
          <a:solidFill>
            <a:srgbClr val="0D47A1"/>
          </a:solidFill>
        </p:spPr>
      </p:sp>
      <p:sp>
        <p:nvSpPr>
          <p:cNvPr id="38" name="Text 36"/>
          <p:cNvSpPr/>
          <p:nvPr/>
        </p:nvSpPr>
        <p:spPr>
          <a:xfrm>
            <a:off x="6766560" y="2011680"/>
            <a:ext cx="21031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Resource Manager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82880" y="2377440"/>
            <a:ext cx="5029200" cy="256032"/>
          </a:xfrm>
          <a:prstGeom prst="rect">
            <a:avLst/>
          </a:prstGeom>
          <a:solidFill>
            <a:srgbClr val="1B5E20"/>
          </a:solidFill>
        </p:spPr>
      </p:sp>
      <p:sp>
        <p:nvSpPr>
          <p:cNvPr id="40" name="Text 38"/>
          <p:cNvSpPr/>
          <p:nvPr/>
        </p:nvSpPr>
        <p:spPr>
          <a:xfrm>
            <a:off x="182880" y="2377440"/>
            <a:ext cx="5029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LIBRARIES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82880" y="2670048"/>
            <a:ext cx="1600200" cy="25603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42" name="Text 40"/>
          <p:cNvSpPr/>
          <p:nvPr/>
        </p:nvSpPr>
        <p:spPr>
          <a:xfrm>
            <a:off x="182880" y="2670048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Surface Mgr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56232" y="2670048"/>
            <a:ext cx="1600200" cy="25603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44" name="Text 42"/>
          <p:cNvSpPr/>
          <p:nvPr/>
        </p:nvSpPr>
        <p:spPr>
          <a:xfrm>
            <a:off x="1856232" y="2670048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Media FW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529584" y="2670048"/>
            <a:ext cx="1600200" cy="25603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46" name="Text 44"/>
          <p:cNvSpPr/>
          <p:nvPr/>
        </p:nvSpPr>
        <p:spPr>
          <a:xfrm>
            <a:off x="3529584" y="2670048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SQLite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" y="2971800"/>
            <a:ext cx="1600200" cy="25603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48" name="Text 46"/>
          <p:cNvSpPr/>
          <p:nvPr/>
        </p:nvSpPr>
        <p:spPr>
          <a:xfrm>
            <a:off x="182880" y="2971800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WebKit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856232" y="2971800"/>
            <a:ext cx="1600200" cy="25603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50" name="Text 48"/>
          <p:cNvSpPr/>
          <p:nvPr/>
        </p:nvSpPr>
        <p:spPr>
          <a:xfrm>
            <a:off x="1856232" y="2971800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OpenGL|ES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529584" y="2971800"/>
            <a:ext cx="1600200" cy="25603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52" name="Text 50"/>
          <p:cNvSpPr/>
          <p:nvPr/>
        </p:nvSpPr>
        <p:spPr>
          <a:xfrm>
            <a:off x="3529584" y="2971800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FreeType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182880" y="3273552"/>
            <a:ext cx="1600200" cy="25603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54" name="Text 52"/>
          <p:cNvSpPr/>
          <p:nvPr/>
        </p:nvSpPr>
        <p:spPr>
          <a:xfrm>
            <a:off x="182880" y="32735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SGL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56232" y="3273552"/>
            <a:ext cx="1600200" cy="25603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56" name="Text 54"/>
          <p:cNvSpPr/>
          <p:nvPr/>
        </p:nvSpPr>
        <p:spPr>
          <a:xfrm>
            <a:off x="1856232" y="32735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SSL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29584" y="3273552"/>
            <a:ext cx="1600200" cy="256032"/>
          </a:xfrm>
          <a:prstGeom prst="rect">
            <a:avLst/>
          </a:prstGeom>
          <a:solidFill>
            <a:srgbClr val="2E7D32"/>
          </a:solidFill>
        </p:spPr>
      </p:sp>
      <p:sp>
        <p:nvSpPr>
          <p:cNvPr id="58" name="Text 56"/>
          <p:cNvSpPr/>
          <p:nvPr/>
        </p:nvSpPr>
        <p:spPr>
          <a:xfrm>
            <a:off x="3529584" y="3273552"/>
            <a:ext cx="16002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Libc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349240" y="2377440"/>
            <a:ext cx="3611880" cy="256032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60" name="Text 58"/>
          <p:cNvSpPr/>
          <p:nvPr/>
        </p:nvSpPr>
        <p:spPr>
          <a:xfrm>
            <a:off x="5349240" y="2377440"/>
            <a:ext cx="3611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ANDROID RUNTIME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349240" y="2670048"/>
            <a:ext cx="3611880" cy="475488"/>
          </a:xfrm>
          <a:prstGeom prst="rect">
            <a:avLst/>
          </a:prstGeom>
          <a:solidFill>
            <a:srgbClr val="00838F"/>
          </a:solidFill>
        </p:spPr>
      </p:sp>
      <p:sp>
        <p:nvSpPr>
          <p:cNvPr id="62" name="Text 60"/>
          <p:cNvSpPr/>
          <p:nvPr/>
        </p:nvSpPr>
        <p:spPr>
          <a:xfrm>
            <a:off x="5349240" y="2670048"/>
            <a:ext cx="3611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Core Libraries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349240" y="3200400"/>
            <a:ext cx="3611880" cy="475488"/>
          </a:xfrm>
          <a:prstGeom prst="rect">
            <a:avLst/>
          </a:prstGeom>
          <a:solidFill>
            <a:srgbClr val="00695C"/>
          </a:solidFill>
        </p:spPr>
      </p:sp>
      <p:sp>
        <p:nvSpPr>
          <p:cNvPr id="64" name="Text 62"/>
          <p:cNvSpPr/>
          <p:nvPr/>
        </p:nvSpPr>
        <p:spPr>
          <a:xfrm>
            <a:off x="5349240" y="3200400"/>
            <a:ext cx="361188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Dalvik Virtual Machine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82880" y="3822192"/>
            <a:ext cx="8778240" cy="256032"/>
          </a:xfrm>
          <a:prstGeom prst="rect">
            <a:avLst/>
          </a:prstGeom>
          <a:solidFill>
            <a:srgbClr val="B71C1C"/>
          </a:solidFill>
        </p:spPr>
      </p:sp>
      <p:sp>
        <p:nvSpPr>
          <p:cNvPr id="66" name="Text 64"/>
          <p:cNvSpPr/>
          <p:nvPr/>
        </p:nvSpPr>
        <p:spPr>
          <a:xfrm>
            <a:off x="182880" y="3822192"/>
            <a:ext cx="8778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LINUX KERNEL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182880" y="4114800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68" name="Text 66"/>
          <p:cNvSpPr/>
          <p:nvPr/>
        </p:nvSpPr>
        <p:spPr>
          <a:xfrm>
            <a:off x="182880" y="4114800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Display Driver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1938528" y="4114800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70" name="Text 68"/>
          <p:cNvSpPr/>
          <p:nvPr/>
        </p:nvSpPr>
        <p:spPr>
          <a:xfrm>
            <a:off x="1938528" y="4114800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Camera Driver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3694176" y="4114800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72" name="Text 70"/>
          <p:cNvSpPr/>
          <p:nvPr/>
        </p:nvSpPr>
        <p:spPr>
          <a:xfrm>
            <a:off x="3694176" y="4114800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Bluetooth Driver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5449824" y="4114800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74" name="Text 72"/>
          <p:cNvSpPr/>
          <p:nvPr/>
        </p:nvSpPr>
        <p:spPr>
          <a:xfrm>
            <a:off x="5449824" y="4114800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Shared Memory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7205472" y="4114800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76" name="Text 74"/>
          <p:cNvSpPr/>
          <p:nvPr/>
        </p:nvSpPr>
        <p:spPr>
          <a:xfrm>
            <a:off x="7205472" y="4114800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Binder (IPC)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182880" y="4425696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78" name="Text 76"/>
          <p:cNvSpPr/>
          <p:nvPr/>
        </p:nvSpPr>
        <p:spPr>
          <a:xfrm>
            <a:off x="182880" y="4425696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USB Driver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1938528" y="4425696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80" name="Text 78"/>
          <p:cNvSpPr/>
          <p:nvPr/>
        </p:nvSpPr>
        <p:spPr>
          <a:xfrm>
            <a:off x="1938528" y="4425696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Keypad Driver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>
            <a:off x="3694176" y="4425696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82" name="Text 80"/>
          <p:cNvSpPr/>
          <p:nvPr/>
        </p:nvSpPr>
        <p:spPr>
          <a:xfrm>
            <a:off x="3694176" y="4425696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WiFi Driver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5449824" y="4425696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84" name="Text 82"/>
          <p:cNvSpPr/>
          <p:nvPr/>
        </p:nvSpPr>
        <p:spPr>
          <a:xfrm>
            <a:off x="5449824" y="4425696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Audio Drivers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205472" y="4425696"/>
            <a:ext cx="1691640" cy="256032"/>
          </a:xfrm>
          <a:prstGeom prst="rect">
            <a:avLst/>
          </a:prstGeom>
          <a:solidFill>
            <a:srgbClr val="C62828"/>
          </a:solidFill>
        </p:spPr>
      </p:sp>
      <p:sp>
        <p:nvSpPr>
          <p:cNvPr id="86" name="Text 84"/>
          <p:cNvSpPr/>
          <p:nvPr/>
        </p:nvSpPr>
        <p:spPr>
          <a:xfrm>
            <a:off x="7205472" y="4425696"/>
            <a:ext cx="16916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Power Mgmt</a:t>
            </a:r>
            <a:endParaRPr lang="en-US" sz="800" dirty="0"/>
          </a:p>
        </p:txBody>
      </p:sp>
      <p:pic>
        <p:nvPicPr>
          <p:cNvPr id="87" name="Picture 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Platform Start-up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</a:rPr>
              <a:t>How Android boots from power-on to the Home screen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53035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6" name="Shape 4"/>
          <p:cNvSpPr/>
          <p:nvPr/>
        </p:nvSpPr>
        <p:spPr>
          <a:xfrm>
            <a:off x="457200" y="1298448"/>
            <a:ext cx="2011680" cy="530352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7" name="Text 5"/>
          <p:cNvSpPr/>
          <p:nvPr/>
        </p:nvSpPr>
        <p:spPr>
          <a:xfrm>
            <a:off x="457200" y="1298448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1. Bootloader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298448"/>
            <a:ext cx="6035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Loads the Linux kernel and starts the init process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11096"/>
            <a:ext cx="8229600" cy="53035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0" name="Shape 8"/>
          <p:cNvSpPr/>
          <p:nvPr/>
        </p:nvSpPr>
        <p:spPr>
          <a:xfrm>
            <a:off x="457200" y="1911096"/>
            <a:ext cx="2011680" cy="530352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11" name="Text 9"/>
          <p:cNvSpPr/>
          <p:nvPr/>
        </p:nvSpPr>
        <p:spPr>
          <a:xfrm>
            <a:off x="457200" y="1911096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2. Init Process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1911096"/>
            <a:ext cx="6035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Starts Linux daemons: usbd, adbd, debuggerd, rild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23744"/>
            <a:ext cx="8229600" cy="53035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4" name="Shape 12"/>
          <p:cNvSpPr/>
          <p:nvPr/>
        </p:nvSpPr>
        <p:spPr>
          <a:xfrm>
            <a:off x="457200" y="2523744"/>
            <a:ext cx="2011680" cy="530352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15" name="Text 13"/>
          <p:cNvSpPr/>
          <p:nvPr/>
        </p:nvSpPr>
        <p:spPr>
          <a:xfrm>
            <a:off x="457200" y="2523744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3. Zygote Process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523744"/>
            <a:ext cx="6035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Initializes a Dalvik VM, loads libraries, listens for new app requests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8229600" cy="53035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8" name="Shape 16"/>
          <p:cNvSpPr/>
          <p:nvPr/>
        </p:nvSpPr>
        <p:spPr>
          <a:xfrm>
            <a:off x="457200" y="3136392"/>
            <a:ext cx="2011680" cy="530352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19" name="Text 17"/>
          <p:cNvSpPr/>
          <p:nvPr/>
        </p:nvSpPr>
        <p:spPr>
          <a:xfrm>
            <a:off x="457200" y="3136392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4. Runtime Process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60320" y="3136392"/>
            <a:ext cx="6035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Initializes Service Manager (Binder context manager)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53035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2" name="Shape 20"/>
          <p:cNvSpPr/>
          <p:nvPr/>
        </p:nvSpPr>
        <p:spPr>
          <a:xfrm>
            <a:off x="457200" y="3749040"/>
            <a:ext cx="2011680" cy="530352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23" name="Text 21"/>
          <p:cNvSpPr/>
          <p:nvPr/>
        </p:nvSpPr>
        <p:spPr>
          <a:xfrm>
            <a:off x="457200" y="3749040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5. System Server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3749040"/>
            <a:ext cx="6035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Starts core services: SurfaceFlinger, AudioFlinger, Activity Manager, etc.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361688"/>
            <a:ext cx="8229600" cy="530352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6" name="Shape 24"/>
          <p:cNvSpPr/>
          <p:nvPr/>
        </p:nvSpPr>
        <p:spPr>
          <a:xfrm>
            <a:off x="457200" y="4361688"/>
            <a:ext cx="2011680" cy="530352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27" name="Text 25"/>
          <p:cNvSpPr/>
          <p:nvPr/>
        </p:nvSpPr>
        <p:spPr>
          <a:xfrm>
            <a:off x="457200" y="4361688"/>
            <a:ext cx="201168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6. Home Activity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60320" y="4361688"/>
            <a:ext cx="60350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Activity Manager tells Zygote to fork and launch the Home screen app</a:t>
            </a:r>
            <a:endParaRPr lang="en-US" sz="1100" dirty="0"/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Runtime — Layer Interaction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8CAE4"/>
                </a:solidFill>
              </a:rPr>
              <a:t>Three ways an App talks to a Native Library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384048"/>
          </a:xfrm>
          <a:prstGeom prst="rect">
            <a:avLst/>
          </a:prstGeom>
          <a:solidFill>
            <a:srgbClr val="005F73"/>
          </a:solidFill>
        </p:spPr>
      </p:sp>
      <p:sp>
        <p:nvSpPr>
          <p:cNvPr id="7" name="Text 5"/>
          <p:cNvSpPr/>
          <p:nvPr/>
        </p:nvSpPr>
        <p:spPr>
          <a:xfrm>
            <a:off x="548640" y="137160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1. Direct → Runtime Service → Library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01368"/>
            <a:ext cx="7863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8CAE4"/>
                </a:solidFill>
              </a:rPr>
              <a:t>e.g. Location Manager → GpsLocationProvider → libgps.so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0" name="Shape 8"/>
          <p:cNvSpPr/>
          <p:nvPr/>
        </p:nvSpPr>
        <p:spPr>
          <a:xfrm>
            <a:off x="457200" y="2514600"/>
            <a:ext cx="8229600" cy="384048"/>
          </a:xfrm>
          <a:prstGeom prst="rect">
            <a:avLst/>
          </a:prstGeom>
          <a:solidFill>
            <a:srgbClr val="00695C"/>
          </a:solidFill>
        </p:spPr>
      </p:sp>
      <p:sp>
        <p:nvSpPr>
          <p:cNvPr id="11" name="Text 9"/>
          <p:cNvSpPr/>
          <p:nvPr/>
        </p:nvSpPr>
        <p:spPr>
          <a:xfrm>
            <a:off x="548640" y="251460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2. Runtime Service → Native Service → Library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944368"/>
            <a:ext cx="7863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8CAE4"/>
                </a:solidFill>
              </a:rPr>
              <a:t>e.g. MediaPlayer → AudioFlinger (Binder IPC) → libaudio.so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4" name="Shape 12"/>
          <p:cNvSpPr/>
          <p:nvPr/>
        </p:nvSpPr>
        <p:spPr>
          <a:xfrm>
            <a:off x="457200" y="3657600"/>
            <a:ext cx="8229600" cy="384048"/>
          </a:xfrm>
          <a:prstGeom prst="rect">
            <a:avLst/>
          </a:prstGeom>
          <a:solidFill>
            <a:srgbClr val="006064"/>
          </a:solidFill>
        </p:spPr>
      </p:sp>
      <p:sp>
        <p:nvSpPr>
          <p:cNvPr id="15" name="Text 13"/>
          <p:cNvSpPr/>
          <p:nvPr/>
        </p:nvSpPr>
        <p:spPr>
          <a:xfrm>
            <a:off x="548640" y="3657600"/>
            <a:ext cx="80467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3. Runtime Service → Native Daemon → Library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087368"/>
            <a:ext cx="7863840" cy="5303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8CAE4"/>
                </a:solidFill>
              </a:rPr>
              <a:t>e.g. Telephony Manager → rild (sockets) → libril.so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DC3"/>
                </a:solidFill>
              </a:rPr>
              <a:t>The approach depends on the type of service and library being used.</a:t>
            </a:r>
            <a:endParaRPr lang="en-US" sz="11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Summary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6" name="Shape 4"/>
          <p:cNvSpPr/>
          <p:nvPr/>
        </p:nvSpPr>
        <p:spPr>
          <a:xfrm>
            <a:off x="457200" y="1051560"/>
            <a:ext cx="91440" cy="658368"/>
          </a:xfrm>
          <a:prstGeom prst="rect">
            <a:avLst/>
          </a:prstGeom>
          <a:solidFill>
            <a:srgbClr val="F77F00"/>
          </a:solidFill>
        </p:spPr>
      </p:sp>
      <p:sp>
        <p:nvSpPr>
          <p:cNvPr id="7" name="Text 5"/>
          <p:cNvSpPr/>
          <p:nvPr/>
        </p:nvSpPr>
        <p:spPr>
          <a:xfrm>
            <a:off x="658368" y="1069848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7F00"/>
                </a:solidFill>
              </a:rPr>
              <a:t>Linux Kernel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371600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Foundation — hardware drivers, Binder IPC, power management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0" name="Shape 8"/>
          <p:cNvSpPr/>
          <p:nvPr/>
        </p:nvSpPr>
        <p:spPr>
          <a:xfrm>
            <a:off x="457200" y="1801368"/>
            <a:ext cx="91440" cy="658368"/>
          </a:xfrm>
          <a:prstGeom prst="rect">
            <a:avLst/>
          </a:prstGeom>
          <a:solidFill>
            <a:srgbClr val="2EC4B6"/>
          </a:solidFill>
        </p:spPr>
      </p:sp>
      <p:sp>
        <p:nvSpPr>
          <p:cNvPr id="11" name="Text 9"/>
          <p:cNvSpPr/>
          <p:nvPr/>
        </p:nvSpPr>
        <p:spPr>
          <a:xfrm>
            <a:off x="658368" y="1819656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4B6"/>
                </a:solidFill>
              </a:rPr>
              <a:t>Native Libraries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2121408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C/C++ libraries — WebKit, SQLite, Media FW, OpenGL, etc.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4" name="Shape 12"/>
          <p:cNvSpPr/>
          <p:nvPr/>
        </p:nvSpPr>
        <p:spPr>
          <a:xfrm>
            <a:off x="457200" y="2551176"/>
            <a:ext cx="91440" cy="658368"/>
          </a:xfrm>
          <a:prstGeom prst="rect">
            <a:avLst/>
          </a:prstGeom>
          <a:solidFill>
            <a:srgbClr val="48CAE4"/>
          </a:solidFill>
        </p:spPr>
      </p:sp>
      <p:sp>
        <p:nvSpPr>
          <p:cNvPr id="15" name="Text 13"/>
          <p:cNvSpPr/>
          <p:nvPr/>
        </p:nvSpPr>
        <p:spPr>
          <a:xfrm>
            <a:off x="658368" y="2569464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8CAE4"/>
                </a:solidFill>
              </a:rPr>
              <a:t>Android Runtime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2871216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Dalvik VM (per-app process) + Core Java Libraries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300984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18" name="Shape 16"/>
          <p:cNvSpPr/>
          <p:nvPr/>
        </p:nvSpPr>
        <p:spPr>
          <a:xfrm>
            <a:off x="457200" y="3300984"/>
            <a:ext cx="91440" cy="658368"/>
          </a:xfrm>
          <a:prstGeom prst="rect">
            <a:avLst/>
          </a:prstGeom>
          <a:solidFill>
            <a:srgbClr val="00B4D8"/>
          </a:solidFill>
        </p:spPr>
      </p:sp>
      <p:sp>
        <p:nvSpPr>
          <p:cNvPr id="19" name="Text 17"/>
          <p:cNvSpPr/>
          <p:nvPr/>
        </p:nvSpPr>
        <p:spPr>
          <a:xfrm>
            <a:off x="658368" y="3319272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App Framework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3621024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APIs for Activity, Window, Content, Location, Notification...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50792"/>
            <a:ext cx="8229600" cy="658368"/>
          </a:xfrm>
          <a:prstGeom prst="rect">
            <a:avLst/>
          </a:prstGeom>
          <a:solidFill>
            <a:srgbClr val="1A2744"/>
          </a:solidFill>
        </p:spPr>
      </p:sp>
      <p:sp>
        <p:nvSpPr>
          <p:cNvPr id="22" name="Shape 20"/>
          <p:cNvSpPr/>
          <p:nvPr/>
        </p:nvSpPr>
        <p:spPr>
          <a:xfrm>
            <a:off x="457200" y="4050792"/>
            <a:ext cx="91440" cy="658368"/>
          </a:xfrm>
          <a:prstGeom prst="rect">
            <a:avLst/>
          </a:prstGeom>
          <a:solidFill>
            <a:srgbClr val="9C27B0"/>
          </a:solidFill>
        </p:spPr>
      </p:sp>
      <p:sp>
        <p:nvSpPr>
          <p:cNvPr id="23" name="Text 21"/>
          <p:cNvSpPr/>
          <p:nvPr/>
        </p:nvSpPr>
        <p:spPr>
          <a:xfrm>
            <a:off x="658368" y="4069080"/>
            <a:ext cx="192024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27B0"/>
                </a:solidFill>
              </a:rPr>
              <a:t>Applications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" y="4370832"/>
            <a:ext cx="77724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</a:rPr>
              <a:t>Java apps — built-in &amp; user-installed, fully isolated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DC3"/>
                </a:solidFill>
              </a:rPr>
              <a:t>Each layer is built on top of the one below it — from hardware to user apps.</a:t>
            </a:r>
            <a:endParaRPr lang="en-US" sz="1100"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1480" y="135890"/>
            <a:ext cx="954405" cy="4451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7727</Words>
  <Application>WPS Presentation</Application>
  <PresentationFormat>On-screen Show (16:9)</PresentationFormat>
  <Paragraphs>572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Android Stack</dc:title>
  <dc:creator>PptxGenJS</dc:creator>
  <dc:subject>PptxGenJS Presentation</dc:subject>
  <cp:lastModifiedBy>Riyana</cp:lastModifiedBy>
  <cp:revision>3</cp:revision>
  <dcterms:created xsi:type="dcterms:W3CDTF">2026-05-26T06:36:00Z</dcterms:created>
  <dcterms:modified xsi:type="dcterms:W3CDTF">2026-05-26T06:43:32Z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CED7204145E34385893A10B553D2789B_13</vt:lpwstr>
  </property>
</Properties>
</file>