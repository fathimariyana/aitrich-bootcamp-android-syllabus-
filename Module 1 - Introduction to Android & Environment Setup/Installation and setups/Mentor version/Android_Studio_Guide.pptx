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731520"/>
            <a:ext cx="4114800" cy="4114800"/>
          </a:xfrm>
          <a:prstGeom prst="ellipse">
            <a:avLst/>
          </a:prstGeom>
          <a:solidFill>
            <a:srgbClr val="E94560">
              <a:alpha val="12000"/>
            </a:srgbClr>
          </a:solidFill>
          <a:ln w="12700">
            <a:solidFill>
              <a:srgbClr val="E94560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2926080"/>
            <a:ext cx="3200400" cy="3200400"/>
          </a:xfrm>
          <a:prstGeom prst="ellipse">
            <a:avLst/>
          </a:prstGeom>
          <a:solidFill>
            <a:srgbClr val="0F9B8E">
              <a:alpha val="12000"/>
            </a:srgbClr>
          </a:solidFill>
          <a:ln w="12700">
            <a:solidFill>
              <a:srgbClr val="0F9B8E">
                <a:alpha val="20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457200"/>
            <a:ext cx="1280160" cy="1280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0" y="36576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Studio</a:t>
            </a:r>
            <a:endParaRPr lang="en-US" sz="4600" dirty="0"/>
          </a:p>
        </p:txBody>
      </p:sp>
      <p:sp>
        <p:nvSpPr>
          <p:cNvPr id="6" name="Text 3"/>
          <p:cNvSpPr/>
          <p:nvPr/>
        </p:nvSpPr>
        <p:spPr>
          <a:xfrm>
            <a:off x="1828800" y="11887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Beginner Guide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411480" y="1828800"/>
            <a:ext cx="8321040" cy="36576"/>
          </a:xfrm>
          <a:prstGeom prst="rect">
            <a:avLst/>
          </a:prstGeom>
          <a:solidFill>
            <a:srgbClr val="8899BB">
              <a:alpha val="50000"/>
            </a:srgbClr>
          </a:solidFill>
          <a:ln w="12700">
            <a:solidFill>
              <a:srgbClr val="8899BB">
                <a:alpha val="50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196596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Installation &amp; Setup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2386584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Welcome Screen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280720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Creating a Project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7200" y="322783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Interface Tour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" y="3648456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Project Structure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57200" y="406908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Activities &amp; Lifecycle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846320" y="196596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New Activity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846320" y="2386584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XML Layout Editor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846320" y="280720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Running the App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846320" y="322783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Common Errors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846320" y="3648456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Tips for Students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846320" y="406908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Workflow Summary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0" y="640080"/>
            <a:ext cx="1463040" cy="1463040"/>
          </a:xfrm>
          <a:prstGeom prst="ellipse">
            <a:avLst/>
          </a:prstGeom>
          <a:solidFill>
            <a:srgbClr val="E94560">
              <a:alpha val="20000"/>
            </a:srgbClr>
          </a:solidFill>
          <a:ln w="12700">
            <a:solidFill>
              <a:srgbClr val="E94560">
                <a:alpha val="40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914400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Installing Android Studio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731520" y="26517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installation, SDK &amp; Emulator setup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74320" y="46634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of 12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" y="91440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13232" y="7315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Installing Android Studio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0584"/>
            <a:ext cx="420624" cy="42062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13232" y="7315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Installing Android Studio</a:t>
            </a:r>
            <a:endParaRPr lang="en-US" sz="2000" dirty="0"/>
          </a:p>
        </p:txBody>
      </p:sp>
      <p:sp>
        <p:nvSpPr>
          <p:cNvPr id="8" name="Shape 4"/>
          <p:cNvSpPr/>
          <p:nvPr/>
        </p:nvSpPr>
        <p:spPr>
          <a:xfrm>
            <a:off x="201168" y="850392"/>
            <a:ext cx="475488" cy="475488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201168" y="8503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416052" y="1325880"/>
            <a:ext cx="45720" cy="384048"/>
          </a:xfrm>
          <a:prstGeom prst="rect">
            <a:avLst/>
          </a:prstGeom>
          <a:solidFill>
            <a:srgbClr val="E94560">
              <a:alpha val="50000"/>
            </a:srgbClr>
          </a:solidFill>
          <a:ln w="127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822960" y="777240"/>
            <a:ext cx="81381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960120" y="81381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Installer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960120" y="10972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developer.android.com/studio → Click Download Android Studio → Accept license agreement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201168" y="1691640"/>
            <a:ext cx="475488" cy="475488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201168" y="16916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416052" y="2167128"/>
            <a:ext cx="45720" cy="384048"/>
          </a:xfrm>
          <a:prstGeom prst="rect">
            <a:avLst/>
          </a:prstGeom>
          <a:solidFill>
            <a:srgbClr val="E94560">
              <a:alpha val="50000"/>
            </a:srgbClr>
          </a:solidFill>
          <a:ln w="127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22960" y="1618488"/>
            <a:ext cx="81381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960120" y="1655064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Installer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960120" y="193852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Windows: Run .exe file   |   macOS: Open .dmg and drag to Applications   |   Linux: Extract .tar.gz and run studio.sh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201168" y="2532888"/>
            <a:ext cx="475488" cy="475488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201168" y="25328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Shape 18"/>
          <p:cNvSpPr/>
          <p:nvPr/>
        </p:nvSpPr>
        <p:spPr>
          <a:xfrm>
            <a:off x="416052" y="3008376"/>
            <a:ext cx="45720" cy="384048"/>
          </a:xfrm>
          <a:prstGeom prst="rect">
            <a:avLst/>
          </a:prstGeom>
          <a:solidFill>
            <a:srgbClr val="E94560">
              <a:alpha val="50000"/>
            </a:srgbClr>
          </a:solidFill>
          <a:ln w="127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822960" y="2459736"/>
            <a:ext cx="81381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4" name="Text 20"/>
          <p:cNvSpPr/>
          <p:nvPr/>
        </p:nvSpPr>
        <p:spPr>
          <a:xfrm>
            <a:off x="960120" y="249631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Installation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960120" y="277977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Setup Wizard, select Android SDK components → SDK Platform (Android 14+) → SDK Build-Tools → SDK Platform-Tools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201168" y="3374136"/>
            <a:ext cx="475488" cy="475488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201168" y="33741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Shape 24"/>
          <p:cNvSpPr/>
          <p:nvPr/>
        </p:nvSpPr>
        <p:spPr>
          <a:xfrm>
            <a:off x="416052" y="3849624"/>
            <a:ext cx="45720" cy="384048"/>
          </a:xfrm>
          <a:prstGeom prst="rect">
            <a:avLst/>
          </a:prstGeom>
          <a:solidFill>
            <a:srgbClr val="E94560">
              <a:alpha val="50000"/>
            </a:srgbClr>
          </a:solidFill>
          <a:ln w="127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822960" y="3300984"/>
            <a:ext cx="81381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0" name="Text 26"/>
          <p:cNvSpPr/>
          <p:nvPr/>
        </p:nvSpPr>
        <p:spPr>
          <a:xfrm>
            <a:off x="960120" y="33375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Emulator Setup</a:t>
            </a:r>
            <a:endParaRPr lang="en-US" sz="1300" dirty="0"/>
          </a:p>
        </p:txBody>
      </p:sp>
      <p:sp>
        <p:nvSpPr>
          <p:cNvPr id="31" name="Text 27"/>
          <p:cNvSpPr/>
          <p:nvPr/>
        </p:nvSpPr>
        <p:spPr>
          <a:xfrm>
            <a:off x="960120" y="3621024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Android Virtual Device (AVD) → Choose a device (Pixel 6) → Download system image (API 33+) → Finish</a:t>
            </a:r>
            <a:endParaRPr lang="en-US" sz="1100" dirty="0"/>
          </a:p>
        </p:txBody>
      </p:sp>
      <p:sp>
        <p:nvSpPr>
          <p:cNvPr id="32" name="Shape 28"/>
          <p:cNvSpPr/>
          <p:nvPr/>
        </p:nvSpPr>
        <p:spPr>
          <a:xfrm>
            <a:off x="201168" y="4215384"/>
            <a:ext cx="475488" cy="475488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201168" y="42153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4" name="Shape 30"/>
          <p:cNvSpPr/>
          <p:nvPr/>
        </p:nvSpPr>
        <p:spPr>
          <a:xfrm>
            <a:off x="822960" y="4142232"/>
            <a:ext cx="81381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5" name="Text 31"/>
          <p:cNvSpPr/>
          <p:nvPr/>
        </p:nvSpPr>
        <p:spPr>
          <a:xfrm>
            <a:off x="960120" y="417880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Launch Wizard</a:t>
            </a:r>
            <a:endParaRPr lang="en-US" sz="1300" dirty="0"/>
          </a:p>
        </p:txBody>
      </p:sp>
      <p:sp>
        <p:nvSpPr>
          <p:cNvPr id="36" name="Text 32"/>
          <p:cNvSpPr/>
          <p:nvPr/>
        </p:nvSpPr>
        <p:spPr>
          <a:xfrm>
            <a:off x="960120" y="446227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Standard install → Verify settings → Let it download remaining components → Click Finish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0" y="640080"/>
            <a:ext cx="1463040" cy="1463040"/>
          </a:xfrm>
          <a:prstGeom prst="ellipse">
            <a:avLst/>
          </a:prstGeom>
          <a:solidFill>
            <a:srgbClr val="E94560">
              <a:alpha val="20000"/>
            </a:srgbClr>
          </a:solidFill>
          <a:ln w="12700">
            <a:solidFill>
              <a:srgbClr val="E94560">
                <a:alpha val="40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914400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Android Studio Welcome Screen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731520" y="26517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Project · Open Project · Settings · Plugins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74320" y="46634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of 12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" y="100584"/>
            <a:ext cx="420624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13232" y="7315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Studio Welcome Screen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74320" y="777240"/>
            <a:ext cx="3840480" cy="4114800"/>
          </a:xfrm>
          <a:prstGeom prst="rect">
            <a:avLst/>
          </a:prstGeom>
          <a:solidFill>
            <a:srgbClr val="1E1F22"/>
          </a:solidFill>
          <a:ln w="12700">
            <a:solidFill>
              <a:srgbClr val="3A3B3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74320" y="777240"/>
            <a:ext cx="1097280" cy="4114800"/>
          </a:xfrm>
          <a:prstGeom prst="rect">
            <a:avLst/>
          </a:prstGeom>
          <a:solidFill>
            <a:srgbClr val="2B2D30"/>
          </a:solidFill>
          <a:ln w="12700">
            <a:solidFill>
              <a:srgbClr val="2B2D30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914400"/>
            <a:ext cx="621792" cy="62179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92608" y="1600200"/>
            <a:ext cx="10789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Studio</a:t>
            </a:r>
            <a:endParaRPr lang="en-US" sz="700" dirty="0"/>
          </a:p>
        </p:txBody>
      </p:sp>
      <p:sp>
        <p:nvSpPr>
          <p:cNvPr id="9" name="Shape 5"/>
          <p:cNvSpPr/>
          <p:nvPr/>
        </p:nvSpPr>
        <p:spPr>
          <a:xfrm>
            <a:off x="274320" y="2148840"/>
            <a:ext cx="1097280" cy="347472"/>
          </a:xfrm>
          <a:prstGeom prst="rect">
            <a:avLst/>
          </a:prstGeom>
          <a:solidFill>
            <a:srgbClr val="0F3460"/>
          </a:solidFill>
          <a:ln w="12700">
            <a:solidFill>
              <a:srgbClr val="2B2D30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292608" y="2221992"/>
            <a:ext cx="1060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</a:t>
            </a:r>
            <a:endParaRPr lang="en-US" sz="800" dirty="0"/>
          </a:p>
        </p:txBody>
      </p:sp>
      <p:sp>
        <p:nvSpPr>
          <p:cNvPr id="11" name="Shape 7"/>
          <p:cNvSpPr/>
          <p:nvPr/>
        </p:nvSpPr>
        <p:spPr>
          <a:xfrm>
            <a:off x="274320" y="2606040"/>
            <a:ext cx="1097280" cy="347472"/>
          </a:xfrm>
          <a:prstGeom prst="rect">
            <a:avLst/>
          </a:prstGeom>
          <a:solidFill>
            <a:srgbClr val="2B2D30"/>
          </a:solidFill>
          <a:ln w="12700">
            <a:solidFill>
              <a:srgbClr val="2B2D3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292608" y="2679192"/>
            <a:ext cx="1060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Dev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274320" y="3063240"/>
            <a:ext cx="1097280" cy="347472"/>
          </a:xfrm>
          <a:prstGeom prst="rect">
            <a:avLst/>
          </a:prstGeom>
          <a:solidFill>
            <a:srgbClr val="2B2D30"/>
          </a:solidFill>
          <a:ln w="12700">
            <a:solidFill>
              <a:srgbClr val="2B2D30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292608" y="3136392"/>
            <a:ext cx="1060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Customize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274320" y="3520440"/>
            <a:ext cx="1097280" cy="347472"/>
          </a:xfrm>
          <a:prstGeom prst="rect">
            <a:avLst/>
          </a:prstGeom>
          <a:solidFill>
            <a:srgbClr val="2B2D30"/>
          </a:solidFill>
          <a:ln w="12700">
            <a:solidFill>
              <a:srgbClr val="2B2D3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292608" y="3593592"/>
            <a:ext cx="1060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Plugins</a:t>
            </a:r>
            <a:endParaRPr lang="en-US" sz="800" dirty="0"/>
          </a:p>
        </p:txBody>
      </p:sp>
      <p:sp>
        <p:nvSpPr>
          <p:cNvPr id="17" name="Shape 13"/>
          <p:cNvSpPr/>
          <p:nvPr/>
        </p:nvSpPr>
        <p:spPr>
          <a:xfrm>
            <a:off x="1371600" y="1005840"/>
            <a:ext cx="2286000" cy="411480"/>
          </a:xfrm>
          <a:prstGeom prst="rect">
            <a:avLst/>
          </a:prstGeom>
          <a:solidFill>
            <a:srgbClr val="0F9B8E"/>
          </a:solidFill>
          <a:ln w="12700">
            <a:solidFill>
              <a:srgbClr val="0F9B8E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1371600" y="10058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New Project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1371600" y="1508760"/>
            <a:ext cx="2286000" cy="411480"/>
          </a:xfrm>
          <a:prstGeom prst="rect">
            <a:avLst/>
          </a:prstGeom>
          <a:solidFill>
            <a:srgbClr val="3A3B3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1371600" y="15087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Open...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1371600" y="2011680"/>
            <a:ext cx="2286000" cy="411480"/>
          </a:xfrm>
          <a:prstGeom prst="rect">
            <a:avLst/>
          </a:prstGeom>
          <a:solidFill>
            <a:srgbClr val="3A3B3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1371600" y="20116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from VCS...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4251960" y="1097280"/>
            <a:ext cx="4663440" cy="640080"/>
          </a:xfrm>
          <a:prstGeom prst="rect">
            <a:avLst/>
          </a:prstGeom>
          <a:solidFill>
            <a:srgbClr val="FFFFFF"/>
          </a:solidFill>
          <a:ln w="25400">
            <a:solidFill>
              <a:srgbClr val="0F9B8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4251960" y="1097280"/>
            <a:ext cx="73152" cy="640080"/>
          </a:xfrm>
          <a:prstGeom prst="rect">
            <a:avLst/>
          </a:prstGeom>
          <a:solidFill>
            <a:srgbClr val="0F9B8E"/>
          </a:solidFill>
          <a:ln w="12700">
            <a:solidFill>
              <a:srgbClr val="0F9B8E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4389120" y="113385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New Project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4389120" y="141732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a fresh Android app from a template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4251960" y="1645920"/>
            <a:ext cx="4663440" cy="640080"/>
          </a:xfrm>
          <a:prstGeom prst="rect">
            <a:avLst/>
          </a:prstGeom>
          <a:solidFill>
            <a:srgbClr val="FFFFFF"/>
          </a:solidFill>
          <a:ln w="25400">
            <a:solidFill>
              <a:srgbClr val="F5A62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4251960" y="1645920"/>
            <a:ext cx="73152" cy="6400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4389120" y="168249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Open Project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4389120" y="196596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existing folder or .idea project</a:t>
            </a:r>
            <a:endParaRPr lang="en-US" sz="1000" dirty="0"/>
          </a:p>
        </p:txBody>
      </p:sp>
      <p:sp>
        <p:nvSpPr>
          <p:cNvPr id="31" name="Shape 27"/>
          <p:cNvSpPr/>
          <p:nvPr/>
        </p:nvSpPr>
        <p:spPr>
          <a:xfrm>
            <a:off x="4251960" y="2560320"/>
            <a:ext cx="4663440" cy="640080"/>
          </a:xfrm>
          <a:prstGeom prst="rect">
            <a:avLst/>
          </a:prstGeom>
          <a:solidFill>
            <a:srgbClr val="FFFFFF"/>
          </a:solidFill>
          <a:ln w="25400">
            <a:solidFill>
              <a:srgbClr val="E9456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28"/>
          <p:cNvSpPr/>
          <p:nvPr/>
        </p:nvSpPr>
        <p:spPr>
          <a:xfrm>
            <a:off x="4251960" y="2560320"/>
            <a:ext cx="73152" cy="64008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4389120" y="259689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Settings</a:t>
            </a:r>
            <a:endParaRPr lang="en-US" sz="1200" dirty="0"/>
          </a:p>
        </p:txBody>
      </p:sp>
      <p:sp>
        <p:nvSpPr>
          <p:cNvPr id="34" name="Text 30"/>
          <p:cNvSpPr/>
          <p:nvPr/>
        </p:nvSpPr>
        <p:spPr>
          <a:xfrm>
            <a:off x="4389120" y="288036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Fonts, keymaps, SDKs, appearance</a:t>
            </a:r>
            <a:endParaRPr lang="en-US" sz="1000" dirty="0"/>
          </a:p>
        </p:txBody>
      </p:sp>
      <p:sp>
        <p:nvSpPr>
          <p:cNvPr id="35" name="Shape 31"/>
          <p:cNvSpPr/>
          <p:nvPr/>
        </p:nvSpPr>
        <p:spPr>
          <a:xfrm>
            <a:off x="4251960" y="3383280"/>
            <a:ext cx="4663440" cy="640080"/>
          </a:xfrm>
          <a:prstGeom prst="rect">
            <a:avLst/>
          </a:prstGeom>
          <a:solidFill>
            <a:srgbClr val="FFFFFF"/>
          </a:solidFill>
          <a:ln w="25400">
            <a:solidFill>
              <a:srgbClr val="0F9B8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2"/>
          <p:cNvSpPr/>
          <p:nvPr/>
        </p:nvSpPr>
        <p:spPr>
          <a:xfrm>
            <a:off x="4251960" y="3383280"/>
            <a:ext cx="73152" cy="640080"/>
          </a:xfrm>
          <a:prstGeom prst="rect">
            <a:avLst/>
          </a:prstGeom>
          <a:solidFill>
            <a:srgbClr val="0F9B8E"/>
          </a:solidFill>
          <a:ln w="12700">
            <a:solidFill>
              <a:srgbClr val="0F9B8E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4389120" y="341985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Plugins</a:t>
            </a:r>
            <a:endParaRPr lang="en-US" sz="1200" dirty="0"/>
          </a:p>
        </p:txBody>
      </p:sp>
      <p:sp>
        <p:nvSpPr>
          <p:cNvPr id="38" name="Text 34"/>
          <p:cNvSpPr/>
          <p:nvPr/>
        </p:nvSpPr>
        <p:spPr>
          <a:xfrm>
            <a:off x="4389120" y="370332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themes, language support &amp; tools</a:t>
            </a:r>
            <a:endParaRPr lang="en-US" sz="1000" dirty="0"/>
          </a:p>
        </p:txBody>
      </p:sp>
      <p:sp>
        <p:nvSpPr>
          <p:cNvPr id="39" name="Shape 35"/>
          <p:cNvSpPr/>
          <p:nvPr/>
        </p:nvSpPr>
        <p:spPr>
          <a:xfrm>
            <a:off x="1325880" y="3236976"/>
            <a:ext cx="2971800" cy="0"/>
          </a:xfrm>
          <a:prstGeom prst="line">
            <a:avLst/>
          </a:prstGeom>
          <a:noFill/>
          <a:ln w="19050">
            <a:solidFill>
              <a:srgbClr val="E94560"/>
            </a:solidFill>
            <a:prstDash val="dash"/>
          </a:ln>
        </p:spPr>
      </p:sp>
      <p:sp>
        <p:nvSpPr>
          <p:cNvPr id="40" name="Shape 36"/>
          <p:cNvSpPr/>
          <p:nvPr/>
        </p:nvSpPr>
        <p:spPr>
          <a:xfrm>
            <a:off x="1325880" y="3694176"/>
            <a:ext cx="2971800" cy="0"/>
          </a:xfrm>
          <a:prstGeom prst="line">
            <a:avLst/>
          </a:prstGeom>
          <a:noFill/>
          <a:ln w="19050">
            <a:solidFill>
              <a:srgbClr val="0F9B8E"/>
            </a:solidFill>
            <a:prstDash val="dash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0" y="640080"/>
            <a:ext cx="1463040" cy="1463040"/>
          </a:xfrm>
          <a:prstGeom prst="ellipse">
            <a:avLst/>
          </a:prstGeom>
          <a:solidFill>
            <a:srgbClr val="E94560">
              <a:alpha val="20000"/>
            </a:srgbClr>
          </a:solidFill>
          <a:ln w="12700">
            <a:solidFill>
              <a:srgbClr val="E94560">
                <a:alpha val="40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914400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Creating a New Android Project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731520" y="26517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template → Language → Configure → Finish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74320" y="46634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of 12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" y="100584"/>
            <a:ext cx="420624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13232" y="7315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a New Android Project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28600" y="777240"/>
            <a:ext cx="5029200" cy="713232"/>
          </a:xfrm>
          <a:prstGeom prst="rect">
            <a:avLst/>
          </a:prstGeom>
          <a:solidFill>
            <a:srgbClr val="FFFFFF"/>
          </a:solidFill>
          <a:ln w="19050">
            <a:solidFill>
              <a:srgbClr val="E9456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28600" y="777240"/>
            <a:ext cx="73152" cy="71323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38912" y="923544"/>
            <a:ext cx="402336" cy="402336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38912" y="9235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60120" y="8686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"New Project"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60120" y="116128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Welcome screen → click "+  New Project"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28600" y="1636776"/>
            <a:ext cx="5029200" cy="713232"/>
          </a:xfrm>
          <a:prstGeom prst="rect">
            <a:avLst/>
          </a:prstGeom>
          <a:solidFill>
            <a:srgbClr val="FFFFFF"/>
          </a:solidFill>
          <a:ln w="19050">
            <a:solidFill>
              <a:srgbClr val="0F9B8E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28600" y="1636776"/>
            <a:ext cx="73152" cy="713232"/>
          </a:xfrm>
          <a:prstGeom prst="rect">
            <a:avLst/>
          </a:prstGeom>
          <a:solidFill>
            <a:srgbClr val="0F9B8E"/>
          </a:solidFill>
          <a:ln w="12700">
            <a:solidFill>
              <a:srgbClr val="0F9B8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38912" y="1783080"/>
            <a:ext cx="402336" cy="402336"/>
          </a:xfrm>
          <a:prstGeom prst="ellipse">
            <a:avLst/>
          </a:prstGeom>
          <a:solidFill>
            <a:srgbClr val="0F9B8E"/>
          </a:solidFill>
          <a:ln w="12700">
            <a:solidFill>
              <a:srgbClr val="0F9B8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38912" y="17830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960120" y="172821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"Empty Views Activity"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960120" y="202082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template gallery → Phone and Tablet → Empty Views Activity → Next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228600" y="2496312"/>
            <a:ext cx="5029200" cy="713232"/>
          </a:xfrm>
          <a:prstGeom prst="rect">
            <a:avLst/>
          </a:prstGeom>
          <a:solidFill>
            <a:srgbClr val="FFFFFF"/>
          </a:solidFill>
          <a:ln w="19050">
            <a:solidFill>
              <a:srgbClr val="F5A623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228600" y="2496312"/>
            <a:ext cx="73152" cy="7132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38912" y="2642616"/>
            <a:ext cx="402336" cy="40233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38912" y="26426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960120" y="258775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Language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960120" y="288036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Kotlin (recommended) or Java → Choose based on your course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228600" y="3355848"/>
            <a:ext cx="5029200" cy="713232"/>
          </a:xfrm>
          <a:prstGeom prst="rect">
            <a:avLst/>
          </a:prstGeom>
          <a:solidFill>
            <a:srgbClr val="FFFFFF"/>
          </a:solidFill>
          <a:ln w="19050">
            <a:solidFill>
              <a:srgbClr val="3DBA6E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228600" y="3355848"/>
            <a:ext cx="73152" cy="713232"/>
          </a:xfrm>
          <a:prstGeom prst="rect">
            <a:avLst/>
          </a:prstGeom>
          <a:solidFill>
            <a:srgbClr val="3DBA6E"/>
          </a:solidFill>
          <a:ln w="12700">
            <a:solidFill>
              <a:srgbClr val="3DBA6E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38912" y="3502152"/>
            <a:ext cx="402336" cy="402336"/>
          </a:xfrm>
          <a:prstGeom prst="ellipse">
            <a:avLst/>
          </a:prstGeom>
          <a:solidFill>
            <a:srgbClr val="3DBA6E"/>
          </a:solidFill>
          <a:ln w="12700">
            <a:solidFill>
              <a:srgbClr val="3DBA6E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38912" y="35021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960120" y="344728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Project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960120" y="373989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 MyFirstApp  |  Package: com.example.myfirstapp  |  Save Location → choose folder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228600" y="4215384"/>
            <a:ext cx="5029200" cy="713232"/>
          </a:xfrm>
          <a:prstGeom prst="rect">
            <a:avLst/>
          </a:prstGeom>
          <a:solidFill>
            <a:srgbClr val="FFFFFF"/>
          </a:solidFill>
          <a:ln w="19050">
            <a:solidFill>
              <a:srgbClr val="0F346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228600" y="4215384"/>
            <a:ext cx="73152" cy="713232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38912" y="4361688"/>
            <a:ext cx="402336" cy="402336"/>
          </a:xfrm>
          <a:prstGeom prst="ellipse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38912" y="43616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960120" y="430682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Minimum SDK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960120" y="459943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SDK: API 24 (Android 7.0) covers 94%+ of devices → click Finish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5486400" y="777240"/>
            <a:ext cx="3429000" cy="4251960"/>
          </a:xfrm>
          <a:prstGeom prst="rect">
            <a:avLst/>
          </a:prstGeom>
          <a:solidFill>
            <a:srgbClr val="1E1F22"/>
          </a:solidFill>
          <a:ln w="12700">
            <a:solidFill>
              <a:srgbClr val="3A3B3D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5486400" y="777240"/>
            <a:ext cx="3429000" cy="365760"/>
          </a:xfrm>
          <a:prstGeom prst="rect">
            <a:avLst/>
          </a:prstGeom>
          <a:solidFill>
            <a:srgbClr val="2B2D30"/>
          </a:solidFill>
          <a:ln w="12700">
            <a:solidFill>
              <a:srgbClr val="2B2D30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577840" y="80467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Project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5596128" y="1280160"/>
            <a:ext cx="3200400" cy="530352"/>
          </a:xfrm>
          <a:prstGeom prst="rect">
            <a:avLst/>
          </a:prstGeom>
          <a:solidFill>
            <a:srgbClr val="0F3460"/>
          </a:solidFill>
          <a:ln w="25400">
            <a:solidFill>
              <a:srgbClr val="0F9B8E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5596128" y="1280160"/>
            <a:ext cx="502920" cy="530352"/>
          </a:xfrm>
          <a:prstGeom prst="rect">
            <a:avLst/>
          </a:prstGeom>
          <a:solidFill>
            <a:srgbClr val="0F9B8E"/>
          </a:solidFill>
          <a:ln w="12700">
            <a:solidFill>
              <a:srgbClr val="0F9B8E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596128" y="1280160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📱</a:t>
            </a:r>
            <a:endParaRPr lang="en-US" sz="1400" dirty="0"/>
          </a:p>
        </p:txBody>
      </p:sp>
      <p:sp>
        <p:nvSpPr>
          <p:cNvPr id="41" name="Text 38"/>
          <p:cNvSpPr/>
          <p:nvPr/>
        </p:nvSpPr>
        <p:spPr>
          <a:xfrm>
            <a:off x="6144768" y="137160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Views Activity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8549640" y="1417320"/>
            <a:ext cx="201168" cy="201168"/>
          </a:xfrm>
          <a:prstGeom prst="rect">
            <a:avLst/>
          </a:prstGeom>
          <a:solidFill>
            <a:srgbClr val="0F9B8E"/>
          </a:solidFill>
          <a:ln w="12700">
            <a:solidFill>
              <a:srgbClr val="0F9B8E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8549640" y="141732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5596128" y="1938528"/>
            <a:ext cx="3200400" cy="530352"/>
          </a:xfrm>
          <a:prstGeom prst="rect">
            <a:avLst/>
          </a:prstGeom>
          <a:solidFill>
            <a:srgbClr val="2B2D30"/>
          </a:solidFill>
          <a:ln w="12700">
            <a:solidFill>
              <a:srgbClr val="3A3B3D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5596128" y="1938528"/>
            <a:ext cx="502920" cy="530352"/>
          </a:xfrm>
          <a:prstGeom prst="rect">
            <a:avLst/>
          </a:prstGeom>
          <a:solidFill>
            <a:srgbClr val="3A3B3D"/>
          </a:solidFill>
          <a:ln w="12700">
            <a:solidFill>
              <a:srgbClr val="3A3B3D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5596128" y="1938528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📱</a:t>
            </a:r>
            <a:endParaRPr lang="en-US" sz="1400" dirty="0"/>
          </a:p>
        </p:txBody>
      </p:sp>
      <p:sp>
        <p:nvSpPr>
          <p:cNvPr id="47" name="Text 44"/>
          <p:cNvSpPr/>
          <p:nvPr/>
        </p:nvSpPr>
        <p:spPr>
          <a:xfrm>
            <a:off x="6144768" y="202996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Views Activity</a:t>
            </a: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5596128" y="2596896"/>
            <a:ext cx="3200400" cy="530352"/>
          </a:xfrm>
          <a:prstGeom prst="rect">
            <a:avLst/>
          </a:prstGeom>
          <a:solidFill>
            <a:srgbClr val="2B2D30"/>
          </a:solidFill>
          <a:ln w="12700">
            <a:solidFill>
              <a:srgbClr val="3A3B3D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5596128" y="2596896"/>
            <a:ext cx="502920" cy="530352"/>
          </a:xfrm>
          <a:prstGeom prst="rect">
            <a:avLst/>
          </a:prstGeom>
          <a:solidFill>
            <a:srgbClr val="3A3B3D"/>
          </a:solidFill>
          <a:ln w="12700">
            <a:solidFill>
              <a:srgbClr val="3A3B3D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5596128" y="2596896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📱</a:t>
            </a:r>
            <a:endParaRPr lang="en-US" sz="1400" dirty="0"/>
          </a:p>
        </p:txBody>
      </p:sp>
      <p:sp>
        <p:nvSpPr>
          <p:cNvPr id="51" name="Text 48"/>
          <p:cNvSpPr/>
          <p:nvPr/>
        </p:nvSpPr>
        <p:spPr>
          <a:xfrm>
            <a:off x="6144768" y="2688336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Drawer Activity</a:t>
            </a:r>
            <a:endParaRPr lang="en-US" sz="900" dirty="0"/>
          </a:p>
        </p:txBody>
      </p:sp>
      <p:sp>
        <p:nvSpPr>
          <p:cNvPr id="52" name="Shape 49"/>
          <p:cNvSpPr/>
          <p:nvPr/>
        </p:nvSpPr>
        <p:spPr>
          <a:xfrm>
            <a:off x="5596128" y="3255264"/>
            <a:ext cx="3200400" cy="530352"/>
          </a:xfrm>
          <a:prstGeom prst="rect">
            <a:avLst/>
          </a:prstGeom>
          <a:solidFill>
            <a:srgbClr val="2B2D30"/>
          </a:solidFill>
          <a:ln w="12700">
            <a:solidFill>
              <a:srgbClr val="3A3B3D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5596128" y="3255264"/>
            <a:ext cx="502920" cy="530352"/>
          </a:xfrm>
          <a:prstGeom prst="rect">
            <a:avLst/>
          </a:prstGeom>
          <a:solidFill>
            <a:srgbClr val="3A3B3D"/>
          </a:solidFill>
          <a:ln w="12700">
            <a:solidFill>
              <a:srgbClr val="3A3B3D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5596128" y="3255264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📱</a:t>
            </a:r>
            <a:endParaRPr lang="en-US" sz="1400" dirty="0"/>
          </a:p>
        </p:txBody>
      </p:sp>
      <p:sp>
        <p:nvSpPr>
          <p:cNvPr id="55" name="Text 52"/>
          <p:cNvSpPr/>
          <p:nvPr/>
        </p:nvSpPr>
        <p:spPr>
          <a:xfrm>
            <a:off x="6144768" y="3346704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Navigation Activity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596128" y="393192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Select template</a:t>
            </a:r>
            <a:endParaRPr lang="en-US" sz="900" dirty="0"/>
          </a:p>
        </p:txBody>
      </p:sp>
      <p:sp>
        <p:nvSpPr>
          <p:cNvPr id="57" name="Shape 54"/>
          <p:cNvSpPr/>
          <p:nvPr/>
        </p:nvSpPr>
        <p:spPr>
          <a:xfrm>
            <a:off x="6583680" y="4251960"/>
            <a:ext cx="1280160" cy="365760"/>
          </a:xfrm>
          <a:prstGeom prst="rect">
            <a:avLst/>
          </a:prstGeom>
          <a:solidFill>
            <a:srgbClr val="0F9B8E"/>
          </a:solidFill>
          <a:ln w="12700">
            <a:solidFill>
              <a:srgbClr val="0F9B8E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6583680" y="42519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→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0" y="640080"/>
            <a:ext cx="1463040" cy="1463040"/>
          </a:xfrm>
          <a:prstGeom prst="ellipse">
            <a:avLst/>
          </a:prstGeom>
          <a:solidFill>
            <a:srgbClr val="E94560">
              <a:alpha val="20000"/>
            </a:srgbClr>
          </a:solidFill>
          <a:ln w="12700">
            <a:solidFill>
              <a:srgbClr val="E94560">
                <a:alpha val="40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914400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Android Studio Interface Tour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731520" y="26517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Toolbar · Editor · Panels · Logcat · Gradle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74320" y="46634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of 12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" y="100584"/>
            <a:ext cx="420624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13232" y="7315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Studio Interface — Annotated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28600" y="731520"/>
            <a:ext cx="8686800" cy="4251960"/>
          </a:xfrm>
          <a:prstGeom prst="rect">
            <a:avLst/>
          </a:prstGeom>
          <a:solidFill>
            <a:srgbClr val="1E1F22"/>
          </a:solidFill>
          <a:ln w="12700">
            <a:solidFill>
              <a:srgbClr val="3A3B3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28600" y="731520"/>
            <a:ext cx="8686800" cy="384048"/>
          </a:xfrm>
          <a:prstGeom prst="rect">
            <a:avLst/>
          </a:prstGeom>
          <a:solidFill>
            <a:srgbClr val="2B2D30"/>
          </a:solidFill>
          <a:ln w="12700">
            <a:solidFill>
              <a:srgbClr val="3A3B3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20040" y="78638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 Edit  View  Build  Run  Tools  Help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6172200" y="786384"/>
            <a:ext cx="274320" cy="274320"/>
          </a:xfrm>
          <a:prstGeom prst="ellipse">
            <a:avLst/>
          </a:prstGeom>
          <a:solidFill>
            <a:srgbClr val="3DBA6E"/>
          </a:solidFill>
          <a:ln w="12700">
            <a:solidFill>
              <a:srgbClr val="3DBA6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172200" y="7863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▶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492240" y="804672"/>
            <a:ext cx="548640" cy="228600"/>
          </a:xfrm>
          <a:prstGeom prst="rect">
            <a:avLst/>
          </a:prstGeom>
          <a:solidFill>
            <a:srgbClr val="0F9B8E"/>
          </a:solidFill>
          <a:ln w="12700">
            <a:solidFill>
              <a:srgbClr val="0F9B8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92240" y="8046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📱 AVD</a:t>
            </a:r>
            <a:endParaRPr lang="en-US" sz="700" dirty="0"/>
          </a:p>
        </p:txBody>
      </p:sp>
      <p:sp>
        <p:nvSpPr>
          <p:cNvPr id="12" name="Shape 9"/>
          <p:cNvSpPr/>
          <p:nvPr/>
        </p:nvSpPr>
        <p:spPr>
          <a:xfrm>
            <a:off x="228600" y="1115568"/>
            <a:ext cx="1737360" cy="2743200"/>
          </a:xfrm>
          <a:prstGeom prst="rect">
            <a:avLst/>
          </a:prstGeom>
          <a:solidFill>
            <a:srgbClr val="25262A"/>
          </a:solidFill>
          <a:ln w="12700">
            <a:solidFill>
              <a:srgbClr val="3A3B3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20040" y="117043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▾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338328" y="1444752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app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338328" y="1700784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📁 manifests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338328" y="1956816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📁 java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338328" y="2212848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📄 MainActivity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338328" y="2468880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📁 res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338328" y="2724912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📁 layout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338328" y="2980944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📁 values</a:t>
            </a:r>
            <a:endParaRPr lang="en-US" sz="700" dirty="0"/>
          </a:p>
        </p:txBody>
      </p:sp>
      <p:sp>
        <p:nvSpPr>
          <p:cNvPr id="21" name="Text 18"/>
          <p:cNvSpPr/>
          <p:nvPr/>
        </p:nvSpPr>
        <p:spPr>
          <a:xfrm>
            <a:off x="338328" y="3236976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build.gradle</a:t>
            </a:r>
            <a:endParaRPr lang="en-US" sz="700" dirty="0"/>
          </a:p>
        </p:txBody>
      </p:sp>
      <p:sp>
        <p:nvSpPr>
          <p:cNvPr id="22" name="Shape 19"/>
          <p:cNvSpPr/>
          <p:nvPr/>
        </p:nvSpPr>
        <p:spPr>
          <a:xfrm>
            <a:off x="1965960" y="1115568"/>
            <a:ext cx="5303520" cy="2743200"/>
          </a:xfrm>
          <a:prstGeom prst="rect">
            <a:avLst/>
          </a:prstGeom>
          <a:solidFill>
            <a:srgbClr val="1E1F22"/>
          </a:solidFill>
          <a:ln w="12700">
            <a:solidFill>
              <a:srgbClr val="3A3B3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057400" y="115214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MainActivity.kt  ×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2011680" y="1408176"/>
            <a:ext cx="256032" cy="201168"/>
          </a:xfrm>
          <a:prstGeom prst="rect">
            <a:avLst/>
          </a:prstGeom>
          <a:solidFill>
            <a:srgbClr val="25262A"/>
          </a:solidFill>
          <a:ln w="12700">
            <a:solidFill>
              <a:srgbClr val="25262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011680" y="1408176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700" dirty="0"/>
          </a:p>
        </p:txBody>
      </p:sp>
      <p:sp>
        <p:nvSpPr>
          <p:cNvPr id="26" name="Text 23"/>
          <p:cNvSpPr/>
          <p:nvPr/>
        </p:nvSpPr>
        <p:spPr>
          <a:xfrm>
            <a:off x="2313432" y="1408176"/>
            <a:ext cx="4892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package com.example.myfirstapp</a:t>
            </a:r>
            <a:endParaRPr lang="en-US" sz="750" dirty="0"/>
          </a:p>
        </p:txBody>
      </p:sp>
      <p:sp>
        <p:nvSpPr>
          <p:cNvPr id="27" name="Shape 24"/>
          <p:cNvSpPr/>
          <p:nvPr/>
        </p:nvSpPr>
        <p:spPr>
          <a:xfrm>
            <a:off x="2011680" y="1627632"/>
            <a:ext cx="256032" cy="201168"/>
          </a:xfrm>
          <a:prstGeom prst="rect">
            <a:avLst/>
          </a:prstGeom>
          <a:solidFill>
            <a:srgbClr val="25262A"/>
          </a:solidFill>
          <a:ln w="12700">
            <a:solidFill>
              <a:srgbClr val="25262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2011680" y="1627632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700" dirty="0"/>
          </a:p>
        </p:txBody>
      </p:sp>
      <p:sp>
        <p:nvSpPr>
          <p:cNvPr id="29" name="Text 26"/>
          <p:cNvSpPr/>
          <p:nvPr/>
        </p:nvSpPr>
        <p:spPr>
          <a:xfrm>
            <a:off x="2313432" y="1627632"/>
            <a:ext cx="4892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750" dirty="0"/>
          </a:p>
        </p:txBody>
      </p:sp>
      <p:sp>
        <p:nvSpPr>
          <p:cNvPr id="30" name="Shape 27"/>
          <p:cNvSpPr/>
          <p:nvPr/>
        </p:nvSpPr>
        <p:spPr>
          <a:xfrm>
            <a:off x="2011680" y="1847088"/>
            <a:ext cx="256032" cy="201168"/>
          </a:xfrm>
          <a:prstGeom prst="rect">
            <a:avLst/>
          </a:prstGeom>
          <a:solidFill>
            <a:srgbClr val="25262A"/>
          </a:solidFill>
          <a:ln w="12700">
            <a:solidFill>
              <a:srgbClr val="25262A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2011680" y="1847088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700" dirty="0"/>
          </a:p>
        </p:txBody>
      </p:sp>
      <p:sp>
        <p:nvSpPr>
          <p:cNvPr id="32" name="Text 29"/>
          <p:cNvSpPr/>
          <p:nvPr/>
        </p:nvSpPr>
        <p:spPr>
          <a:xfrm>
            <a:off x="2313432" y="1847088"/>
            <a:ext cx="4892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android.os.Bundle</a:t>
            </a:r>
            <a:endParaRPr lang="en-US" sz="750" dirty="0"/>
          </a:p>
        </p:txBody>
      </p:sp>
      <p:sp>
        <p:nvSpPr>
          <p:cNvPr id="33" name="Shape 30"/>
          <p:cNvSpPr/>
          <p:nvPr/>
        </p:nvSpPr>
        <p:spPr>
          <a:xfrm>
            <a:off x="2011680" y="2066544"/>
            <a:ext cx="256032" cy="201168"/>
          </a:xfrm>
          <a:prstGeom prst="rect">
            <a:avLst/>
          </a:prstGeom>
          <a:solidFill>
            <a:srgbClr val="25262A"/>
          </a:solidFill>
          <a:ln w="12700">
            <a:solidFill>
              <a:srgbClr val="25262A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2011680" y="2066544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700" dirty="0"/>
          </a:p>
        </p:txBody>
      </p:sp>
      <p:sp>
        <p:nvSpPr>
          <p:cNvPr id="35" name="Text 32"/>
          <p:cNvSpPr/>
          <p:nvPr/>
        </p:nvSpPr>
        <p:spPr>
          <a:xfrm>
            <a:off x="2313432" y="2066544"/>
            <a:ext cx="4892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androidx.appcompat.app.AppCompatActivity</a:t>
            </a:r>
            <a:endParaRPr lang="en-US" sz="750" dirty="0"/>
          </a:p>
        </p:txBody>
      </p:sp>
      <p:sp>
        <p:nvSpPr>
          <p:cNvPr id="36" name="Shape 33"/>
          <p:cNvSpPr/>
          <p:nvPr/>
        </p:nvSpPr>
        <p:spPr>
          <a:xfrm>
            <a:off x="2011680" y="2286000"/>
            <a:ext cx="256032" cy="201168"/>
          </a:xfrm>
          <a:prstGeom prst="rect">
            <a:avLst/>
          </a:prstGeom>
          <a:solidFill>
            <a:srgbClr val="25262A"/>
          </a:solidFill>
          <a:ln w="12700">
            <a:solidFill>
              <a:srgbClr val="25262A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2011680" y="2286000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700" dirty="0"/>
          </a:p>
        </p:txBody>
      </p:sp>
      <p:sp>
        <p:nvSpPr>
          <p:cNvPr id="38" name="Text 35"/>
          <p:cNvSpPr/>
          <p:nvPr/>
        </p:nvSpPr>
        <p:spPr>
          <a:xfrm>
            <a:off x="2313432" y="2286000"/>
            <a:ext cx="4892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750" dirty="0"/>
          </a:p>
        </p:txBody>
      </p:sp>
      <p:sp>
        <p:nvSpPr>
          <p:cNvPr id="39" name="Shape 36"/>
          <p:cNvSpPr/>
          <p:nvPr/>
        </p:nvSpPr>
        <p:spPr>
          <a:xfrm>
            <a:off x="2011680" y="2505456"/>
            <a:ext cx="256032" cy="201168"/>
          </a:xfrm>
          <a:prstGeom prst="rect">
            <a:avLst/>
          </a:prstGeom>
          <a:solidFill>
            <a:srgbClr val="25262A"/>
          </a:solidFill>
          <a:ln w="12700">
            <a:solidFill>
              <a:srgbClr val="25262A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2011680" y="2505456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700" dirty="0"/>
          </a:p>
        </p:txBody>
      </p:sp>
      <p:sp>
        <p:nvSpPr>
          <p:cNvPr id="41" name="Text 38"/>
          <p:cNvSpPr/>
          <p:nvPr/>
        </p:nvSpPr>
        <p:spPr>
          <a:xfrm>
            <a:off x="2313432" y="2505456"/>
            <a:ext cx="4892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MainActivity : AppCompatActivity() {</a:t>
            </a:r>
            <a:endParaRPr lang="en-US" sz="750" dirty="0"/>
          </a:p>
        </p:txBody>
      </p:sp>
      <p:sp>
        <p:nvSpPr>
          <p:cNvPr id="42" name="Shape 39"/>
          <p:cNvSpPr/>
          <p:nvPr/>
        </p:nvSpPr>
        <p:spPr>
          <a:xfrm>
            <a:off x="2011680" y="2724912"/>
            <a:ext cx="256032" cy="201168"/>
          </a:xfrm>
          <a:prstGeom prst="rect">
            <a:avLst/>
          </a:prstGeom>
          <a:solidFill>
            <a:srgbClr val="25262A"/>
          </a:solidFill>
          <a:ln w="12700">
            <a:solidFill>
              <a:srgbClr val="25262A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2011680" y="2724912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700" dirty="0"/>
          </a:p>
        </p:txBody>
      </p:sp>
      <p:sp>
        <p:nvSpPr>
          <p:cNvPr id="44" name="Text 41"/>
          <p:cNvSpPr/>
          <p:nvPr/>
        </p:nvSpPr>
        <p:spPr>
          <a:xfrm>
            <a:off x="2313432" y="2724912"/>
            <a:ext cx="4892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override fun onCreate(savedInstanceState: Bundle?) {</a:t>
            </a:r>
            <a:endParaRPr lang="en-US" sz="750" dirty="0"/>
          </a:p>
        </p:txBody>
      </p:sp>
      <p:sp>
        <p:nvSpPr>
          <p:cNvPr id="45" name="Shape 42"/>
          <p:cNvSpPr/>
          <p:nvPr/>
        </p:nvSpPr>
        <p:spPr>
          <a:xfrm>
            <a:off x="2011680" y="2944368"/>
            <a:ext cx="256032" cy="201168"/>
          </a:xfrm>
          <a:prstGeom prst="rect">
            <a:avLst/>
          </a:prstGeom>
          <a:solidFill>
            <a:srgbClr val="25262A"/>
          </a:solidFill>
          <a:ln w="12700">
            <a:solidFill>
              <a:srgbClr val="25262A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2011680" y="2944368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700" dirty="0"/>
          </a:p>
        </p:txBody>
      </p:sp>
      <p:sp>
        <p:nvSpPr>
          <p:cNvPr id="47" name="Text 44"/>
          <p:cNvSpPr/>
          <p:nvPr/>
        </p:nvSpPr>
        <p:spPr>
          <a:xfrm>
            <a:off x="2313432" y="2944368"/>
            <a:ext cx="4892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super.onCreate(savedInstanceState)</a:t>
            </a:r>
            <a:endParaRPr lang="en-US" sz="750" dirty="0"/>
          </a:p>
        </p:txBody>
      </p:sp>
      <p:sp>
        <p:nvSpPr>
          <p:cNvPr id="48" name="Shape 45"/>
          <p:cNvSpPr/>
          <p:nvPr/>
        </p:nvSpPr>
        <p:spPr>
          <a:xfrm>
            <a:off x="2011680" y="3163824"/>
            <a:ext cx="256032" cy="201168"/>
          </a:xfrm>
          <a:prstGeom prst="rect">
            <a:avLst/>
          </a:prstGeom>
          <a:solidFill>
            <a:srgbClr val="25262A"/>
          </a:solidFill>
          <a:ln w="12700">
            <a:solidFill>
              <a:srgbClr val="25262A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2011680" y="3163824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700" dirty="0"/>
          </a:p>
        </p:txBody>
      </p:sp>
      <p:sp>
        <p:nvSpPr>
          <p:cNvPr id="50" name="Text 47"/>
          <p:cNvSpPr/>
          <p:nvPr/>
        </p:nvSpPr>
        <p:spPr>
          <a:xfrm>
            <a:off x="2313432" y="3163824"/>
            <a:ext cx="4892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setContentView(R.layout.activity_main)</a:t>
            </a:r>
            <a:endParaRPr lang="en-US" sz="750" dirty="0"/>
          </a:p>
        </p:txBody>
      </p:sp>
      <p:sp>
        <p:nvSpPr>
          <p:cNvPr id="51" name="Shape 48"/>
          <p:cNvSpPr/>
          <p:nvPr/>
        </p:nvSpPr>
        <p:spPr>
          <a:xfrm>
            <a:off x="2011680" y="3383280"/>
            <a:ext cx="256032" cy="201168"/>
          </a:xfrm>
          <a:prstGeom prst="rect">
            <a:avLst/>
          </a:prstGeom>
          <a:solidFill>
            <a:srgbClr val="25262A"/>
          </a:solidFill>
          <a:ln w="12700">
            <a:solidFill>
              <a:srgbClr val="25262A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2011680" y="3383280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700" dirty="0"/>
          </a:p>
        </p:txBody>
      </p:sp>
      <p:sp>
        <p:nvSpPr>
          <p:cNvPr id="53" name="Text 50"/>
          <p:cNvSpPr/>
          <p:nvPr/>
        </p:nvSpPr>
        <p:spPr>
          <a:xfrm>
            <a:off x="2313432" y="3383280"/>
            <a:ext cx="4892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750" dirty="0"/>
          </a:p>
        </p:txBody>
      </p:sp>
      <p:sp>
        <p:nvSpPr>
          <p:cNvPr id="54" name="Shape 51"/>
          <p:cNvSpPr/>
          <p:nvPr/>
        </p:nvSpPr>
        <p:spPr>
          <a:xfrm>
            <a:off x="2011680" y="3602736"/>
            <a:ext cx="256032" cy="201168"/>
          </a:xfrm>
          <a:prstGeom prst="rect">
            <a:avLst/>
          </a:prstGeom>
          <a:solidFill>
            <a:srgbClr val="25262A"/>
          </a:solidFill>
          <a:ln w="12700">
            <a:solidFill>
              <a:srgbClr val="25262A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2011680" y="3602736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700" dirty="0"/>
          </a:p>
        </p:txBody>
      </p:sp>
      <p:sp>
        <p:nvSpPr>
          <p:cNvPr id="56" name="Text 53"/>
          <p:cNvSpPr/>
          <p:nvPr/>
        </p:nvSpPr>
        <p:spPr>
          <a:xfrm>
            <a:off x="2313432" y="3602736"/>
            <a:ext cx="4892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50" dirty="0"/>
          </a:p>
        </p:txBody>
      </p:sp>
      <p:sp>
        <p:nvSpPr>
          <p:cNvPr id="57" name="Shape 54"/>
          <p:cNvSpPr/>
          <p:nvPr/>
        </p:nvSpPr>
        <p:spPr>
          <a:xfrm>
            <a:off x="7269480" y="1115568"/>
            <a:ext cx="1417320" cy="2743200"/>
          </a:xfrm>
          <a:prstGeom prst="rect">
            <a:avLst/>
          </a:prstGeom>
          <a:solidFill>
            <a:srgbClr val="25262A"/>
          </a:solidFill>
          <a:ln w="12700">
            <a:solidFill>
              <a:srgbClr val="3A3B3D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7315200" y="118872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Manager</a:t>
            </a:r>
            <a:endParaRPr lang="en-US" sz="700" dirty="0"/>
          </a:p>
        </p:txBody>
      </p:sp>
      <p:sp>
        <p:nvSpPr>
          <p:cNvPr id="59" name="Text 56"/>
          <p:cNvSpPr/>
          <p:nvPr/>
        </p:nvSpPr>
        <p:spPr>
          <a:xfrm>
            <a:off x="7315200" y="150876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DB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 6 API 33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DB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Running</a:t>
            </a:r>
            <a:endParaRPr lang="en-US" sz="700" dirty="0"/>
          </a:p>
        </p:txBody>
      </p:sp>
      <p:sp>
        <p:nvSpPr>
          <p:cNvPr id="60" name="Text 57"/>
          <p:cNvSpPr/>
          <p:nvPr/>
        </p:nvSpPr>
        <p:spPr>
          <a:xfrm>
            <a:off x="7315200" y="219456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Manager</a:t>
            </a:r>
            <a:endParaRPr lang="en-US" sz="700" dirty="0"/>
          </a:p>
        </p:txBody>
      </p:sp>
      <p:sp>
        <p:nvSpPr>
          <p:cNvPr id="61" name="Text 58"/>
          <p:cNvSpPr/>
          <p:nvPr/>
        </p:nvSpPr>
        <p:spPr>
          <a:xfrm>
            <a:off x="7315200" y="246888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ic_launcher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strings.xml</a:t>
            </a:r>
            <a:endParaRPr lang="en-US" sz="700" dirty="0"/>
          </a:p>
        </p:txBody>
      </p:sp>
      <p:sp>
        <p:nvSpPr>
          <p:cNvPr id="62" name="Shape 59"/>
          <p:cNvSpPr/>
          <p:nvPr/>
        </p:nvSpPr>
        <p:spPr>
          <a:xfrm>
            <a:off x="228600" y="3858768"/>
            <a:ext cx="8686800" cy="822960"/>
          </a:xfrm>
          <a:prstGeom prst="rect">
            <a:avLst/>
          </a:prstGeom>
          <a:solidFill>
            <a:srgbClr val="1A1B1E"/>
          </a:solidFill>
          <a:ln w="12700">
            <a:solidFill>
              <a:srgbClr val="3A3B3D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338328" y="389534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Logcat   Build   Terminal   Gradle</a:t>
            </a:r>
            <a:endParaRPr lang="en-US" sz="800" dirty="0"/>
          </a:p>
        </p:txBody>
      </p:sp>
      <p:sp>
        <p:nvSpPr>
          <p:cNvPr id="64" name="Text 61"/>
          <p:cNvSpPr/>
          <p:nvPr/>
        </p:nvSpPr>
        <p:spPr>
          <a:xfrm>
            <a:off x="338328" y="414223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2024-01-15 D/MainActivity: App started successfully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2024-01-15 I/System: App running on Pixel 6 API 33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0" y="640080"/>
            <a:ext cx="1463040" cy="1463040"/>
          </a:xfrm>
          <a:prstGeom prst="ellipse">
            <a:avLst/>
          </a:prstGeom>
          <a:solidFill>
            <a:srgbClr val="E94560">
              <a:alpha val="20000"/>
            </a:srgbClr>
          </a:solidFill>
          <a:ln w="12700">
            <a:solidFill>
              <a:srgbClr val="E94560">
                <a:alpha val="40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914400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Android Project Structure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731520" y="26517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· manifests · java · res · Gradle Scripts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74320" y="46634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of 12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" y="100584"/>
            <a:ext cx="420624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13232" y="7315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Project Structure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182880" y="749808"/>
            <a:ext cx="3291840" cy="4224528"/>
          </a:xfrm>
          <a:prstGeom prst="rect">
            <a:avLst/>
          </a:prstGeom>
          <a:solidFill>
            <a:srgbClr val="25262A"/>
          </a:solidFill>
          <a:ln w="12700">
            <a:solidFill>
              <a:srgbClr val="3A3B3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74320" y="8229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📦 MyFirstApp  (root)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48640" y="115214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app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22960" y="14813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manifests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97280" y="18105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AndroidManifest.xml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22960" y="213969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9B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java / kotlin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97280" y="24688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MainActivity.kt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822960" y="279806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B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res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097280" y="312724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drawable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97280" y="34564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layout  (activity_main.xml)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097280" y="378561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values  (strings, colors, themes)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48640" y="41148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build.gradle (app)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274320" y="444398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build.gradle (project)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3657600" y="749808"/>
            <a:ext cx="5257800" cy="749808"/>
          </a:xfrm>
          <a:prstGeom prst="rect">
            <a:avLst/>
          </a:prstGeom>
          <a:solidFill>
            <a:srgbClr val="FFFFFF"/>
          </a:solidFill>
          <a:ln w="25400">
            <a:solidFill>
              <a:srgbClr val="E9456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657600" y="749808"/>
            <a:ext cx="73152" cy="74980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785616" y="82296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AndroidManifest.xml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3785616" y="1115568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Declares activities, permissions, app name, icon. MUST register every activity here.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3657600" y="1627632"/>
            <a:ext cx="5257800" cy="749808"/>
          </a:xfrm>
          <a:prstGeom prst="rect">
            <a:avLst/>
          </a:prstGeom>
          <a:solidFill>
            <a:srgbClr val="FFFFFF"/>
          </a:solidFill>
          <a:ln w="25400">
            <a:solidFill>
              <a:srgbClr val="0F9B8E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3657600" y="1627632"/>
            <a:ext cx="73152" cy="749808"/>
          </a:xfrm>
          <a:prstGeom prst="rect">
            <a:avLst/>
          </a:prstGeom>
          <a:solidFill>
            <a:srgbClr val="0F9B8E"/>
          </a:solidFill>
          <a:ln w="12700">
            <a:solidFill>
              <a:srgbClr val="0F9B8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785616" y="170078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☕ java / kotlin folder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3785616" y="1993392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your code lives here. One .kt or .java file per Activity/Fragment/Class.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3657600" y="2505456"/>
            <a:ext cx="5257800" cy="749808"/>
          </a:xfrm>
          <a:prstGeom prst="rect">
            <a:avLst/>
          </a:prstGeom>
          <a:solidFill>
            <a:srgbClr val="FFFFFF"/>
          </a:solidFill>
          <a:ln w="25400">
            <a:solidFill>
              <a:srgbClr val="3DBA6E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3657600" y="2505456"/>
            <a:ext cx="73152" cy="749808"/>
          </a:xfrm>
          <a:prstGeom prst="rect">
            <a:avLst/>
          </a:prstGeom>
          <a:solidFill>
            <a:srgbClr val="3DBA6E"/>
          </a:solidFill>
          <a:ln w="12700">
            <a:solidFill>
              <a:srgbClr val="3DBA6E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785616" y="25786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res / layout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3785616" y="28712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XML files defining your UI screens. One .xml file per screen (activity_main.xml).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3657600" y="3383280"/>
            <a:ext cx="5257800" cy="749808"/>
          </a:xfrm>
          <a:prstGeom prst="rect">
            <a:avLst/>
          </a:prstGeom>
          <a:solidFill>
            <a:srgbClr val="FFFFFF"/>
          </a:solidFill>
          <a:ln w="25400">
            <a:solidFill>
              <a:srgbClr val="F5A623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3657600" y="3383280"/>
            <a:ext cx="73152" cy="7498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785616" y="345643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 res / values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3785616" y="3749040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strings.xml, colors.xml, themes.xml — centralize all text, colors, and style definitions.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3657600" y="4261104"/>
            <a:ext cx="5257800" cy="749808"/>
          </a:xfrm>
          <a:prstGeom prst="rect">
            <a:avLst/>
          </a:prstGeom>
          <a:solidFill>
            <a:srgbClr val="FFFFFF"/>
          </a:solidFill>
          <a:ln w="25400">
            <a:solidFill>
              <a:srgbClr val="0F346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3657600" y="4261104"/>
            <a:ext cx="73152" cy="749808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785616" y="433425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Gradle Scripts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3785616" y="4626864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configuration. Add libraries (dependencies), set SDK versions, signing configs.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0" y="640080"/>
            <a:ext cx="1463040" cy="1463040"/>
          </a:xfrm>
          <a:prstGeom prst="ellipse">
            <a:avLst/>
          </a:prstGeom>
          <a:solidFill>
            <a:srgbClr val="E94560">
              <a:alpha val="20000"/>
            </a:srgbClr>
          </a:solidFill>
          <a:ln w="12700">
            <a:solidFill>
              <a:srgbClr val="E94560">
                <a:alpha val="40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914400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What is an Activity?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731520" y="26517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Screen = One Activity · Lifecycle · MainActivity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74320" y="46634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of 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" y="100584"/>
            <a:ext cx="420624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13232" y="7315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an Activity?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28600" y="749808"/>
            <a:ext cx="8686800" cy="548640"/>
          </a:xfrm>
          <a:prstGeom prst="rect">
            <a:avLst/>
          </a:prstGeom>
          <a:solidFill>
            <a:srgbClr val="0F3460"/>
          </a:solidFill>
          <a:ln w="12700">
            <a:solidFill>
              <a:srgbClr val="0F9B8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65760" y="8229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Think of an Activity as one SCREEN in your app.  Just like a webpage = one URL, an Activity = one screen.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365760" y="1444752"/>
            <a:ext cx="1737360" cy="2560320"/>
          </a:xfrm>
          <a:prstGeom prst="roundRect">
            <a:avLst>
              <a:gd name="adj" fmla="val 7895"/>
            </a:avLst>
          </a:prstGeom>
          <a:solidFill>
            <a:srgbClr val="1E1F22"/>
          </a:solidFill>
          <a:ln w="25400">
            <a:solidFill>
              <a:srgbClr val="E9456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1719072"/>
            <a:ext cx="1554480" cy="2011680"/>
          </a:xfrm>
          <a:prstGeom prst="rect">
            <a:avLst/>
          </a:prstGeom>
          <a:solidFill>
            <a:srgbClr val="E94560">
              <a:alpha val="20000"/>
            </a:srgbClr>
          </a:solidFill>
          <a:ln w="12700">
            <a:solidFill>
              <a:srgbClr val="E94560">
                <a:alpha val="4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38912" y="2148840"/>
            <a:ext cx="1591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Screen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11480" y="409651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9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LoginActivity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2103120" y="2724912"/>
            <a:ext cx="640080" cy="0"/>
          </a:xfrm>
          <a:prstGeom prst="line">
            <a:avLst/>
          </a:prstGeom>
          <a:noFill/>
          <a:ln w="25400">
            <a:solidFill>
              <a:srgbClr val="8899B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194560" y="257860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99BB"/>
                </a:solidFill>
              </a:rPr>
              <a:t>→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2377440" y="1444752"/>
            <a:ext cx="1737360" cy="2560320"/>
          </a:xfrm>
          <a:prstGeom prst="roundRect">
            <a:avLst>
              <a:gd name="adj" fmla="val 7895"/>
            </a:avLst>
          </a:prstGeom>
          <a:solidFill>
            <a:srgbClr val="1E1F22"/>
          </a:solidFill>
          <a:ln w="25400">
            <a:solidFill>
              <a:srgbClr val="0F9B8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468880" y="1719072"/>
            <a:ext cx="1554480" cy="2011680"/>
          </a:xfrm>
          <a:prstGeom prst="rect">
            <a:avLst/>
          </a:prstGeom>
          <a:solidFill>
            <a:srgbClr val="0F9B8E">
              <a:alpha val="20000"/>
            </a:srgbClr>
          </a:solidFill>
          <a:ln w="12700">
            <a:solidFill>
              <a:srgbClr val="0F9B8E">
                <a:alpha val="4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450592" y="2148840"/>
            <a:ext cx="1591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Screen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2423160" y="409651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F9B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MainActivity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4114800" y="2724912"/>
            <a:ext cx="640080" cy="0"/>
          </a:xfrm>
          <a:prstGeom prst="line">
            <a:avLst/>
          </a:prstGeom>
          <a:noFill/>
          <a:ln w="25400">
            <a:solidFill>
              <a:srgbClr val="8899B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206240" y="257860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99BB"/>
                </a:solidFill>
              </a:rPr>
              <a:t>→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4389120" y="1444752"/>
            <a:ext cx="1737360" cy="2560320"/>
          </a:xfrm>
          <a:prstGeom prst="roundRect">
            <a:avLst>
              <a:gd name="adj" fmla="val 7895"/>
            </a:avLst>
          </a:prstGeom>
          <a:solidFill>
            <a:srgbClr val="1E1F22"/>
          </a:solidFill>
          <a:ln w="25400">
            <a:solidFill>
              <a:srgbClr val="F5A623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480560" y="1719072"/>
            <a:ext cx="1554480" cy="2011680"/>
          </a:xfrm>
          <a:prstGeom prst="rect">
            <a:avLst/>
          </a:prstGeom>
          <a:solidFill>
            <a:srgbClr val="F5A623">
              <a:alpha val="20000"/>
            </a:srgbClr>
          </a:solidFill>
          <a:ln w="12700">
            <a:solidFill>
              <a:srgbClr val="F5A623">
                <a:alpha val="40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462272" y="2148840"/>
            <a:ext cx="1591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Screen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4434840" y="409651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ProfileActivity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6126480" y="2724912"/>
            <a:ext cx="640080" cy="0"/>
          </a:xfrm>
          <a:prstGeom prst="line">
            <a:avLst/>
          </a:prstGeom>
          <a:noFill/>
          <a:ln w="25400">
            <a:solidFill>
              <a:srgbClr val="8899B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217920" y="257860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99BB"/>
                </a:solidFill>
              </a:rPr>
              <a:t>→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6400800" y="1444752"/>
            <a:ext cx="1737360" cy="2560320"/>
          </a:xfrm>
          <a:prstGeom prst="roundRect">
            <a:avLst>
              <a:gd name="adj" fmla="val 7895"/>
            </a:avLst>
          </a:prstGeom>
          <a:solidFill>
            <a:srgbClr val="1E1F22"/>
          </a:solidFill>
          <a:ln w="25400">
            <a:solidFill>
              <a:srgbClr val="3DBA6E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492240" y="1719072"/>
            <a:ext cx="1554480" cy="2011680"/>
          </a:xfrm>
          <a:prstGeom prst="rect">
            <a:avLst/>
          </a:prstGeom>
          <a:solidFill>
            <a:srgbClr val="3DBA6E">
              <a:alpha val="20000"/>
            </a:srgbClr>
          </a:solidFill>
          <a:ln w="12700">
            <a:solidFill>
              <a:srgbClr val="3DBA6E">
                <a:alpha val="4000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473952" y="2148840"/>
            <a:ext cx="1591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Screen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6446520" y="409651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DB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SettingsActivity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228600" y="4572000"/>
            <a:ext cx="86868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20040" y="462686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DB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onCreate()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554480" y="462686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9B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onStart()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2788920" y="462686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9B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onResume()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4023360" y="462686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⟶ App Running ⟶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5257800" y="462686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onPause()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6492240" y="462686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9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onStop()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7726680" y="462686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9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onDestroy()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0" y="640080"/>
            <a:ext cx="1463040" cy="1463040"/>
          </a:xfrm>
          <a:prstGeom prst="ellipse">
            <a:avLst/>
          </a:prstGeom>
          <a:solidFill>
            <a:srgbClr val="E94560">
              <a:alpha val="20000"/>
            </a:srgbClr>
          </a:solidFill>
          <a:ln w="12700">
            <a:solidFill>
              <a:srgbClr val="E94560">
                <a:alpha val="40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914400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— Creating a New Activity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731520" y="26517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Right-click → New → Activity → Empty Views Activity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74320" y="46634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 of 12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4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" y="100584"/>
            <a:ext cx="420624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13232" y="7315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a New Activity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28600" y="777240"/>
            <a:ext cx="3840480" cy="530352"/>
          </a:xfrm>
          <a:prstGeom prst="rect">
            <a:avLst/>
          </a:prstGeom>
          <a:solidFill>
            <a:srgbClr val="FFFFFF"/>
          </a:solidFill>
          <a:ln w="19050">
            <a:solidFill>
              <a:srgbClr val="E9456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92608" y="868680"/>
            <a:ext cx="347472" cy="347472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92608" y="8686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49808" y="86868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Right-click on your package name inside the java/kotlin folder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28600" y="1463040"/>
            <a:ext cx="3840480" cy="530352"/>
          </a:xfrm>
          <a:prstGeom prst="rect">
            <a:avLst/>
          </a:prstGeom>
          <a:solidFill>
            <a:srgbClr val="FFFFFF"/>
          </a:solidFill>
          <a:ln w="19050">
            <a:solidFill>
              <a:srgbClr val="E9456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92608" y="1554480"/>
            <a:ext cx="347472" cy="347472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92608" y="15544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49808" y="155448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 New  →  Activity  →  Empty Views Activity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28600" y="2148840"/>
            <a:ext cx="3840480" cy="530352"/>
          </a:xfrm>
          <a:prstGeom prst="rect">
            <a:avLst/>
          </a:prstGeom>
          <a:solidFill>
            <a:srgbClr val="FFFFFF"/>
          </a:solidFill>
          <a:ln w="19050">
            <a:solidFill>
              <a:srgbClr val="E9456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92608" y="2240280"/>
            <a:ext cx="347472" cy="347472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92608" y="22402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749808" y="224028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Activity Name (e.g. SecondActivity) → Click Finish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228600" y="2834640"/>
            <a:ext cx="3840480" cy="530352"/>
          </a:xfrm>
          <a:prstGeom prst="rect">
            <a:avLst/>
          </a:prstGeom>
          <a:solidFill>
            <a:srgbClr val="FFFFFF"/>
          </a:solidFill>
          <a:ln w="19050">
            <a:solidFill>
              <a:srgbClr val="E9456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292608" y="2926080"/>
            <a:ext cx="347472" cy="347472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92608" y="2926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749808" y="292608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files are auto-generated automatically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228600" y="3520440"/>
            <a:ext cx="3840480" cy="1417320"/>
          </a:xfrm>
          <a:prstGeom prst="rect">
            <a:avLst/>
          </a:prstGeom>
          <a:solidFill>
            <a:srgbClr val="0D1117"/>
          </a:solidFill>
          <a:ln w="12700">
            <a:solidFill>
              <a:srgbClr val="0F9B8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5760" y="35661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Auto-Generated: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365760" y="388620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SecondActivity.kt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→ Kotlin class with lifecycle methods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res/layout/activity_second.xml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→ XML layout file for this screen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4297680" y="749808"/>
            <a:ext cx="4617720" cy="4206240"/>
          </a:xfrm>
          <a:prstGeom prst="rect">
            <a:avLst/>
          </a:prstGeom>
          <a:solidFill>
            <a:srgbClr val="25262A"/>
          </a:solidFill>
          <a:ln w="12700">
            <a:solidFill>
              <a:srgbClr val="3A3B3D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407408" y="8046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Panel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4407408" y="1115568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app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4407408" y="1389888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📁 java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4315968" y="1664208"/>
            <a:ext cx="4480560" cy="256032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407408" y="1664208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📦 com.example.app  ← right-click here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4407408" y="1938528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📄 MainActivity.kt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5486400" y="2212848"/>
            <a:ext cx="3200400" cy="2468880"/>
          </a:xfrm>
          <a:prstGeom prst="rect">
            <a:avLst/>
          </a:prstGeom>
          <a:solidFill>
            <a:srgbClr val="2B2D30"/>
          </a:solidFill>
          <a:ln w="12700">
            <a:solidFill>
              <a:srgbClr val="555566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486400" y="2212848"/>
            <a:ext cx="3200400" cy="438912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596128" y="2267712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         ►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5596128" y="2724912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5596128" y="3182112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5596128" y="3639312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5596128" y="4096512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          ►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7132320" y="2212848"/>
            <a:ext cx="1737360" cy="1371600"/>
          </a:xfrm>
          <a:prstGeom prst="rect">
            <a:avLst/>
          </a:prstGeom>
          <a:solidFill>
            <a:srgbClr val="2B2D30"/>
          </a:solidFill>
          <a:ln w="12700">
            <a:solidFill>
              <a:srgbClr val="555566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7132320" y="2212848"/>
            <a:ext cx="1737360" cy="310896"/>
          </a:xfrm>
          <a:prstGeom prst="rect">
            <a:avLst/>
          </a:prstGeom>
          <a:solidFill>
            <a:srgbClr val="0F9B8E"/>
          </a:solidFill>
          <a:ln w="12700">
            <a:solidFill>
              <a:srgbClr val="0F9B8E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223760" y="224942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7223760" y="257860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7223760" y="2907792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7223760" y="323697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4069080" y="1371600"/>
            <a:ext cx="0" cy="822960"/>
          </a:xfrm>
          <a:prstGeom prst="line">
            <a:avLst/>
          </a:prstGeom>
          <a:noFill/>
          <a:ln w="19050">
            <a:solidFill>
              <a:srgbClr val="F5A623"/>
            </a:solidFill>
            <a:prstDash val="dash"/>
          </a:ln>
        </p:spPr>
      </p:sp>
      <p:sp>
        <p:nvSpPr>
          <p:cNvPr id="45" name="Shape 42"/>
          <p:cNvSpPr/>
          <p:nvPr/>
        </p:nvSpPr>
        <p:spPr>
          <a:xfrm>
            <a:off x="4069080" y="1371600"/>
            <a:ext cx="256032" cy="0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0" y="640080"/>
            <a:ext cx="1463040" cy="1463040"/>
          </a:xfrm>
          <a:prstGeom prst="ellipse">
            <a:avLst/>
          </a:prstGeom>
          <a:solidFill>
            <a:srgbClr val="E94560">
              <a:alpha val="20000"/>
            </a:srgbClr>
          </a:solidFill>
          <a:ln w="12700">
            <a:solidFill>
              <a:srgbClr val="E94560">
                <a:alpha val="40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914400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— XML Layout Editor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731520" y="26517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· Code · Palette · Component Tree · Attributes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74320" y="46634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8 of 12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4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" y="100584"/>
            <a:ext cx="420624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13232" y="7315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XML Layout Editor — Annotated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182880" y="749808"/>
            <a:ext cx="8778240" cy="4251960"/>
          </a:xfrm>
          <a:prstGeom prst="rect">
            <a:avLst/>
          </a:prstGeom>
          <a:solidFill>
            <a:srgbClr val="1E1F22"/>
          </a:solidFill>
          <a:ln w="12700">
            <a:solidFill>
              <a:srgbClr val="3A3B3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82880" y="749808"/>
            <a:ext cx="8778240" cy="320040"/>
          </a:xfrm>
          <a:prstGeom prst="rect">
            <a:avLst/>
          </a:prstGeom>
          <a:solidFill>
            <a:srgbClr val="2B2D30"/>
          </a:solidFill>
          <a:ln w="12700">
            <a:solidFill>
              <a:srgbClr val="3A3B3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82880" y="749808"/>
            <a:ext cx="1005840" cy="320040"/>
          </a:xfrm>
          <a:prstGeom prst="rect">
            <a:avLst/>
          </a:prstGeom>
          <a:solidFill>
            <a:srgbClr val="1E1F22"/>
          </a:solidFill>
          <a:ln w="12700">
            <a:solidFill>
              <a:srgbClr val="3A3B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01168" y="786384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207008" y="786384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828800" y="78638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182880" y="1069848"/>
            <a:ext cx="1280160" cy="3931920"/>
          </a:xfrm>
          <a:prstGeom prst="rect">
            <a:avLst/>
          </a:prstGeom>
          <a:solidFill>
            <a:srgbClr val="25262A"/>
          </a:solidFill>
          <a:ln w="12700">
            <a:solidFill>
              <a:srgbClr val="3A3B3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74320" y="10972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Palette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256032" y="141732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⬜ TextView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256032" y="178308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⬜ Button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256032" y="214884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⬜ ImageView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256032" y="251460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⬜ EditText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256032" y="288036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⬜ RecyclerView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256032" y="324612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⬜ LinearLayout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256032" y="361188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⬜ ConstraintLayout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508760" y="1069848"/>
            <a:ext cx="3840480" cy="3931920"/>
          </a:xfrm>
          <a:prstGeom prst="rect">
            <a:avLst/>
          </a:prstGeom>
          <a:solidFill>
            <a:srgbClr val="2B2D30"/>
          </a:solidFill>
          <a:ln w="12700">
            <a:solidFill>
              <a:srgbClr val="3A3B3D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2011680" y="1234440"/>
            <a:ext cx="2834640" cy="365760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2057400" y="1508760"/>
            <a:ext cx="2743200" cy="3246120"/>
          </a:xfrm>
          <a:prstGeom prst="rect">
            <a:avLst/>
          </a:prstGeom>
          <a:solidFill>
            <a:srgbClr val="F5F5F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148840" y="20116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 World!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2468880" y="3200400"/>
            <a:ext cx="1920240" cy="502920"/>
          </a:xfrm>
          <a:prstGeom prst="rect">
            <a:avLst/>
          </a:prstGeom>
          <a:solidFill>
            <a:srgbClr val="0F9B8E"/>
          </a:solidFill>
          <a:ln w="12700">
            <a:solidFill>
              <a:srgbClr val="0F9B8E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468880" y="32004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5394960" y="1069848"/>
            <a:ext cx="1737360" cy="1920240"/>
          </a:xfrm>
          <a:prstGeom prst="rect">
            <a:avLst/>
          </a:prstGeom>
          <a:solidFill>
            <a:srgbClr val="25262A"/>
          </a:solidFill>
          <a:ln w="12700">
            <a:solidFill>
              <a:srgbClr val="3A3B3D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468112" y="109728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Tree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5468112" y="138988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▾ ConstraintLayout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5468112" y="169164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9B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▾ TextView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5468112" y="199339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"Hello World!"</a:t>
            </a:r>
            <a:endParaRPr lang="en-US" sz="750" dirty="0"/>
          </a:p>
        </p:txBody>
      </p:sp>
      <p:sp>
        <p:nvSpPr>
          <p:cNvPr id="31" name="Text 28"/>
          <p:cNvSpPr/>
          <p:nvPr/>
        </p:nvSpPr>
        <p:spPr>
          <a:xfrm>
            <a:off x="5468112" y="2295144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9B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▾ Button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5468112" y="2596896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9B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"Button"</a:t>
            </a:r>
            <a:endParaRPr lang="en-US" sz="750" dirty="0"/>
          </a:p>
        </p:txBody>
      </p:sp>
      <p:sp>
        <p:nvSpPr>
          <p:cNvPr id="33" name="Shape 30"/>
          <p:cNvSpPr/>
          <p:nvPr/>
        </p:nvSpPr>
        <p:spPr>
          <a:xfrm>
            <a:off x="5394960" y="3035808"/>
            <a:ext cx="1737360" cy="1965960"/>
          </a:xfrm>
          <a:prstGeom prst="rect">
            <a:avLst/>
          </a:prstGeom>
          <a:solidFill>
            <a:srgbClr val="25262A"/>
          </a:solidFill>
          <a:ln w="12700">
            <a:solidFill>
              <a:srgbClr val="3A3B3D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468112" y="306324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5468112" y="336499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lang="en-US" sz="700" dirty="0"/>
          </a:p>
        </p:txBody>
      </p:sp>
      <p:sp>
        <p:nvSpPr>
          <p:cNvPr id="36" name="Text 33"/>
          <p:cNvSpPr/>
          <p:nvPr/>
        </p:nvSpPr>
        <p:spPr>
          <a:xfrm>
            <a:off x="6236208" y="336499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textView</a:t>
            </a:r>
            <a:endParaRPr lang="en-US" sz="700" dirty="0"/>
          </a:p>
        </p:txBody>
      </p:sp>
      <p:sp>
        <p:nvSpPr>
          <p:cNvPr id="37" name="Text 34"/>
          <p:cNvSpPr/>
          <p:nvPr/>
        </p:nvSpPr>
        <p:spPr>
          <a:xfrm>
            <a:off x="5468112" y="3666744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endParaRPr lang="en-US" sz="700" dirty="0"/>
          </a:p>
        </p:txBody>
      </p:sp>
      <p:sp>
        <p:nvSpPr>
          <p:cNvPr id="38" name="Text 35"/>
          <p:cNvSpPr/>
          <p:nvPr/>
        </p:nvSpPr>
        <p:spPr>
          <a:xfrm>
            <a:off x="6236208" y="366674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Hello World!</a:t>
            </a:r>
            <a:endParaRPr lang="en-US" sz="700" dirty="0"/>
          </a:p>
        </p:txBody>
      </p:sp>
      <p:sp>
        <p:nvSpPr>
          <p:cNvPr id="39" name="Text 36"/>
          <p:cNvSpPr/>
          <p:nvPr/>
        </p:nvSpPr>
        <p:spPr>
          <a:xfrm>
            <a:off x="5468112" y="3968496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textSize</a:t>
            </a:r>
            <a:endParaRPr lang="en-US" sz="700" dirty="0"/>
          </a:p>
        </p:txBody>
      </p:sp>
      <p:sp>
        <p:nvSpPr>
          <p:cNvPr id="40" name="Text 37"/>
          <p:cNvSpPr/>
          <p:nvPr/>
        </p:nvSpPr>
        <p:spPr>
          <a:xfrm>
            <a:off x="6236208" y="396849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16sp</a:t>
            </a:r>
            <a:endParaRPr lang="en-US" sz="700" dirty="0"/>
          </a:p>
        </p:txBody>
      </p:sp>
      <p:sp>
        <p:nvSpPr>
          <p:cNvPr id="41" name="Text 38"/>
          <p:cNvSpPr/>
          <p:nvPr/>
        </p:nvSpPr>
        <p:spPr>
          <a:xfrm>
            <a:off x="5468112" y="427024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textColor</a:t>
            </a:r>
            <a:endParaRPr lang="en-US" sz="700" dirty="0"/>
          </a:p>
        </p:txBody>
      </p:sp>
      <p:sp>
        <p:nvSpPr>
          <p:cNvPr id="42" name="Text 39"/>
          <p:cNvSpPr/>
          <p:nvPr/>
        </p:nvSpPr>
        <p:spPr>
          <a:xfrm>
            <a:off x="6236208" y="427024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#000000</a:t>
            </a:r>
            <a:endParaRPr lang="en-US" sz="700" dirty="0"/>
          </a:p>
        </p:txBody>
      </p:sp>
      <p:sp>
        <p:nvSpPr>
          <p:cNvPr id="43" name="Text 40"/>
          <p:cNvSpPr/>
          <p:nvPr/>
        </p:nvSpPr>
        <p:spPr>
          <a:xfrm>
            <a:off x="5468112" y="457200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layout_width</a:t>
            </a:r>
            <a:endParaRPr lang="en-US" sz="700" dirty="0"/>
          </a:p>
        </p:txBody>
      </p:sp>
      <p:sp>
        <p:nvSpPr>
          <p:cNvPr id="44" name="Text 41"/>
          <p:cNvSpPr/>
          <p:nvPr/>
        </p:nvSpPr>
        <p:spPr>
          <a:xfrm>
            <a:off x="6236208" y="45720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wrap_content</a:t>
            </a:r>
            <a:endParaRPr lang="en-US" sz="700" dirty="0"/>
          </a:p>
        </p:txBody>
      </p:sp>
      <p:sp>
        <p:nvSpPr>
          <p:cNvPr id="45" name="Shape 42"/>
          <p:cNvSpPr/>
          <p:nvPr/>
        </p:nvSpPr>
        <p:spPr>
          <a:xfrm>
            <a:off x="7205472" y="1143000"/>
            <a:ext cx="1920240" cy="713232"/>
          </a:xfrm>
          <a:prstGeom prst="rect">
            <a:avLst/>
          </a:prstGeom>
          <a:solidFill>
            <a:srgbClr val="FFFFFF"/>
          </a:solidFill>
          <a:ln w="25400">
            <a:solidFill>
              <a:srgbClr val="E9456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7205472" y="1143000"/>
            <a:ext cx="64008" cy="71323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7315200" y="1216152"/>
            <a:ext cx="1737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Palette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widgets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your screen</a:t>
            </a: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7205472" y="2148840"/>
            <a:ext cx="1920240" cy="713232"/>
          </a:xfrm>
          <a:prstGeom prst="rect">
            <a:avLst/>
          </a:prstGeom>
          <a:solidFill>
            <a:srgbClr val="FFFFFF"/>
          </a:solidFill>
          <a:ln w="25400">
            <a:solidFill>
              <a:srgbClr val="0F9B8E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49" name="Shape 46"/>
          <p:cNvSpPr/>
          <p:nvPr/>
        </p:nvSpPr>
        <p:spPr>
          <a:xfrm>
            <a:off x="7205472" y="2148840"/>
            <a:ext cx="64008" cy="713232"/>
          </a:xfrm>
          <a:prstGeom prst="rect">
            <a:avLst/>
          </a:prstGeom>
          <a:solidFill>
            <a:srgbClr val="0F9B8E"/>
          </a:solidFill>
          <a:ln w="12700">
            <a:solidFill>
              <a:srgbClr val="0F9B8E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7315200" y="2221992"/>
            <a:ext cx="1737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Design View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preview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your UI</a:t>
            </a:r>
            <a:endParaRPr lang="en-US" sz="900" dirty="0"/>
          </a:p>
        </p:txBody>
      </p:sp>
      <p:sp>
        <p:nvSpPr>
          <p:cNvPr id="51" name="Shape 48"/>
          <p:cNvSpPr/>
          <p:nvPr/>
        </p:nvSpPr>
        <p:spPr>
          <a:xfrm>
            <a:off x="7205472" y="2999232"/>
            <a:ext cx="1920240" cy="713232"/>
          </a:xfrm>
          <a:prstGeom prst="rect">
            <a:avLst/>
          </a:prstGeom>
          <a:solidFill>
            <a:srgbClr val="FFFFFF"/>
          </a:solidFill>
          <a:ln w="25400">
            <a:solidFill>
              <a:srgbClr val="F5A623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52" name="Shape 49"/>
          <p:cNvSpPr/>
          <p:nvPr/>
        </p:nvSpPr>
        <p:spPr>
          <a:xfrm>
            <a:off x="7205472" y="2999232"/>
            <a:ext cx="64008" cy="7132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7315200" y="3072384"/>
            <a:ext cx="1737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Component Tree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Hierarchy of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elements</a:t>
            </a:r>
            <a:endParaRPr lang="en-US" sz="900" dirty="0"/>
          </a:p>
        </p:txBody>
      </p:sp>
      <p:sp>
        <p:nvSpPr>
          <p:cNvPr id="54" name="Shape 51"/>
          <p:cNvSpPr/>
          <p:nvPr/>
        </p:nvSpPr>
        <p:spPr>
          <a:xfrm>
            <a:off x="7205472" y="3877056"/>
            <a:ext cx="1920240" cy="713232"/>
          </a:xfrm>
          <a:prstGeom prst="rect">
            <a:avLst/>
          </a:prstGeom>
          <a:solidFill>
            <a:srgbClr val="FFFFFF"/>
          </a:solidFill>
          <a:ln w="25400">
            <a:solidFill>
              <a:srgbClr val="3DBA6E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55" name="Shape 52"/>
          <p:cNvSpPr/>
          <p:nvPr/>
        </p:nvSpPr>
        <p:spPr>
          <a:xfrm>
            <a:off x="7205472" y="3877056"/>
            <a:ext cx="64008" cy="713232"/>
          </a:xfrm>
          <a:prstGeom prst="rect">
            <a:avLst/>
          </a:prstGeom>
          <a:solidFill>
            <a:srgbClr val="3DBA6E"/>
          </a:solidFill>
          <a:ln w="12700">
            <a:solidFill>
              <a:srgbClr val="3DBA6E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7315200" y="3950208"/>
            <a:ext cx="1737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Attributes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properties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selected widget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0" y="640080"/>
            <a:ext cx="1463040" cy="1463040"/>
          </a:xfrm>
          <a:prstGeom prst="ellipse">
            <a:avLst/>
          </a:prstGeom>
          <a:solidFill>
            <a:srgbClr val="E94560">
              <a:alpha val="20000"/>
            </a:srgbClr>
          </a:solidFill>
          <a:ln w="12700">
            <a:solidFill>
              <a:srgbClr val="E94560">
                <a:alpha val="40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914400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— Running the Application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731520" y="26517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Emulator → Select Device → Click Run → Launch!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74320" y="46634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9 of 12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4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" y="100584"/>
            <a:ext cx="420624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13232" y="7315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Your Application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28600" y="777240"/>
            <a:ext cx="4297680" cy="1207008"/>
          </a:xfrm>
          <a:prstGeom prst="rect">
            <a:avLst/>
          </a:prstGeom>
          <a:solidFill>
            <a:srgbClr val="FFFFFF"/>
          </a:solidFill>
          <a:ln w="25400">
            <a:solidFill>
              <a:srgbClr val="0F9B8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28600" y="777240"/>
            <a:ext cx="4297680" cy="73152"/>
          </a:xfrm>
          <a:prstGeom prst="rect">
            <a:avLst/>
          </a:prstGeom>
          <a:solidFill>
            <a:srgbClr val="0F9B8E"/>
          </a:solidFill>
          <a:ln w="12700">
            <a:solidFill>
              <a:srgbClr val="0F9B8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65760" y="978408"/>
            <a:ext cx="640080" cy="640080"/>
          </a:xfrm>
          <a:prstGeom prst="ellipse">
            <a:avLst/>
          </a:prstGeom>
          <a:solidFill>
            <a:srgbClr val="0F9B8E"/>
          </a:solidFill>
          <a:ln w="12700">
            <a:solidFill>
              <a:srgbClr val="0F9B8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9784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🔧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124712" y="94183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AVD Manager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124712" y="1307592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→ Device Manager → + Create Device → Choose Pixel 6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85800" y="1984248"/>
            <a:ext cx="0" cy="182880"/>
          </a:xfrm>
          <a:prstGeom prst="line">
            <a:avLst/>
          </a:prstGeom>
          <a:noFill/>
          <a:ln w="25400">
            <a:solidFill>
              <a:srgbClr val="0F9B8E"/>
            </a:solidFill>
            <a:prstDash val="dash"/>
          </a:ln>
        </p:spPr>
      </p:sp>
      <p:sp>
        <p:nvSpPr>
          <p:cNvPr id="12" name="Text 9"/>
          <p:cNvSpPr/>
          <p:nvPr/>
        </p:nvSpPr>
        <p:spPr>
          <a:xfrm>
            <a:off x="548640" y="1984248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F9B8E"/>
                </a:solidFill>
              </a:rPr>
              <a:t>↓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228600" y="2167128"/>
            <a:ext cx="4297680" cy="1207008"/>
          </a:xfrm>
          <a:prstGeom prst="rect">
            <a:avLst/>
          </a:prstGeom>
          <a:solidFill>
            <a:srgbClr val="FFFFFF"/>
          </a:solidFill>
          <a:ln w="25400">
            <a:solidFill>
              <a:srgbClr val="E9456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28600" y="2167128"/>
            <a:ext cx="4297680" cy="7315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65760" y="2368296"/>
            <a:ext cx="640080" cy="64008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65760" y="236829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📥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124712" y="233172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System Image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124712" y="2697480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API 33 (Android 13) → Download → Accept license → Wait for download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85800" y="3374136"/>
            <a:ext cx="0" cy="182880"/>
          </a:xfrm>
          <a:prstGeom prst="line">
            <a:avLst/>
          </a:prstGeom>
          <a:noFill/>
          <a:ln w="25400">
            <a:solidFill>
              <a:srgbClr val="E94560"/>
            </a:solidFill>
            <a:prstDash val="dash"/>
          </a:ln>
        </p:spPr>
      </p:sp>
      <p:sp>
        <p:nvSpPr>
          <p:cNvPr id="20" name="Text 17"/>
          <p:cNvSpPr/>
          <p:nvPr/>
        </p:nvSpPr>
        <p:spPr>
          <a:xfrm>
            <a:off x="548640" y="3374136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94560"/>
                </a:solidFill>
              </a:rPr>
              <a:t>↓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228600" y="3557016"/>
            <a:ext cx="4297680" cy="1207008"/>
          </a:xfrm>
          <a:prstGeom prst="rect">
            <a:avLst/>
          </a:prstGeom>
          <a:solidFill>
            <a:srgbClr val="FFFFFF"/>
          </a:solidFill>
          <a:ln w="25400">
            <a:solidFill>
              <a:srgbClr val="F5A62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228600" y="3557016"/>
            <a:ext cx="429768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65760" y="3758184"/>
            <a:ext cx="640080" cy="64008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65760" y="375818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▶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1124712" y="372160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Device &amp; Run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1124712" y="4087368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toolbar: select Pixel 6 API 33 → Click green ▶ Run button (Shift+F10)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754880" y="777240"/>
            <a:ext cx="4114800" cy="1207008"/>
          </a:xfrm>
          <a:prstGeom prst="rect">
            <a:avLst/>
          </a:prstGeom>
          <a:solidFill>
            <a:srgbClr val="FFFFFF"/>
          </a:solidFill>
          <a:ln w="25400">
            <a:solidFill>
              <a:srgbClr val="3DBA6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754880" y="777240"/>
            <a:ext cx="4114800" cy="73152"/>
          </a:xfrm>
          <a:prstGeom prst="rect">
            <a:avLst/>
          </a:prstGeom>
          <a:solidFill>
            <a:srgbClr val="3DBA6E"/>
          </a:solidFill>
          <a:ln w="12700">
            <a:solidFill>
              <a:srgbClr val="3DBA6E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892040" y="978408"/>
            <a:ext cx="640080" cy="640080"/>
          </a:xfrm>
          <a:prstGeom prst="ellipse">
            <a:avLst/>
          </a:prstGeom>
          <a:solidFill>
            <a:srgbClr val="3DBA6E"/>
          </a:solidFill>
          <a:ln w="12700">
            <a:solidFill>
              <a:srgbClr val="3DBA6E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892040" y="9784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📦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5650992" y="941832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APK Build Process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5650992" y="1307592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Gradle compiles your code → Builds debug.apk → Installs on emulator automatically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754880" y="2167128"/>
            <a:ext cx="4114800" cy="1207008"/>
          </a:xfrm>
          <a:prstGeom prst="rect">
            <a:avLst/>
          </a:prstGeom>
          <a:solidFill>
            <a:srgbClr val="FFFFFF"/>
          </a:solidFill>
          <a:ln w="25400">
            <a:solidFill>
              <a:srgbClr val="0F346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4754880" y="2167128"/>
            <a:ext cx="4114800" cy="73152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892040" y="2368296"/>
            <a:ext cx="640080" cy="640080"/>
          </a:xfrm>
          <a:prstGeom prst="ellipse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892040" y="236829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📱</a:t>
            </a:r>
            <a:endParaRPr lang="en-US" sz="1800" dirty="0"/>
          </a:p>
        </p:txBody>
      </p:sp>
      <p:sp>
        <p:nvSpPr>
          <p:cNvPr id="37" name="Text 34"/>
          <p:cNvSpPr/>
          <p:nvPr/>
        </p:nvSpPr>
        <p:spPr>
          <a:xfrm>
            <a:off x="5650992" y="233172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Launches!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5650992" y="2697480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Emulator boots (first time: ~60s) → Your app installs and opens automatically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4553712" y="1920240"/>
            <a:ext cx="201168" cy="0"/>
          </a:xfrm>
          <a:prstGeom prst="line">
            <a:avLst/>
          </a:prstGeom>
          <a:noFill/>
          <a:ln w="25400">
            <a:solidFill>
              <a:srgbClr val="8899BB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4535424" y="1810512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99BB"/>
                </a:solidFill>
              </a:rPr>
              <a:t>→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0" y="640080"/>
            <a:ext cx="1463040" cy="1463040"/>
          </a:xfrm>
          <a:prstGeom prst="ellipse">
            <a:avLst/>
          </a:prstGeom>
          <a:solidFill>
            <a:srgbClr val="E94560">
              <a:alpha val="20000"/>
            </a:srgbClr>
          </a:solidFill>
          <a:ln w="12700">
            <a:solidFill>
              <a:srgbClr val="E94560">
                <a:alpha val="40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914400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— Common Beginner Errors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731520" y="26517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Gradle · Emulator · SDK · Build Errors &amp; Fixes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74320" y="46634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10 of 12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0F4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" y="100584"/>
            <a:ext cx="420624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13232" y="7315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Beginner Errors &amp; Fixes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28600" y="749808"/>
            <a:ext cx="8686800" cy="749808"/>
          </a:xfrm>
          <a:prstGeom prst="rect">
            <a:avLst/>
          </a:prstGeom>
          <a:solidFill>
            <a:srgbClr val="FFFFFF"/>
          </a:solidFill>
          <a:ln w="19050">
            <a:solidFill>
              <a:srgbClr val="E9456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28600" y="749808"/>
            <a:ext cx="64008" cy="74980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20040" y="8595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⚠️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8680" y="78638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Gradle Sync Failed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68680" y="107899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Error: "Could not resolve dependency"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251960" y="932688"/>
            <a:ext cx="548640" cy="384048"/>
          </a:xfrm>
          <a:prstGeom prst="rect">
            <a:avLst/>
          </a:prstGeom>
          <a:solidFill>
            <a:srgbClr val="3DBA6E"/>
          </a:solidFill>
          <a:ln w="12700">
            <a:solidFill>
              <a:srgbClr val="3DBA6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251960" y="932688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FIX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864608" y="859536"/>
            <a:ext cx="39136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4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→ Sync Project with Gradle Files   |   Check internet connection   |   Invalidate Caches &amp; Restart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228600" y="1618488"/>
            <a:ext cx="8686800" cy="749808"/>
          </a:xfrm>
          <a:prstGeom prst="rect">
            <a:avLst/>
          </a:prstGeom>
          <a:solidFill>
            <a:srgbClr val="FFFFFF"/>
          </a:solidFill>
          <a:ln w="19050">
            <a:solidFill>
              <a:srgbClr val="F5A623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28600" y="1618488"/>
            <a:ext cx="64008" cy="7498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0040" y="17282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📱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868680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Emulator Not Starting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868680" y="194767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AVD won't boot or freezes on Android logo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4251960" y="1801368"/>
            <a:ext cx="548640" cy="384048"/>
          </a:xfrm>
          <a:prstGeom prst="rect">
            <a:avLst/>
          </a:prstGeom>
          <a:solidFill>
            <a:srgbClr val="3DBA6E"/>
          </a:solidFill>
          <a:ln w="12700">
            <a:solidFill>
              <a:srgbClr val="3DBA6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251960" y="1801368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FIX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864608" y="1728216"/>
            <a:ext cx="39136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4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Intel HAXM in BIOS (VT-x)   |   Cold Boot emulator   |   Increase RAM in AVD settings → 2GB+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228600" y="2487168"/>
            <a:ext cx="8686800" cy="749808"/>
          </a:xfrm>
          <a:prstGeom prst="rect">
            <a:avLst/>
          </a:prstGeom>
          <a:solidFill>
            <a:srgbClr val="FFFFFF"/>
          </a:solidFill>
          <a:ln w="19050">
            <a:solidFill>
              <a:srgbClr val="0F9B8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228600" y="2487168"/>
            <a:ext cx="64008" cy="749808"/>
          </a:xfrm>
          <a:prstGeom prst="rect">
            <a:avLst/>
          </a:prstGeom>
          <a:solidFill>
            <a:srgbClr val="0F9B8E"/>
          </a:solidFill>
          <a:ln w="12700">
            <a:solidFill>
              <a:srgbClr val="0F9B8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20040" y="25968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🔧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868680" y="252374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Missing / Not Found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868680" y="28163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Error: "SDK location not found"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4251960" y="2670048"/>
            <a:ext cx="548640" cy="384048"/>
          </a:xfrm>
          <a:prstGeom prst="rect">
            <a:avLst/>
          </a:prstGeom>
          <a:solidFill>
            <a:srgbClr val="3DBA6E"/>
          </a:solidFill>
          <a:ln w="12700">
            <a:solidFill>
              <a:srgbClr val="3DBA6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251960" y="2670048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FIX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4864608" y="2596896"/>
            <a:ext cx="39136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4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→ Project Structure → SDK Location → Set path   |   Re-download SDK in SDK Manager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228600" y="3355848"/>
            <a:ext cx="8686800" cy="749808"/>
          </a:xfrm>
          <a:prstGeom prst="rect">
            <a:avLst/>
          </a:prstGeom>
          <a:solidFill>
            <a:srgbClr val="FFFFFF"/>
          </a:solidFill>
          <a:ln w="19050">
            <a:solidFill>
              <a:srgbClr val="3DBA6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228600" y="3355848"/>
            <a:ext cx="64008" cy="749808"/>
          </a:xfrm>
          <a:prstGeom prst="rect">
            <a:avLst/>
          </a:prstGeom>
          <a:solidFill>
            <a:srgbClr val="3DBA6E"/>
          </a:solidFill>
          <a:ln w="12700">
            <a:solidFill>
              <a:srgbClr val="3DBA6E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20040" y="34655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🔴</a:t>
            </a:r>
            <a:endParaRPr lang="en-US" sz="1800" dirty="0"/>
          </a:p>
        </p:txBody>
      </p:sp>
      <p:sp>
        <p:nvSpPr>
          <p:cNvPr id="32" name="Text 29"/>
          <p:cNvSpPr/>
          <p:nvPr/>
        </p:nvSpPr>
        <p:spPr>
          <a:xfrm>
            <a:off x="868680" y="339242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Error: R cannot be resolved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868680" y="368503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Error: "cannot find symbol R.layout.activity_main"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4251960" y="3538728"/>
            <a:ext cx="548640" cy="384048"/>
          </a:xfrm>
          <a:prstGeom prst="rect">
            <a:avLst/>
          </a:prstGeom>
          <a:solidFill>
            <a:srgbClr val="3DBA6E"/>
          </a:solidFill>
          <a:ln w="12700">
            <a:solidFill>
              <a:srgbClr val="3DBA6E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251960" y="3538728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FIX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4864608" y="3465576"/>
            <a:ext cx="39136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4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res/layout folder has activity_main.xml   |   Build → Clean Project → Rebuild Project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228600" y="4224528"/>
            <a:ext cx="8686800" cy="749808"/>
          </a:xfrm>
          <a:prstGeom prst="rect">
            <a:avLst/>
          </a:prstGeom>
          <a:solidFill>
            <a:srgbClr val="FFFFFF"/>
          </a:solidFill>
          <a:ln w="19050">
            <a:solidFill>
              <a:srgbClr val="0F346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228600" y="4224528"/>
            <a:ext cx="64008" cy="749808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320040" y="43342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🔗</a:t>
            </a:r>
            <a:endParaRPr lang="en-US" sz="1800" dirty="0"/>
          </a:p>
        </p:txBody>
      </p:sp>
      <p:sp>
        <p:nvSpPr>
          <p:cNvPr id="40" name="Text 37"/>
          <p:cNvSpPr/>
          <p:nvPr/>
        </p:nvSpPr>
        <p:spPr>
          <a:xfrm>
            <a:off x="868680" y="426110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NullPointerException on Views</a:t>
            </a:r>
            <a:endParaRPr lang="en-US" sz="1300" dirty="0"/>
          </a:p>
        </p:txBody>
      </p:sp>
      <p:sp>
        <p:nvSpPr>
          <p:cNvPr id="41" name="Text 38"/>
          <p:cNvSpPr/>
          <p:nvPr/>
        </p:nvSpPr>
        <p:spPr>
          <a:xfrm>
            <a:off x="868680" y="45537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App crashes: NullPointerException in MainActivity</a:t>
            </a:r>
            <a:endParaRPr lang="en-US" sz="950" dirty="0"/>
          </a:p>
        </p:txBody>
      </p:sp>
      <p:sp>
        <p:nvSpPr>
          <p:cNvPr id="42" name="Shape 39"/>
          <p:cNvSpPr/>
          <p:nvPr/>
        </p:nvSpPr>
        <p:spPr>
          <a:xfrm>
            <a:off x="4251960" y="4407408"/>
            <a:ext cx="548640" cy="384048"/>
          </a:xfrm>
          <a:prstGeom prst="rect">
            <a:avLst/>
          </a:prstGeom>
          <a:solidFill>
            <a:srgbClr val="3DBA6E"/>
          </a:solidFill>
          <a:ln w="12700">
            <a:solidFill>
              <a:srgbClr val="3DBA6E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4251960" y="4407408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FIX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4864608" y="4334256"/>
            <a:ext cx="39136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4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sure setContentView() is called before findViewById()   |   Check XML id matches code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0" y="640080"/>
            <a:ext cx="1463040" cy="1463040"/>
          </a:xfrm>
          <a:prstGeom prst="ellipse">
            <a:avLst/>
          </a:prstGeom>
          <a:solidFill>
            <a:srgbClr val="E94560">
              <a:alpha val="20000"/>
            </a:srgbClr>
          </a:solidFill>
          <a:ln w="12700">
            <a:solidFill>
              <a:srgbClr val="E94560">
                <a:alpha val="40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914400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— Tips for Students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731520" y="26517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· Layouts First · Logcat · Activities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74320" y="46634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11 of 12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0F4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" y="100584"/>
            <a:ext cx="420624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13232" y="7315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Tips for Students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28600" y="777240"/>
            <a:ext cx="4206240" cy="1993392"/>
          </a:xfrm>
          <a:prstGeom prst="rect">
            <a:avLst/>
          </a:prstGeom>
          <a:solidFill>
            <a:srgbClr val="FFFFFF"/>
          </a:solidFill>
          <a:ln w="25400">
            <a:solidFill>
              <a:srgbClr val="0F9B8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28600" y="777240"/>
            <a:ext cx="4206240" cy="73152"/>
          </a:xfrm>
          <a:prstGeom prst="rect">
            <a:avLst/>
          </a:prstGeom>
          <a:solidFill>
            <a:srgbClr val="0F9B8E"/>
          </a:solidFill>
          <a:ln w="12700">
            <a:solidFill>
              <a:srgbClr val="0F9B8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56616" y="941832"/>
            <a:ext cx="502920" cy="502920"/>
          </a:xfrm>
          <a:prstGeom prst="ellipse">
            <a:avLst/>
          </a:prstGeom>
          <a:solidFill>
            <a:srgbClr val="0F9B8E">
              <a:alpha val="80000"/>
            </a:srgbClr>
          </a:solidFill>
          <a:ln w="12700">
            <a:solidFill>
              <a:srgbClr val="0F9B8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56616" y="9418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🏗️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41832" y="978408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Small Projects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11480" y="1399032"/>
            <a:ext cx="388620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simple calculator first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to to-do list app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try multi-screen navigation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project teaches one new concept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28600" y="2907792"/>
            <a:ext cx="4206240" cy="1993392"/>
          </a:xfrm>
          <a:prstGeom prst="rect">
            <a:avLst/>
          </a:prstGeom>
          <a:solidFill>
            <a:srgbClr val="FFFFFF"/>
          </a:solidFill>
          <a:ln w="25400">
            <a:solidFill>
              <a:srgbClr val="E9456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28600" y="2907792"/>
            <a:ext cx="4206240" cy="7315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56616" y="3072384"/>
            <a:ext cx="502920" cy="502920"/>
          </a:xfrm>
          <a:prstGeom prst="ellipse">
            <a:avLst/>
          </a:prstGeom>
          <a:solidFill>
            <a:srgbClr val="E94560">
              <a:alpha val="80000"/>
            </a:srgbClr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56616" y="30723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🎨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941832" y="310896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Layouts First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11480" y="3529584"/>
            <a:ext cx="388620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ConstraintLayout → most common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LinearLayout → simple stacking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XML before moving to Jetpack Compose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Layout Inspector to debug UI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754880" y="777240"/>
            <a:ext cx="4206240" cy="1993392"/>
          </a:xfrm>
          <a:prstGeom prst="rect">
            <a:avLst/>
          </a:prstGeom>
          <a:solidFill>
            <a:srgbClr val="FFFFFF"/>
          </a:solidFill>
          <a:ln w="25400">
            <a:solidFill>
              <a:srgbClr val="F5A62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754880" y="777240"/>
            <a:ext cx="420624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882896" y="941832"/>
            <a:ext cx="502920" cy="502920"/>
          </a:xfrm>
          <a:prstGeom prst="ellipse">
            <a:avLst/>
          </a:prstGeom>
          <a:solidFill>
            <a:srgbClr val="F5A623">
              <a:alpha val="80000"/>
            </a:srgbClr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882896" y="9418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🔍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468112" y="978408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Activities Well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4937760" y="1399032"/>
            <a:ext cx="388620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screen = one Activity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register in AndroidManifest.xml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Intent to move between Activities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onPause/onResume for data saving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4754880" y="2907792"/>
            <a:ext cx="4206240" cy="1993392"/>
          </a:xfrm>
          <a:prstGeom prst="rect">
            <a:avLst/>
          </a:prstGeom>
          <a:solidFill>
            <a:srgbClr val="FFFFFF"/>
          </a:solidFill>
          <a:ln w="25400">
            <a:solidFill>
              <a:srgbClr val="3DBA6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754880" y="2907792"/>
            <a:ext cx="4206240" cy="73152"/>
          </a:xfrm>
          <a:prstGeom prst="rect">
            <a:avLst/>
          </a:prstGeom>
          <a:solidFill>
            <a:srgbClr val="3DBA6E"/>
          </a:solidFill>
          <a:ln w="12700">
            <a:solidFill>
              <a:srgbClr val="3DBA6E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882896" y="3072384"/>
            <a:ext cx="502920" cy="502920"/>
          </a:xfrm>
          <a:prstGeom prst="ellipse">
            <a:avLst/>
          </a:prstGeom>
          <a:solidFill>
            <a:srgbClr val="3DBA6E">
              <a:alpha val="80000"/>
            </a:srgbClr>
          </a:solidFill>
          <a:ln w="12700">
            <a:solidFill>
              <a:srgbClr val="3DBA6E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882896" y="30723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🐛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5468112" y="310896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Logcat for Debugging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4937760" y="3529584"/>
            <a:ext cx="388620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Log.d("TAG", "message") → debug messages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Log.e("TAG", "error") → error messages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tag to find your own logs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traces show exact crash location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0" y="640080"/>
            <a:ext cx="1463040" cy="1463040"/>
          </a:xfrm>
          <a:prstGeom prst="ellipse">
            <a:avLst/>
          </a:prstGeom>
          <a:solidFill>
            <a:srgbClr val="E94560">
              <a:alpha val="20000"/>
            </a:srgbClr>
          </a:solidFill>
          <a:ln w="12700">
            <a:solidFill>
              <a:srgbClr val="E94560">
                <a:alpha val="40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914400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— Final Summary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731520" y="26517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Workflow: Install → Create → Design → Run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74320" y="46634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12 of 12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Android Development Workflow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74320" y="777240"/>
            <a:ext cx="1572768" cy="2926080"/>
          </a:xfrm>
          <a:prstGeom prst="rect">
            <a:avLst/>
          </a:prstGeom>
          <a:solidFill>
            <a:srgbClr val="E94560">
              <a:alpha val="85000"/>
            </a:srgbClr>
          </a:solidFill>
          <a:ln w="25400">
            <a:solidFill>
              <a:srgbClr val="E945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987552"/>
            <a:ext cx="658368" cy="658368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98755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💻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29184" y="173736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Studio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9184" y="2450592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&amp; Setup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+ Emulator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77824" y="3401568"/>
            <a:ext cx="365760" cy="36576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7824" y="3401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847088" y="2240280"/>
            <a:ext cx="164592" cy="0"/>
          </a:xfrm>
          <a:prstGeom prst="line">
            <a:avLst/>
          </a:prstGeom>
          <a:noFill/>
          <a:ln w="31750">
            <a:solidFill>
              <a:srgbClr val="8899B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10512" y="2103120"/>
            <a:ext cx="256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899BB"/>
                </a:solidFill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011680" y="777240"/>
            <a:ext cx="1572768" cy="2926080"/>
          </a:xfrm>
          <a:prstGeom prst="rect">
            <a:avLst/>
          </a:prstGeom>
          <a:solidFill>
            <a:srgbClr val="0F9B8E">
              <a:alpha val="85000"/>
            </a:srgbClr>
          </a:solidFill>
          <a:ln w="25400">
            <a:solidFill>
              <a:srgbClr val="0F9B8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68880" y="987552"/>
            <a:ext cx="658368" cy="658368"/>
          </a:xfrm>
          <a:prstGeom prst="ellipse">
            <a:avLst/>
          </a:prstGeom>
          <a:solidFill>
            <a:srgbClr val="0F9B8E"/>
          </a:solidFill>
          <a:ln w="12700">
            <a:solidFill>
              <a:srgbClr val="0F9B8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68880" y="98755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📁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066544" y="173736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Project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066544" y="2450592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Activity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Kotlin / Java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615184" y="3401568"/>
            <a:ext cx="365760" cy="365760"/>
          </a:xfrm>
          <a:prstGeom prst="ellipse">
            <a:avLst/>
          </a:prstGeom>
          <a:solidFill>
            <a:srgbClr val="0F9B8E"/>
          </a:solidFill>
          <a:ln w="12700">
            <a:solidFill>
              <a:srgbClr val="0F9B8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15184" y="3401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584448" y="2240280"/>
            <a:ext cx="164592" cy="0"/>
          </a:xfrm>
          <a:prstGeom prst="line">
            <a:avLst/>
          </a:prstGeom>
          <a:noFill/>
          <a:ln w="31750">
            <a:solidFill>
              <a:srgbClr val="8899B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47872" y="2103120"/>
            <a:ext cx="256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899BB"/>
                </a:solidFill>
              </a:rPr>
              <a:t>→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749040" y="777240"/>
            <a:ext cx="1572768" cy="2926080"/>
          </a:xfrm>
          <a:prstGeom prst="rect">
            <a:avLst/>
          </a:prstGeom>
          <a:solidFill>
            <a:srgbClr val="F5A623">
              <a:alpha val="85000"/>
            </a:srgbClr>
          </a:solidFill>
          <a:ln w="25400">
            <a:solidFill>
              <a:srgbClr val="F5A62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206240" y="987552"/>
            <a:ext cx="658368" cy="65836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06240" y="98755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🎨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3803904" y="173736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Layout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803904" y="2450592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XML Editor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&amp; Drop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352544" y="3401568"/>
            <a:ext cx="365760" cy="36576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52544" y="3401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321808" y="2240280"/>
            <a:ext cx="164592" cy="0"/>
          </a:xfrm>
          <a:prstGeom prst="line">
            <a:avLst/>
          </a:prstGeom>
          <a:noFill/>
          <a:ln w="31750">
            <a:solidFill>
              <a:srgbClr val="8899B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85232" y="2103120"/>
            <a:ext cx="256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899BB"/>
                </a:solidFill>
              </a:rPr>
              <a:t>→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486400" y="777240"/>
            <a:ext cx="1572768" cy="2926080"/>
          </a:xfrm>
          <a:prstGeom prst="rect">
            <a:avLst/>
          </a:prstGeom>
          <a:solidFill>
            <a:srgbClr val="3DBA6E">
              <a:alpha val="85000"/>
            </a:srgbClr>
          </a:solidFill>
          <a:ln w="25400">
            <a:solidFill>
              <a:srgbClr val="3DBA6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943600" y="987552"/>
            <a:ext cx="658368" cy="658368"/>
          </a:xfrm>
          <a:prstGeom prst="ellipse">
            <a:avLst/>
          </a:prstGeom>
          <a:solidFill>
            <a:srgbClr val="3DBA6E"/>
          </a:solidFill>
          <a:ln w="12700">
            <a:solidFill>
              <a:srgbClr val="3DBA6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0" y="98755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📄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5541264" y="173736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541264" y="2450592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Kotlin Code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XML Layout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089904" y="3401568"/>
            <a:ext cx="365760" cy="365760"/>
          </a:xfrm>
          <a:prstGeom prst="ellipse">
            <a:avLst/>
          </a:prstGeom>
          <a:solidFill>
            <a:srgbClr val="3DBA6E"/>
          </a:solidFill>
          <a:ln w="12700">
            <a:solidFill>
              <a:srgbClr val="3DBA6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089904" y="3401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7059168" y="2240280"/>
            <a:ext cx="164592" cy="0"/>
          </a:xfrm>
          <a:prstGeom prst="line">
            <a:avLst/>
          </a:prstGeom>
          <a:noFill/>
          <a:ln w="31750">
            <a:solidFill>
              <a:srgbClr val="8899B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022592" y="2103120"/>
            <a:ext cx="256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899BB"/>
                </a:solidFill>
              </a:rPr>
              <a:t>→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7223760" y="777240"/>
            <a:ext cx="1572768" cy="2926080"/>
          </a:xfrm>
          <a:prstGeom prst="rect">
            <a:avLst/>
          </a:prstGeom>
          <a:solidFill>
            <a:srgbClr val="0F3460">
              <a:alpha val="85000"/>
            </a:srgbClr>
          </a:solidFill>
          <a:ln w="25400">
            <a:solidFill>
              <a:srgbClr val="0F34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7680960" y="987552"/>
            <a:ext cx="658368" cy="658368"/>
          </a:xfrm>
          <a:prstGeom prst="ellipse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680960" y="98755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▶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7278624" y="173736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Emulator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7278624" y="2450592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APK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&amp; Test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7827264" y="3401568"/>
            <a:ext cx="365760" cy="365760"/>
          </a:xfrm>
          <a:prstGeom prst="ellipse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827264" y="3401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274320" y="3931920"/>
            <a:ext cx="8595360" cy="1051560"/>
          </a:xfrm>
          <a:prstGeom prst="rect">
            <a:avLst/>
          </a:prstGeom>
          <a:solidFill>
            <a:srgbClr val="0F3460"/>
          </a:solidFill>
          <a:ln w="25400">
            <a:solidFill>
              <a:srgbClr val="0F9B8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400507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Key Takeaway: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457200" y="434340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Android app = Activities (screens) + XML Layouts (UI) + Kotlin/Java Code (logic) + Gradle (build system)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3657600" cy="3657600"/>
          </a:xfrm>
          <a:prstGeom prst="ellipse">
            <a:avLst/>
          </a:prstGeom>
          <a:solidFill>
            <a:srgbClr val="0F9B8E">
              <a:alpha val="12000"/>
            </a:srgbClr>
          </a:solidFill>
          <a:ln w="12700">
            <a:solidFill>
              <a:srgbClr val="0F9B8E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E94560">
              <a:alpha val="12000"/>
            </a:srgbClr>
          </a:solidFill>
          <a:ln w="12700">
            <a:solidFill>
              <a:srgbClr val="E94560">
                <a:alpha val="20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0" y="365760"/>
            <a:ext cx="1463040" cy="1463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19202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Ready to Build!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1371600" y="269748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F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small · Practice daily · Build something you love 🚀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1828800" y="3246120"/>
            <a:ext cx="5486400" cy="36576"/>
          </a:xfrm>
          <a:prstGeom prst="rect">
            <a:avLst/>
          </a:prstGeom>
          <a:solidFill>
            <a:srgbClr val="8899BB">
              <a:alpha val="50000"/>
            </a:srgbClr>
          </a:solidFill>
          <a:ln w="12700">
            <a:solidFill>
              <a:srgbClr val="8899BB">
                <a:alpha val="50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371600" y="3401568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developer.android.com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371600" y="384048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📹 YouTube: Android Developers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943600" y="3401568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📘 Kotlin docs: kotlinlang.org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943600" y="384048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Udacity Android Course (free)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371600" y="475488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Studio Complete Guide  ·  Slide Deck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Android Studio – Complete Beginner Guide</dc:title>
  <dc:subject>PptxGenJS Presentation</dc:subject>
  <dc:creator>PptxGenJS</dc:creator>
  <cp:lastModifiedBy>PptxGenJS</cp:lastModifiedBy>
  <cp:revision>1</cp:revision>
  <dcterms:created xsi:type="dcterms:W3CDTF">2026-05-26T08:30:57Z</dcterms:created>
  <dcterms:modified xsi:type="dcterms:W3CDTF">2026-05-26T08:30:57Z</dcterms:modified>
</cp:coreProperties>
</file>