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rjBojBJBqlv3zjNyu44F4uhOD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0" y="731520"/>
            <a:ext cx="2011680" cy="2011680"/>
          </a:xfrm>
          <a:prstGeom prst="ellipse">
            <a:avLst/>
          </a:prstGeom>
          <a:solidFill>
            <a:srgbClr val="1E3A2F"/>
          </a:solidFill>
          <a:ln cap="flat" cmpd="sng" w="254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60" y="91440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457200" y="100584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DDC84"/>
                </a:solidFill>
                <a:latin typeface="Calibri"/>
                <a:ea typeface="Calibri"/>
                <a:cs typeface="Calibri"/>
                <a:sym typeface="Calibri"/>
              </a:rPr>
              <a:t>ANDROID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417320"/>
            <a:ext cx="5943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Platform Start-up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65176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How Android boots — from kernel to home screen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206240"/>
            <a:ext cx="1828800" cy="36576"/>
          </a:xfrm>
          <a:prstGeom prst="rect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57200" y="4343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Systems &amp;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1480" y="135890"/>
            <a:ext cx="954405" cy="445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D3142"/>
                </a:solidFill>
                <a:latin typeface="Calibri"/>
                <a:ea typeface="Calibri"/>
                <a:cs typeface="Calibri"/>
                <a:sym typeface="Calibri"/>
              </a:rPr>
              <a:t>Boot Sequence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Six key stages from power-on to home screen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20040" y="1600200"/>
            <a:ext cx="1234440" cy="1371600"/>
          </a:xfrm>
          <a:prstGeom prst="rect">
            <a:avLst/>
          </a:prstGeom>
          <a:solidFill>
            <a:srgbClr val="2D3142"/>
          </a:solidFill>
          <a:ln cap="flat" cmpd="sng" w="12700">
            <a:solidFill>
              <a:srgbClr val="2D31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777240" y="1344168"/>
            <a:ext cx="329184" cy="329184"/>
          </a:xfrm>
          <a:prstGeom prst="ellipse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77240" y="13441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20040" y="1920240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Bootloader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Kernel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554480" y="2221992"/>
            <a:ext cx="201168" cy="54864"/>
          </a:xfrm>
          <a:prstGeom prst="rect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1755648" y="1600200"/>
            <a:ext cx="1234440" cy="1371600"/>
          </a:xfrm>
          <a:prstGeom prst="rect">
            <a:avLst/>
          </a:prstGeom>
          <a:solidFill>
            <a:srgbClr val="3A4A6B"/>
          </a:solidFill>
          <a:ln cap="flat" cmpd="sng" w="12700">
            <a:solidFill>
              <a:srgbClr val="3A4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2212848" y="1344168"/>
            <a:ext cx="329184" cy="329184"/>
          </a:xfrm>
          <a:prstGeom prst="ellipse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212848" y="13441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755648" y="1920240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990088" y="2221992"/>
            <a:ext cx="201168" cy="54864"/>
          </a:xfrm>
          <a:prstGeom prst="rect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191256" y="1600200"/>
            <a:ext cx="1234440" cy="1371600"/>
          </a:xfrm>
          <a:prstGeom prst="rect">
            <a:avLst/>
          </a:prstGeom>
          <a:solidFill>
            <a:srgbClr val="1A6B4A"/>
          </a:solidFill>
          <a:ln cap="flat" cmpd="sng" w="12700">
            <a:solidFill>
              <a:srgbClr val="1A6B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648456" y="1344168"/>
            <a:ext cx="329184" cy="329184"/>
          </a:xfrm>
          <a:prstGeom prst="ellipse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648456" y="13441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191256" y="1920240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Zygote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425696" y="2221992"/>
            <a:ext cx="201168" cy="54864"/>
          </a:xfrm>
          <a:prstGeom prst="rect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4626864" y="1600200"/>
            <a:ext cx="1234440" cy="1371600"/>
          </a:xfrm>
          <a:prstGeom prst="rect">
            <a:avLst/>
          </a:prstGeom>
          <a:solidFill>
            <a:srgbClr val="0D5C8C"/>
          </a:solidFill>
          <a:ln cap="flat" cmpd="sng" w="12700">
            <a:solidFill>
              <a:srgbClr val="0D5C8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084064" y="1344168"/>
            <a:ext cx="329184" cy="329184"/>
          </a:xfrm>
          <a:prstGeom prst="ellipse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5084064" y="13441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626864" y="1920240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861304" y="2221992"/>
            <a:ext cx="201168" cy="54864"/>
          </a:xfrm>
          <a:prstGeom prst="rect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062472" y="1600200"/>
            <a:ext cx="1234440" cy="1371600"/>
          </a:xfrm>
          <a:prstGeom prst="rect">
            <a:avLst/>
          </a:prstGeom>
          <a:solidFill>
            <a:srgbClr val="4A3A6B"/>
          </a:solidFill>
          <a:ln cap="flat" cmpd="sng" w="12700">
            <a:solidFill>
              <a:srgbClr val="4A3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6519672" y="1344168"/>
            <a:ext cx="329184" cy="329184"/>
          </a:xfrm>
          <a:prstGeom prst="ellipse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519672" y="13441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062472" y="1920240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296912" y="2221992"/>
            <a:ext cx="201168" cy="54864"/>
          </a:xfrm>
          <a:prstGeom prst="rect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7498080" y="1600200"/>
            <a:ext cx="1234440" cy="1371600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7955280" y="1344168"/>
            <a:ext cx="329184" cy="329184"/>
          </a:xfrm>
          <a:prstGeom prst="ellipse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7955280" y="13441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7498080" y="1920240"/>
            <a:ext cx="1234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Screen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65760" y="4114800"/>
            <a:ext cx="8412480" cy="73152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F4F6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F5D75"/>
                </a:solidFill>
                <a:latin typeface="Calibri"/>
                <a:ea typeface="Calibri"/>
                <a:cs typeface="Calibri"/>
                <a:sym typeface="Calibri"/>
              </a:rPr>
              <a:t>Each stage builds on the previous. Init spawns everything; Zygote acts as the process factory for all Android apps.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1480" y="135890"/>
            <a:ext cx="954405" cy="445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0160" y="4572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182880" y="132588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DDC84"/>
                </a:solidFill>
                <a:latin typeface="Calibri"/>
                <a:ea typeface="Calibri"/>
                <a:cs typeface="Calibri"/>
                <a:sym typeface="Calibri"/>
              </a:rPr>
              <a:t>STAGE 1 &amp;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82880" y="1600200"/>
            <a:ext cx="3108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Bootloader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Init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28600" y="251460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Bootloader loads the Linux kernel, then starts the Init process — the parent of all processes.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749040" y="22860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2D3142"/>
                </a:solidFill>
                <a:latin typeface="Calibri"/>
                <a:ea typeface="Calibri"/>
                <a:cs typeface="Calibri"/>
                <a:sym typeface="Calibri"/>
              </a:rPr>
              <a:t>Daemons started by Init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749040" y="6858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Init launches these background services at startup: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749040" y="1188720"/>
            <a:ext cx="5120640" cy="749808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0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749040" y="1188720"/>
            <a:ext cx="64008" cy="749808"/>
          </a:xfrm>
          <a:prstGeom prst="rect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3886200" y="126187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3DDC84"/>
                </a:solidFill>
                <a:latin typeface="Consolas"/>
                <a:ea typeface="Consolas"/>
                <a:cs typeface="Consolas"/>
                <a:sym typeface="Consolas"/>
              </a:rPr>
              <a:t>usbd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886200" y="1517904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3142"/>
                </a:solidFill>
                <a:latin typeface="Calibri"/>
                <a:ea typeface="Calibri"/>
                <a:cs typeface="Calibri"/>
                <a:sym typeface="Calibri"/>
              </a:rPr>
              <a:t>USB Daemon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886200" y="1700784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F5D75"/>
                </a:solidFill>
                <a:latin typeface="Calibri"/>
                <a:ea typeface="Calibri"/>
                <a:cs typeface="Calibri"/>
                <a:sym typeface="Calibri"/>
              </a:rPr>
              <a:t>Manages USB connections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749040" y="2084832"/>
            <a:ext cx="5120640" cy="749808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0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749040" y="2084832"/>
            <a:ext cx="64008" cy="749808"/>
          </a:xfrm>
          <a:prstGeom prst="rect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886200" y="215798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3DDC84"/>
                </a:solidFill>
                <a:latin typeface="Consolas"/>
                <a:ea typeface="Consolas"/>
                <a:cs typeface="Consolas"/>
                <a:sym typeface="Consolas"/>
              </a:rPr>
              <a:t>adbd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886200" y="2414016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3142"/>
                </a:solidFill>
                <a:latin typeface="Calibri"/>
                <a:ea typeface="Calibri"/>
                <a:cs typeface="Calibri"/>
                <a:sym typeface="Calibri"/>
              </a:rPr>
              <a:t>ADB Daemon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886200" y="2596896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F5D75"/>
                </a:solidFill>
                <a:latin typeface="Calibri"/>
                <a:ea typeface="Calibri"/>
                <a:cs typeface="Calibri"/>
                <a:sym typeface="Calibri"/>
              </a:rPr>
              <a:t>Manages Android Debug Bridge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749040" y="2980944"/>
            <a:ext cx="5120640" cy="749808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0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749040" y="2980944"/>
            <a:ext cx="64008" cy="749808"/>
          </a:xfrm>
          <a:prstGeom prst="rect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886200" y="30540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3DDC84"/>
                </a:solidFill>
                <a:latin typeface="Consolas"/>
                <a:ea typeface="Consolas"/>
                <a:cs typeface="Consolas"/>
                <a:sym typeface="Consolas"/>
              </a:rPr>
              <a:t>debuggerd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886200" y="331012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3142"/>
                </a:solidFill>
                <a:latin typeface="Calibri"/>
                <a:ea typeface="Calibri"/>
                <a:cs typeface="Calibri"/>
                <a:sym typeface="Calibri"/>
              </a:rPr>
              <a:t>Debugger Daemon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886200" y="3493008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F5D75"/>
                </a:solidFill>
                <a:latin typeface="Calibri"/>
                <a:ea typeface="Calibri"/>
                <a:cs typeface="Calibri"/>
                <a:sym typeface="Calibri"/>
              </a:rPr>
              <a:t>Handles debug &amp; memory dump requests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749040" y="3877056"/>
            <a:ext cx="5120640" cy="749808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0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3749040" y="3877056"/>
            <a:ext cx="64008" cy="749808"/>
          </a:xfrm>
          <a:prstGeom prst="rect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3886200" y="395020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3DDC84"/>
                </a:solidFill>
                <a:latin typeface="Consolas"/>
                <a:ea typeface="Consolas"/>
                <a:cs typeface="Consolas"/>
                <a:sym typeface="Consolas"/>
              </a:rPr>
              <a:t>rild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886200" y="420624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3142"/>
                </a:solidFill>
                <a:latin typeface="Calibri"/>
                <a:ea typeface="Calibri"/>
                <a:cs typeface="Calibri"/>
                <a:sym typeface="Calibri"/>
              </a:rPr>
              <a:t>Radio Interface Layer Daemon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886200" y="4389120"/>
            <a:ext cx="4846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F5D75"/>
                </a:solidFill>
                <a:latin typeface="Calibri"/>
                <a:ea typeface="Calibri"/>
                <a:cs typeface="Calibri"/>
                <a:sym typeface="Calibri"/>
              </a:rPr>
              <a:t>Manages radio communication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1480" y="135890"/>
            <a:ext cx="954405" cy="445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D3142"/>
                </a:solidFill>
                <a:latin typeface="Calibri"/>
                <a:ea typeface="Calibri"/>
                <a:cs typeface="Calibri"/>
                <a:sym typeface="Calibri"/>
              </a:rPr>
              <a:t>Stage 3: The Zygote Process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app process factory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200400" y="1188720"/>
            <a:ext cx="2743200" cy="1371600"/>
          </a:xfrm>
          <a:prstGeom prst="ellipse">
            <a:avLst/>
          </a:prstGeom>
          <a:solidFill>
            <a:srgbClr val="1A1A2E"/>
          </a:solidFill>
          <a:ln cap="flat" cmpd="sng" w="3175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3200400" y="14173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DDC84"/>
                </a:solidFill>
                <a:latin typeface="Calibri"/>
                <a:ea typeface="Calibri"/>
                <a:cs typeface="Calibri"/>
                <a:sym typeface="Calibri"/>
              </a:rPr>
              <a:t>ZYGOTE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200400" y="18288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4"/>
          <p:cNvCxnSpPr/>
          <p:nvPr/>
        </p:nvCxnSpPr>
        <p:spPr>
          <a:xfrm>
            <a:off x="1234440" y="260604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3DDC8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8" name="Google Shape;108;p4"/>
          <p:cNvSpPr/>
          <p:nvPr/>
        </p:nvSpPr>
        <p:spPr>
          <a:xfrm>
            <a:off x="457200" y="3520440"/>
            <a:ext cx="1554480" cy="640080"/>
          </a:xfrm>
          <a:prstGeom prst="rect">
            <a:avLst/>
          </a:prstGeom>
          <a:solidFill>
            <a:srgbClr val="2D5A8E"/>
          </a:solidFill>
          <a:ln cap="flat" cmpd="sng" w="12700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57200" y="352044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Process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4"/>
          <p:cNvCxnSpPr/>
          <p:nvPr/>
        </p:nvCxnSpPr>
        <p:spPr>
          <a:xfrm>
            <a:off x="3977640" y="260604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3DDC8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1" name="Google Shape;111;p4"/>
          <p:cNvSpPr/>
          <p:nvPr/>
        </p:nvSpPr>
        <p:spPr>
          <a:xfrm>
            <a:off x="3200400" y="3520440"/>
            <a:ext cx="1554480" cy="640080"/>
          </a:xfrm>
          <a:prstGeom prst="rect">
            <a:avLst/>
          </a:prstGeom>
          <a:solidFill>
            <a:srgbClr val="2D5A8E"/>
          </a:solidFill>
          <a:ln cap="flat" cmpd="sng" w="12700">
            <a:solidFill>
              <a:srgbClr val="2D5A8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3200400" y="352044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Process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4"/>
          <p:cNvCxnSpPr/>
          <p:nvPr/>
        </p:nvCxnSpPr>
        <p:spPr>
          <a:xfrm>
            <a:off x="6812280" y="2606040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3DDC8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4" name="Google Shape;114;p4"/>
          <p:cNvSpPr/>
          <p:nvPr/>
        </p:nvSpPr>
        <p:spPr>
          <a:xfrm>
            <a:off x="6035040" y="3520440"/>
            <a:ext cx="1554480" cy="640080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6035040" y="352044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Server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65760" y="4343400"/>
            <a:ext cx="2651760" cy="59436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0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457200" y="438912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3142"/>
                </a:solidFill>
                <a:latin typeface="Calibri"/>
                <a:ea typeface="Calibri"/>
                <a:cs typeface="Calibri"/>
                <a:sym typeface="Calibri"/>
              </a:rPr>
              <a:t>Initializes Dalvik VM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57200" y="460857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Calibri"/>
                <a:ea typeface="Calibri"/>
                <a:cs typeface="Calibri"/>
                <a:sym typeface="Calibri"/>
              </a:rPr>
              <a:t>Creates one VM instance and preloads shared libraries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291840" y="4343400"/>
            <a:ext cx="2651760" cy="59436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0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3383280" y="438912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3142"/>
                </a:solidFill>
                <a:latin typeface="Calibri"/>
                <a:ea typeface="Calibri"/>
                <a:cs typeface="Calibri"/>
                <a:sym typeface="Calibri"/>
              </a:rPr>
              <a:t>Listens on a Socket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383280" y="460857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Calibri"/>
                <a:ea typeface="Calibri"/>
                <a:cs typeface="Calibri"/>
                <a:sym typeface="Calibri"/>
              </a:rPr>
              <a:t>Waits for fork requests to spawn new app processes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217920" y="4343400"/>
            <a:ext cx="2651760" cy="59436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0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6309360" y="438912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3142"/>
                </a:solidFill>
                <a:latin typeface="Calibri"/>
                <a:ea typeface="Calibri"/>
                <a:cs typeface="Calibri"/>
                <a:sym typeface="Calibri"/>
              </a:rPr>
              <a:t>Fork = Fast Launch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309360" y="460857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F5D75"/>
                </a:solidFill>
                <a:latin typeface="Calibri"/>
                <a:ea typeface="Calibri"/>
                <a:cs typeface="Calibri"/>
                <a:sym typeface="Calibri"/>
              </a:rPr>
              <a:t>Each app gets a copy-on-write VM — no cold init needed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1480" y="135890"/>
            <a:ext cx="954405" cy="445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D3142"/>
                </a:solidFill>
                <a:latin typeface="Calibri"/>
                <a:ea typeface="Calibri"/>
                <a:cs typeface="Calibri"/>
                <a:sym typeface="Calibri"/>
              </a:rPr>
              <a:t>Stage 4: Runtime &amp; Service Manager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glue that holds all services together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65760" y="1097280"/>
            <a:ext cx="4023360" cy="356616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0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solidFill>
            <a:srgbClr val="2D3142"/>
          </a:solidFill>
          <a:ln cap="flat" cmpd="sng" w="12700">
            <a:solidFill>
              <a:srgbClr val="2D3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502920" y="113385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Runtime Process Does: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48640" y="1691640"/>
            <a:ext cx="411480" cy="411480"/>
          </a:xfrm>
          <a:prstGeom prst="ellipse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548640" y="16916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097280" y="16916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3142"/>
                </a:solidFill>
                <a:latin typeface="Calibri"/>
                <a:ea typeface="Calibri"/>
                <a:cs typeface="Calibri"/>
                <a:sym typeface="Calibri"/>
              </a:rPr>
              <a:t>Initialize Service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097280" y="2039112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F5D75"/>
                </a:solidFill>
                <a:latin typeface="Calibri"/>
                <a:ea typeface="Calibri"/>
                <a:cs typeface="Calibri"/>
                <a:sym typeface="Calibri"/>
              </a:rPr>
              <a:t>Acts as the context manager for Binder IPC. Handles service registration &amp; lookup.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48640" y="3154680"/>
            <a:ext cx="411480" cy="411480"/>
          </a:xfrm>
          <a:prstGeom prst="ellipse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548640" y="31546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097280" y="31546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3142"/>
                </a:solidFill>
                <a:latin typeface="Calibri"/>
                <a:ea typeface="Calibri"/>
                <a:cs typeface="Calibri"/>
                <a:sym typeface="Calibri"/>
              </a:rPr>
              <a:t>Request System Server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1097280" y="3502152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F5D75"/>
                </a:solidFill>
                <a:latin typeface="Calibri"/>
                <a:ea typeface="Calibri"/>
                <a:cs typeface="Calibri"/>
                <a:sym typeface="Calibri"/>
              </a:rPr>
              <a:t>Sends request to Zygote to fork and start the System Server process.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663440" y="1097280"/>
            <a:ext cx="4114800" cy="35661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4800600" y="11887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DC84"/>
                </a:solidFill>
                <a:latin typeface="Calibri"/>
                <a:ea typeface="Calibri"/>
                <a:cs typeface="Calibri"/>
                <a:sym typeface="Calibri"/>
              </a:rPr>
              <a:t>Binder IPC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486400" y="1691640"/>
            <a:ext cx="2286000" cy="640080"/>
          </a:xfrm>
          <a:prstGeom prst="rect">
            <a:avLst/>
          </a:prstGeom>
          <a:solidFill>
            <a:srgbClr val="1E4A30"/>
          </a:solidFill>
          <a:ln cap="flat" cmpd="sng" w="1905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486400" y="16916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DDC84"/>
                </a:solidFill>
                <a:latin typeface="Calibri"/>
                <a:ea typeface="Calibri"/>
                <a:cs typeface="Calibri"/>
                <a:sym typeface="Calibri"/>
              </a:rPr>
              <a:t>Service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5"/>
          <p:cNvCxnSpPr/>
          <p:nvPr/>
        </p:nvCxnSpPr>
        <p:spPr>
          <a:xfrm>
            <a:off x="6629400" y="233172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5"/>
          <p:cNvSpPr/>
          <p:nvPr/>
        </p:nvSpPr>
        <p:spPr>
          <a:xfrm>
            <a:off x="5120640" y="2651760"/>
            <a:ext cx="3108960" cy="548640"/>
          </a:xfrm>
          <a:prstGeom prst="rect">
            <a:avLst/>
          </a:prstGeom>
          <a:solidFill>
            <a:srgbClr val="1A2A4A"/>
          </a:solidFill>
          <a:ln cap="flat" cmpd="sng" w="19050">
            <a:solidFill>
              <a:srgbClr val="3D6C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5120640" y="265176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ABE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ABE0"/>
                </a:solidFill>
                <a:latin typeface="Calibri"/>
                <a:ea typeface="Calibri"/>
                <a:cs typeface="Calibri"/>
                <a:sym typeface="Calibri"/>
              </a:rPr>
              <a:t>Binder Driver (kernel)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5"/>
          <p:cNvCxnSpPr/>
          <p:nvPr/>
        </p:nvCxnSpPr>
        <p:spPr>
          <a:xfrm>
            <a:off x="6629400" y="320040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8892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5"/>
          <p:cNvSpPr/>
          <p:nvPr/>
        </p:nvSpPr>
        <p:spPr>
          <a:xfrm>
            <a:off x="4846320" y="3520440"/>
            <a:ext cx="914400" cy="502920"/>
          </a:xfrm>
          <a:prstGeom prst="rect">
            <a:avLst/>
          </a:prstGeom>
          <a:solidFill>
            <a:srgbClr val="2D3A5A"/>
          </a:solidFill>
          <a:ln cap="flat" cmpd="sng" w="12700">
            <a:solidFill>
              <a:srgbClr val="4A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4846320" y="352044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943600" y="3520440"/>
            <a:ext cx="914400" cy="502920"/>
          </a:xfrm>
          <a:prstGeom prst="rect">
            <a:avLst/>
          </a:prstGeom>
          <a:solidFill>
            <a:srgbClr val="2D3A5A"/>
          </a:solidFill>
          <a:ln cap="flat" cmpd="sng" w="12700">
            <a:solidFill>
              <a:srgbClr val="4A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5943600" y="352044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7040880" y="3520440"/>
            <a:ext cx="914400" cy="502920"/>
          </a:xfrm>
          <a:prstGeom prst="rect">
            <a:avLst/>
          </a:prstGeom>
          <a:solidFill>
            <a:srgbClr val="2D3A5A"/>
          </a:solidFill>
          <a:ln cap="flat" cmpd="sng" w="12700">
            <a:solidFill>
              <a:srgbClr val="4A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7040880" y="352044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663440" y="42519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All services register here for discovery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1480" y="135890"/>
            <a:ext cx="954405" cy="445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D3142"/>
                </a:solidFill>
                <a:latin typeface="Calibri"/>
                <a:ea typeface="Calibri"/>
                <a:cs typeface="Calibri"/>
                <a:sym typeface="Calibri"/>
              </a:rPr>
              <a:t>Stage 5: System Server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heart of the Android platform — all core services live 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65760" y="1051560"/>
            <a:ext cx="8412480" cy="352044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D0D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solidFill>
            <a:srgbClr val="2D3142"/>
          </a:solidFill>
          <a:ln cap="flat" cmpd="sng" w="12700">
            <a:solidFill>
              <a:srgbClr val="2D3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02920" y="1078992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Server Process (first managed process — Zygote fork)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02920" y="1600200"/>
            <a:ext cx="1965960" cy="868680"/>
          </a:xfrm>
          <a:prstGeom prst="rect">
            <a:avLst/>
          </a:prstGeom>
          <a:solidFill>
            <a:srgbClr val="1A5C8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594360" y="165506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DISPLAY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94360" y="187452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Surface Flinger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2606040" y="1600200"/>
            <a:ext cx="1965960" cy="868680"/>
          </a:xfrm>
          <a:prstGeom prst="rect">
            <a:avLst/>
          </a:prstGeom>
          <a:solidFill>
            <a:srgbClr val="1A5C8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2697480" y="165506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AUDIO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2697480" y="187452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Audio Flinger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709160" y="1600200"/>
            <a:ext cx="1965960" cy="868680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4800600" y="165506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APPS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800600" y="187452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 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812280" y="1600200"/>
            <a:ext cx="1965960" cy="868680"/>
          </a:xfrm>
          <a:prstGeom prst="rect">
            <a:avLst/>
          </a:prstGeom>
          <a:solidFill>
            <a:srgbClr val="4A3A8A"/>
          </a:solidFill>
          <a:ln cap="flat" cmpd="sng" w="12700">
            <a:solidFill>
              <a:srgbClr val="4A3A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6903720" y="165506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UI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903720" y="187452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Window 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02920" y="2651760"/>
            <a:ext cx="1965960" cy="868680"/>
          </a:xfrm>
          <a:prstGeom prst="rect">
            <a:avLst/>
          </a:prstGeom>
          <a:solidFill>
            <a:srgbClr val="6B3A1A"/>
          </a:solidFill>
          <a:ln cap="flat" cmpd="sng" w="12700">
            <a:solidFill>
              <a:srgbClr val="6B3A1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594360" y="270662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PACKAGES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94360" y="292608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Package 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2606040" y="2651760"/>
            <a:ext cx="1965960" cy="868680"/>
          </a:xfrm>
          <a:prstGeom prst="rect">
            <a:avLst/>
          </a:prstGeom>
          <a:solidFill>
            <a:srgbClr val="5A1A6B"/>
          </a:solidFill>
          <a:ln cap="flat" cmpd="sng" w="12700">
            <a:solidFill>
              <a:srgbClr val="5A1A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2697480" y="270662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LOCATION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2697480" y="292608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Location 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709160" y="2651760"/>
            <a:ext cx="1965960" cy="868680"/>
          </a:xfrm>
          <a:prstGeom prst="rect">
            <a:avLst/>
          </a:prstGeom>
          <a:solidFill>
            <a:srgbClr val="1A4A5C"/>
          </a:solidFill>
          <a:ln cap="flat" cmpd="sng" w="12700">
            <a:solidFill>
              <a:srgbClr val="1A4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4800600" y="270662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ALERTS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800600" y="292608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Notification 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812280" y="2651760"/>
            <a:ext cx="1965960" cy="868680"/>
          </a:xfrm>
          <a:prstGeom prst="rect">
            <a:avLst/>
          </a:prstGeom>
          <a:solidFill>
            <a:srgbClr val="3A5C1A"/>
          </a:solidFill>
          <a:ln cap="flat" cmpd="sng" w="12700">
            <a:solidFill>
              <a:srgbClr val="3A5C1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6903720" y="270662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POWER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6903720" y="292608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8F5EE"/>
          </a:solidFill>
          <a:ln cap="flat" cmpd="sng" w="12700">
            <a:solidFill>
              <a:srgbClr val="B8DF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548640" y="4681728"/>
            <a:ext cx="8046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3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6B3A"/>
                </a:solidFill>
                <a:latin typeface="Calibri"/>
                <a:ea typeface="Calibri"/>
                <a:cs typeface="Calibri"/>
                <a:sym typeface="Calibri"/>
              </a:rPr>
              <a:t>✓  All services register with Service Manager on startup so apps can discover and use them via Binder IPC.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1480" y="135890"/>
            <a:ext cx="954405" cy="445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D3142"/>
                </a:solidFill>
                <a:latin typeface="Calibri"/>
                <a:ea typeface="Calibri"/>
                <a:cs typeface="Calibri"/>
                <a:sym typeface="Calibri"/>
              </a:rPr>
              <a:t>Stage 6: Home Screen &amp; App Launch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system is ready — every app gets its own forked process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42900" y="1325880"/>
            <a:ext cx="1737360" cy="914400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342900" y="13258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 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(in System Server)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2080260" y="1746504"/>
            <a:ext cx="502920" cy="54864"/>
          </a:xfrm>
          <a:prstGeom prst="rect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2583180" y="1325880"/>
            <a:ext cx="1737360" cy="914400"/>
          </a:xfrm>
          <a:prstGeom prst="rect">
            <a:avLst/>
          </a:prstGeom>
          <a:solidFill>
            <a:srgbClr val="2D3142"/>
          </a:solidFill>
          <a:ln cap="flat" cmpd="sng" w="12700">
            <a:solidFill>
              <a:srgbClr val="2D31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2583180" y="13258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Request 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Zygote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320540" y="1746504"/>
            <a:ext cx="502920" cy="54864"/>
          </a:xfrm>
          <a:prstGeom prst="rect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4823460" y="1325880"/>
            <a:ext cx="1737360" cy="914400"/>
          </a:xfrm>
          <a:prstGeom prst="rect">
            <a:avLst/>
          </a:prstGeom>
          <a:solidFill>
            <a:srgbClr val="2D3142"/>
          </a:solidFill>
          <a:ln cap="flat" cmpd="sng" w="12700">
            <a:solidFill>
              <a:srgbClr val="2D31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4823460" y="13258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Zygote Forks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Process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6560820" y="1746504"/>
            <a:ext cx="502920" cy="54864"/>
          </a:xfrm>
          <a:prstGeom prst="rect">
            <a:avLst/>
          </a:prstGeom>
          <a:solidFill>
            <a:srgbClr val="3DDC84"/>
          </a:solidFill>
          <a:ln cap="flat" cmpd="sng" w="127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7063740" y="1325880"/>
            <a:ext cx="1737360" cy="914400"/>
          </a:xfrm>
          <a:prstGeom prst="rect">
            <a:avLst/>
          </a:prstGeom>
          <a:solidFill>
            <a:srgbClr val="1A5C8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7063740" y="1325880"/>
            <a:ext cx="1737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365760" y="25146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3142"/>
                </a:solidFill>
                <a:latin typeface="Calibri"/>
                <a:ea typeface="Calibri"/>
                <a:cs typeface="Calibri"/>
                <a:sym typeface="Calibri"/>
              </a:rPr>
              <a:t>Each subsequent app launch follows the same pattern: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1097280" y="2971800"/>
            <a:ext cx="1828800" cy="914400"/>
          </a:xfrm>
          <a:prstGeom prst="ellipse">
            <a:avLst/>
          </a:prstGeom>
          <a:solidFill>
            <a:srgbClr val="1A1A2E"/>
          </a:solidFill>
          <a:ln cap="flat" cmpd="sng" w="25400">
            <a:solidFill>
              <a:srgbClr val="3DDC8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1097280" y="32004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DDC84"/>
                </a:solidFill>
                <a:latin typeface="Calibri"/>
                <a:ea typeface="Calibri"/>
                <a:cs typeface="Calibri"/>
                <a:sym typeface="Calibri"/>
              </a:rPr>
              <a:t>ZYGOTE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3657600" y="3017520"/>
            <a:ext cx="1234440" cy="1005840"/>
          </a:xfrm>
          <a:prstGeom prst="rect">
            <a:avLst/>
          </a:prstGeom>
          <a:solidFill>
            <a:srgbClr val="1A5C8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3657600" y="3017520"/>
            <a:ext cx="1234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5074920" y="3017520"/>
            <a:ext cx="1234440" cy="1005840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5074920" y="3017520"/>
            <a:ext cx="1234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Camera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492240" y="3017520"/>
            <a:ext cx="1234440" cy="1005840"/>
          </a:xfrm>
          <a:prstGeom prst="rect">
            <a:avLst/>
          </a:prstGeom>
          <a:solidFill>
            <a:srgbClr val="4A3A8A"/>
          </a:solidFill>
          <a:ln cap="flat" cmpd="sng" w="12700">
            <a:solidFill>
              <a:srgbClr val="4A3A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6492240" y="3017520"/>
            <a:ext cx="1234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7909560" y="3017520"/>
            <a:ext cx="1234440" cy="1005840"/>
          </a:xfrm>
          <a:prstGeom prst="rect">
            <a:avLst/>
          </a:prstGeom>
          <a:solidFill>
            <a:srgbClr val="6B3A1A"/>
          </a:solidFill>
          <a:ln cap="flat" cmpd="sng" w="12700">
            <a:solidFill>
              <a:srgbClr val="6B3A1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7909560" y="3017520"/>
            <a:ext cx="1234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solidFill>
            <a:srgbClr val="E8F5EE"/>
          </a:solidFill>
          <a:ln cap="flat" cmpd="sng" w="12700">
            <a:solidFill>
              <a:srgbClr val="B8DF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548640" y="429768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3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6B3A"/>
                </a:solidFill>
                <a:latin typeface="Calibri"/>
                <a:ea typeface="Calibri"/>
                <a:cs typeface="Calibri"/>
                <a:sym typeface="Calibri"/>
              </a:rPr>
              <a:t>Each app runs in isolation with its own Dalvik VM instance (forked from Zygote). Isolation improves security and stability.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1480" y="135890"/>
            <a:ext cx="954405" cy="445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14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D3142"/>
                </a:solidFill>
                <a:latin typeface="Calibri"/>
                <a:ea typeface="Calibri"/>
                <a:cs typeface="Calibri"/>
                <a:sym typeface="Calibri"/>
              </a:rPr>
              <a:t>App ↔ Native Layer Interaction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Three ways your app can talk to native libraries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65760" y="1325880"/>
            <a:ext cx="457200" cy="457200"/>
          </a:xfrm>
          <a:prstGeom prst="ellipse">
            <a:avLst/>
          </a:prstGeom>
          <a:solidFill>
            <a:srgbClr val="1A5C8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365760" y="1325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960120" y="1188720"/>
            <a:ext cx="7818120" cy="100584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0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960120" y="1188720"/>
            <a:ext cx="64008" cy="1005840"/>
          </a:xfrm>
          <a:prstGeom prst="rect">
            <a:avLst/>
          </a:prstGeom>
          <a:solidFill>
            <a:srgbClr val="1A5C8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1097280" y="124358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5C8A"/>
                </a:solidFill>
                <a:latin typeface="Calibri"/>
                <a:ea typeface="Calibri"/>
                <a:cs typeface="Calibri"/>
                <a:sym typeface="Calibri"/>
              </a:rPr>
              <a:t>Direct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1097280" y="1536192"/>
            <a:ext cx="5029200" cy="256032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1143000" y="153619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DDC84"/>
                </a:solidFill>
                <a:latin typeface="Consolas"/>
                <a:ea typeface="Consolas"/>
                <a:cs typeface="Consolas"/>
                <a:sym typeface="Consolas"/>
              </a:rPr>
              <a:t>App → Runtime Service → lib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1097280" y="182880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F5D75"/>
                </a:solidFill>
                <a:latin typeface="Calibri"/>
                <a:ea typeface="Calibri"/>
                <a:cs typeface="Calibri"/>
                <a:sym typeface="Calibri"/>
              </a:rPr>
              <a:t>The simplest path. Runtime service communicates directly with the native library.  Example: Location Manager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365760" y="2560320"/>
            <a:ext cx="457200" cy="457200"/>
          </a:xfrm>
          <a:prstGeom prst="ellipse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365760" y="2560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960120" y="2423160"/>
            <a:ext cx="7818120" cy="100584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0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960120" y="2423160"/>
            <a:ext cx="64008" cy="1005840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1097280" y="247802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6B3A"/>
                </a:solidFill>
                <a:latin typeface="Calibri"/>
                <a:ea typeface="Calibri"/>
                <a:cs typeface="Calibri"/>
                <a:sym typeface="Calibri"/>
              </a:rPr>
              <a:t>Via Native Service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1097280" y="2770632"/>
            <a:ext cx="5029200" cy="256032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1143000" y="277063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DDC84"/>
                </a:solidFill>
                <a:latin typeface="Consolas"/>
                <a:ea typeface="Consolas"/>
                <a:cs typeface="Consolas"/>
                <a:sym typeface="Consolas"/>
              </a:rPr>
              <a:t>App → Runtime Service → Native Service → lib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1097280" y="306324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F5D75"/>
                </a:solidFill>
                <a:latin typeface="Calibri"/>
                <a:ea typeface="Calibri"/>
                <a:cs typeface="Calibri"/>
                <a:sym typeface="Calibri"/>
              </a:rPr>
              <a:t>A native service acts as a bridge. Used when the native lib needs its own lifecycle management.  Example: Camera, SurfaceFlinger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365760" y="3794760"/>
            <a:ext cx="457200" cy="457200"/>
          </a:xfrm>
          <a:prstGeom prst="ellipse">
            <a:avLst/>
          </a:prstGeom>
          <a:solidFill>
            <a:srgbClr val="4A3A8A"/>
          </a:solidFill>
          <a:ln cap="flat" cmpd="sng" w="12700">
            <a:solidFill>
              <a:srgbClr val="4A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365760" y="3794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960120" y="3657600"/>
            <a:ext cx="7818120" cy="1005840"/>
          </a:xfrm>
          <a:prstGeom prst="rect">
            <a:avLst/>
          </a:prstGeom>
          <a:solidFill>
            <a:srgbClr val="F4F6F8"/>
          </a:solidFill>
          <a:ln cap="flat" cmpd="sng" w="12700">
            <a:solidFill>
              <a:srgbClr val="E0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960120" y="3657600"/>
            <a:ext cx="64008" cy="1005840"/>
          </a:xfrm>
          <a:prstGeom prst="rect">
            <a:avLst/>
          </a:prstGeom>
          <a:solidFill>
            <a:srgbClr val="4A3A8A"/>
          </a:solidFill>
          <a:ln cap="flat" cmpd="sng" w="12700">
            <a:solidFill>
              <a:srgbClr val="4A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1097280" y="371246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3A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3A8A"/>
                </a:solidFill>
                <a:latin typeface="Calibri"/>
                <a:ea typeface="Calibri"/>
                <a:cs typeface="Calibri"/>
                <a:sym typeface="Calibri"/>
              </a:rPr>
              <a:t>Via Native Daemon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1097280" y="4005072"/>
            <a:ext cx="5029200" cy="256032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1143000" y="400507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3DDC84"/>
                </a:solidFill>
                <a:latin typeface="Consolas"/>
                <a:ea typeface="Consolas"/>
                <a:cs typeface="Consolas"/>
                <a:sym typeface="Consolas"/>
              </a:rPr>
              <a:t>App → Runtime Service → Native Daemon → lib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1097280" y="429768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5D7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F5D75"/>
                </a:solidFill>
                <a:latin typeface="Calibri"/>
                <a:ea typeface="Calibri"/>
                <a:cs typeface="Calibri"/>
                <a:sym typeface="Calibri"/>
              </a:rPr>
              <a:t>A background daemon mediates. Common for services needing persistent background operation.  Example: GPS / Location Daemon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Choice of method depends on the type of app and the nature of the native library being accessed.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1480" y="135890"/>
            <a:ext cx="954405" cy="445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Full Picture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Processes alive once Android is fully booted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1261872" y="1097280"/>
            <a:ext cx="6620256" cy="475488"/>
          </a:xfrm>
          <a:prstGeom prst="rect">
            <a:avLst/>
          </a:prstGeom>
          <a:solidFill>
            <a:srgbClr val="1A5C8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1399032" y="113385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DDC84"/>
                </a:solidFill>
                <a:latin typeface="Calibri"/>
                <a:ea typeface="Calibri"/>
                <a:cs typeface="Calibri"/>
                <a:sym typeface="Calibri"/>
              </a:rPr>
              <a:t>HOME SCREEN / APPS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3010662" y="1225550"/>
            <a:ext cx="60716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Launched by Activity Manager via Zygote forks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1097280" y="1609344"/>
            <a:ext cx="6949440" cy="475488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1234440" y="16459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DDC84"/>
                </a:solidFill>
                <a:latin typeface="Calibri"/>
                <a:ea typeface="Calibri"/>
                <a:cs typeface="Calibri"/>
                <a:sym typeface="Calibri"/>
              </a:rPr>
              <a:t>SYSTEM SERVER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2386965" y="1701419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Activity Manager, Window Manager, Surface Flinger, Audio Flinger, Package Manager, …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932688" y="2121408"/>
            <a:ext cx="7278624" cy="420624"/>
          </a:xfrm>
          <a:prstGeom prst="rect">
            <a:avLst/>
          </a:prstGeom>
          <a:solidFill>
            <a:srgbClr val="4A3A8A"/>
          </a:solidFill>
          <a:ln cap="flat" cmpd="sng" w="12700">
            <a:solidFill>
              <a:srgbClr val="4A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1069848" y="215798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DDC84"/>
                </a:solidFill>
                <a:latin typeface="Calibri"/>
                <a:ea typeface="Calibri"/>
                <a:cs typeface="Calibri"/>
                <a:sym typeface="Calibri"/>
              </a:rPr>
              <a:t>ZYGOTE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1697863" y="2203323"/>
            <a:ext cx="67299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Original VM process — parent of all app processes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768096" y="2578608"/>
            <a:ext cx="7607808" cy="420624"/>
          </a:xfrm>
          <a:prstGeom prst="rect">
            <a:avLst/>
          </a:prstGeom>
          <a:solidFill>
            <a:srgbClr val="2D3142"/>
          </a:solidFill>
          <a:ln cap="flat" cmpd="sng" w="12700">
            <a:solidFill>
              <a:srgbClr val="2D31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905256" y="261518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DDC84"/>
                </a:solidFill>
                <a:latin typeface="Calibri"/>
                <a:ea typeface="Calibri"/>
                <a:cs typeface="Calibri"/>
                <a:sym typeface="Calibri"/>
              </a:rPr>
              <a:t>RUNTIME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1645666" y="2651633"/>
            <a:ext cx="70591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Service Manager (Binder context manager)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603504" y="3035808"/>
            <a:ext cx="7936992" cy="420624"/>
          </a:xfrm>
          <a:prstGeom prst="rect">
            <a:avLst/>
          </a:prstGeom>
          <a:solidFill>
            <a:srgbClr val="36454F"/>
          </a:solidFill>
          <a:ln cap="flat" cmpd="sng" w="12700">
            <a:solidFill>
              <a:srgbClr val="364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740664" y="307238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DDC84"/>
                </a:solidFill>
                <a:latin typeface="Calibri"/>
                <a:ea typeface="Calibri"/>
                <a:cs typeface="Calibri"/>
                <a:sym typeface="Calibri"/>
              </a:rPr>
              <a:t>DAEMONS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1621409" y="3145663"/>
            <a:ext cx="73883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usbd · adbd · debuggerd · rild  (all started by Init)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438912" y="3493008"/>
            <a:ext cx="8266176" cy="365760"/>
          </a:xfrm>
          <a:prstGeom prst="rect">
            <a:avLst/>
          </a:prstGeom>
          <a:solidFill>
            <a:srgbClr val="212121"/>
          </a:solidFill>
          <a:ln cap="flat" cmpd="sng" w="12700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576072" y="352958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DDC84"/>
                </a:solidFill>
                <a:latin typeface="Calibri"/>
                <a:ea typeface="Calibri"/>
                <a:cs typeface="Calibri"/>
                <a:sym typeface="Calibri"/>
              </a:rPr>
              <a:t>INIT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1364742" y="3543173"/>
            <a:ext cx="7717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PID 1 — parent of everything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274320" y="3895344"/>
            <a:ext cx="8595360" cy="365760"/>
          </a:xfrm>
          <a:prstGeom prst="rect">
            <a:avLst/>
          </a:prstGeom>
          <a:solidFill>
            <a:srgbClr val="151515"/>
          </a:solidFill>
          <a:ln cap="flat" cmpd="sng" w="12700">
            <a:solidFill>
              <a:srgbClr val="1515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411480" y="39319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C8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DDC84"/>
                </a:solidFill>
                <a:latin typeface="Calibri"/>
                <a:ea typeface="Calibri"/>
                <a:cs typeface="Calibri"/>
                <a:sym typeface="Calibri"/>
              </a:rPr>
              <a:t>LINUX KERNEL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1621155" y="4000754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Loaded by Bootloader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← Pyramid grows from bottom (Kernel) to top (Your App)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1480" y="135890"/>
            <a:ext cx="954405" cy="445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2026-05-26T06:56:00Z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7598ADEAD79246CBB12DF7F28F7DEE33_13</vt:lpwstr>
  </property>
</Properties>
</file>