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76" r:id="rId8"/>
    <p:sldId id="259" r:id="rId9"/>
    <p:sldId id="271" r:id="rId10"/>
    <p:sldId id="260" r:id="rId11"/>
    <p:sldId id="261" r:id="rId12"/>
    <p:sldId id="273" r:id="rId13"/>
    <p:sldId id="275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3DDC84">
              <a:alpha val="15000"/>
            </a:srgbClr>
          </a:solidFill>
          <a:ln w="12700">
            <a:solidFill>
              <a:srgbClr val="3DDC8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960120"/>
            <a:ext cx="2194560" cy="2194560"/>
          </a:xfrm>
          <a:prstGeom prst="ellipse">
            <a:avLst/>
          </a:prstGeom>
          <a:solidFill>
            <a:srgbClr val="3DDC84">
              <a:alpha val="25000"/>
            </a:srgbClr>
          </a:solidFill>
          <a:ln w="1270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5943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Platform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Aitrich Technologies  |  Android Fundamentals</a:t>
            </a:r>
            <a:endParaRPr lang="en-US" sz="1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5140" y="458343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Topics Covered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38912" cy="9601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4389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777240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Android?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438912" cy="9601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4389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A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65960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Brief History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438912" cy="9601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54680"/>
            <a:ext cx="4389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A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154680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Architecture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777240"/>
            <a:ext cx="411480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777240"/>
            <a:ext cx="438912" cy="9601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777240"/>
            <a:ext cx="4389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A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777240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965960"/>
            <a:ext cx="411480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965960"/>
            <a:ext cx="438912" cy="9601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965960"/>
            <a:ext cx="4389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A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965960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Tools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154680"/>
            <a:ext cx="411480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54680"/>
            <a:ext cx="438912" cy="9601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154680"/>
            <a:ext cx="4389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A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154680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Market</a:t>
            </a:r>
            <a:endParaRPr lang="en-US" sz="14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471670"/>
            <a:ext cx="13716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3DDC84">
              <a:alpha val="12000"/>
            </a:srgbClr>
          </a:solidFill>
          <a:ln w="12700">
            <a:solidFill>
              <a:srgbClr val="3DDC84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Android?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943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the platform that powers billions of devices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43280" y="10414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SmartPhone OS</a:t>
            </a:r>
            <a:endParaRPr lang="en-US" alt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p>
            <a:r>
              <a:rPr lang="en-IN" altLang="en-US" sz="2400" b="1">
                <a:solidFill>
                  <a:schemeClr val="bg1"/>
                </a:solidFill>
              </a:rPr>
              <a:t>Inventation</a:t>
            </a:r>
            <a:r>
              <a:rPr lang="en-IN" altLang="en-US"/>
              <a:t> </a:t>
            </a:r>
            <a:endParaRPr lang="en-IN" alt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43280" y="969010"/>
            <a:ext cx="7325360" cy="3505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Android is a mobile operating system.</a:t>
            </a:r>
            <a:endParaRPr lang="en-US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Android was created by Android Inc. in 2003.</a:t>
            </a:r>
            <a:endParaRPr lang="en-US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Google acquired Android in 2005.</a:t>
            </a:r>
            <a:endParaRPr lang="en-US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first Android phone was HTC Dream (G1) in 2008.</a:t>
            </a:r>
            <a:endParaRPr lang="en-US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Android apps are mainly developed using Java and Kotlin.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—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84632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 for smartphones and tablets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77393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2996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to use, modify, and distribute (Apache 2.0)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70662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by Google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96265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Acquired Android Inc. in 2005; OHA formed in 2007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3931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63931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Leader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89534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 72% global mobile OS market share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713232"/>
            <a:ext cx="1691640" cy="1691640"/>
          </a:xfrm>
          <a:prstGeom prst="rect">
            <a:avLst/>
          </a:prstGeom>
          <a:solidFill>
            <a:srgbClr val="3DDC84">
              <a:alpha val="10000"/>
            </a:srgbClr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987552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0" y="1609344"/>
            <a:ext cx="1691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market share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60920" y="713232"/>
            <a:ext cx="1691640" cy="1691640"/>
          </a:xfrm>
          <a:prstGeom prst="rect">
            <a:avLst/>
          </a:prstGeom>
          <a:solidFill>
            <a:srgbClr val="1E88E5">
              <a:alpha val="10000"/>
            </a:srgbClr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987552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3B+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60920" y="1609344"/>
            <a:ext cx="1691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Android devices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0" y="2606040"/>
            <a:ext cx="1691640" cy="1691640"/>
          </a:xfrm>
          <a:prstGeom prst="rect">
            <a:avLst/>
          </a:prstGeom>
          <a:solidFill>
            <a:srgbClr val="FF7043">
              <a:alpha val="10000"/>
            </a:srgbClr>
          </a:solidFill>
          <a:ln w="25400">
            <a:solidFill>
              <a:srgbClr val="FF70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88036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0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0" y="3502152"/>
            <a:ext cx="1691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device launched (HTC G1)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60920" y="2606040"/>
            <a:ext cx="1691640" cy="1691640"/>
          </a:xfrm>
          <a:prstGeom prst="rect">
            <a:avLst/>
          </a:prstGeom>
          <a:solidFill>
            <a:srgbClr val="AB47BC">
              <a:alpha val="10000"/>
            </a:srgbClr>
          </a:solidFill>
          <a:ln w="25400">
            <a:solidFill>
              <a:srgbClr val="AB47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288036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B47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24K+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60920" y="3502152"/>
            <a:ext cx="1691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device models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03520" y="437083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</a:rPr>
              <a:t>Android powers phones, tablets, TVs, watches, cars &amp; more.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— At a Glance</a:t>
            </a:r>
            <a:endParaRPr lang="en-US" sz="2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Box 4"/>
          <p:cNvSpPr txBox="1"/>
          <p:nvPr/>
        </p:nvSpPr>
        <p:spPr>
          <a:xfrm>
            <a:off x="843280" y="10414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SmartPhone OS</a:t>
            </a:r>
            <a:endParaRPr lang="en-US" alt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" name="Shape 3"/>
          <p:cNvSpPr/>
          <p:nvPr/>
        </p:nvSpPr>
        <p:spPr>
          <a:xfrm>
            <a:off x="843280" y="745490"/>
            <a:ext cx="484632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Box 5"/>
          <p:cNvSpPr txBox="1"/>
          <p:nvPr/>
        </p:nvSpPr>
        <p:spPr>
          <a:xfrm>
            <a:off x="843280" y="837883"/>
            <a:ext cx="5080000" cy="364617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50000"/>
              </a:lnSpc>
            </a:pPr>
            <a:endParaRPr lang="en-US" altLang="zh-CN" sz="1600">
              <a:solidFill>
                <a:srgbClr val="FE8637"/>
              </a:solidFill>
              <a:latin typeface="NotoSansSymbols"/>
              <a:ea typeface="NotoSansSymbol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300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Nokia’s Symbian </a:t>
            </a:r>
            <a:endParaRPr lang="en-US" altLang="zh-CN" sz="2300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300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RIM’s Blackberry OS </a:t>
            </a:r>
            <a:r>
              <a:rPr lang="en-US" altLang="zh-CN" sz="1600">
                <a:solidFill>
                  <a:srgbClr val="FE8637"/>
                </a:solidFill>
                <a:latin typeface="Times New Roman" panose="02020603050405020304" charset="0"/>
                <a:ea typeface="NotoSansSymbols"/>
                <a:cs typeface="Times New Roman" panose="02020603050405020304" charset="0"/>
              </a:rPr>
              <a:t> </a:t>
            </a:r>
            <a:endParaRPr lang="en-US" altLang="zh-CN" sz="1600">
              <a:solidFill>
                <a:srgbClr val="FE8637"/>
              </a:solidFill>
              <a:latin typeface="Times New Roman" panose="02020603050405020304" charset="0"/>
              <a:ea typeface="NotoSansSymbols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300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Apple’s iOS </a:t>
            </a:r>
            <a:endParaRPr lang="en-US" altLang="zh-CN" sz="1600" b="1">
              <a:solidFill>
                <a:srgbClr val="FE8637"/>
              </a:solidFill>
              <a:latin typeface="Times New Roman" panose="02020603050405020304" charset="0"/>
              <a:ea typeface="NotoSansSymbols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300">
                <a:solidFill>
                  <a:srgbClr val="000000"/>
                </a:solidFill>
                <a:latin typeface="Times New Roman" panose="02020603050405020304" charset="0"/>
                <a:ea typeface="Calibri-Bold"/>
                <a:cs typeface="Times New Roman" panose="02020603050405020304" charset="0"/>
              </a:rPr>
              <a:t>Google’s Android </a:t>
            </a:r>
            <a:endParaRPr lang="en-US" altLang="zh-CN" sz="1600">
              <a:solidFill>
                <a:srgbClr val="FE8637"/>
              </a:solidFill>
              <a:latin typeface="Times New Roman" panose="02020603050405020304" charset="0"/>
              <a:ea typeface="NotoSansSymbols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300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HP’s WebOS </a:t>
            </a:r>
            <a:endParaRPr lang="en-US" altLang="zh-CN" sz="1600">
              <a:solidFill>
                <a:srgbClr val="FE8637"/>
              </a:solidFill>
              <a:latin typeface="Times New Roman" panose="02020603050405020304" charset="0"/>
              <a:ea typeface="NotoSansSymbols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300">
                <a:solidFill>
                  <a:srgbClr val="0000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Microsoft’s Windows Phone</a:t>
            </a:r>
            <a:endParaRPr lang="en-US" altLang="zh-CN" sz="2300">
              <a:solidFill>
                <a:srgbClr val="00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675" y="1199515"/>
            <a:ext cx="1827530" cy="14808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675" y="3165475"/>
            <a:ext cx="2105025" cy="5238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3DDC84">
              <a:alpha val="12000"/>
            </a:srgbClr>
          </a:solidFill>
          <a:ln w="12700">
            <a:solidFill>
              <a:srgbClr val="3DDC84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Brief History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943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Android Inc. to the world's most used mobile 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Version Timeline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658368"/>
            <a:ext cx="54864" cy="411480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694944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64008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658368"/>
            <a:ext cx="7132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658368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Inc. acquired by Google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98448" y="1207008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" y="1152144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1170432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170432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1.0 — </a:t>
            </a: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HTC G1 (first device)</a:t>
            </a:r>
            <a:r>
              <a:rPr lang="en-IN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, </a:t>
            </a:r>
            <a:r>
              <a:rPr lang="en-US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Gmail, Maps, Android Market, Web Browser</a:t>
            </a:r>
            <a:endParaRPr lang="en-US" alt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298448" y="1870202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" y="1796923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1682750"/>
            <a:ext cx="7132320" cy="89027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0" y="1797050"/>
            <a:ext cx="6949440" cy="630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Cupcake (1.5) — On-screen keyboard, Widgets, Video recording</a:t>
            </a:r>
            <a:endParaRPr 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Donut (1.6) — Voice search, Faster camera, CDMA support</a:t>
            </a:r>
            <a:endParaRPr 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Eclair (2.0–2.1) — Google Maps Navigation, Live wallpapers</a:t>
            </a:r>
            <a:endParaRPr 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98448" y="2885821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0" y="281381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2010</a:t>
            </a:r>
            <a:endParaRPr lang="en-US" sz="1100" dirty="0"/>
          </a:p>
        </p:txBody>
      </p:sp>
      <p:sp>
        <p:nvSpPr>
          <p:cNvPr id="38" name="Shape 14"/>
          <p:cNvSpPr/>
          <p:nvPr/>
        </p:nvSpPr>
        <p:spPr>
          <a:xfrm>
            <a:off x="1691640" y="2813685"/>
            <a:ext cx="7132320" cy="73279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Froyo (2.2) — Wi-Fi hotspot, Faster performance, Flash support</a:t>
            </a:r>
            <a:endParaRPr 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l">
              <a:buClrTx/>
              <a:buSzTx/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Gingerbread (2.3) — NFC support, Better gaming, Improved UI</a:t>
            </a:r>
            <a:endParaRPr 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1298448" y="3775202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41" name="Text 17"/>
          <p:cNvSpPr/>
          <p:nvPr/>
        </p:nvSpPr>
        <p:spPr>
          <a:xfrm>
            <a:off x="19050" y="3703447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2011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1691640" y="3721735"/>
            <a:ext cx="7132320" cy="73279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None/>
            </a:pPr>
            <a:r>
              <a:rPr lang="zh-CN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</a:t>
            </a:r>
            <a:r>
              <a:rPr lang="en-US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Honeycomb (3.0) — First Android tablet OS</a:t>
            </a:r>
            <a:endParaRPr lang="en-US" alt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l">
              <a:buClrTx/>
              <a:buSzTx/>
              <a:buNone/>
            </a:pPr>
            <a:r>
              <a:rPr lang="zh-CN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</a:t>
            </a:r>
            <a:r>
              <a:rPr lang="en-US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Ice Cream Sandwich (4.0) — Face Unlock, Modern UI redesign</a:t>
            </a:r>
            <a:endParaRPr lang="en-US" alt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Version Timeline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658368"/>
            <a:ext cx="54864" cy="411480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694944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64008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2012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91640" y="658368"/>
            <a:ext cx="7132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658368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/>
              <a:t>🔹 </a:t>
            </a:r>
            <a:r>
              <a:rPr lang="en-US" altLang="en-US" sz="1400" dirty="0"/>
              <a:t>Jelly Bean (4.1–4.3) — Google Now, Smooth performance, Expandable notifications</a:t>
            </a:r>
            <a:endParaRPr lang="en-US" alt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98448" y="1207008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" y="1152144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2013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91640" y="1170432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170432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</a:t>
            </a:r>
            <a:r>
              <a:rPr lang="en-US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KitKat (4.4) — “OK Google”, Emoji support, Low RAM optimization</a:t>
            </a:r>
            <a:endParaRPr lang="en-US" alt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08608" y="1719072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90" y="172643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2014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98448" y="2266061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15" y="2171827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2015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1298448" y="2813812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41" name="Text 17"/>
          <p:cNvSpPr/>
          <p:nvPr/>
        </p:nvSpPr>
        <p:spPr>
          <a:xfrm>
            <a:off x="48895" y="2740787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2016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681480" y="2843657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FontTx/>
            </a:pPr>
            <a:r>
              <a:rPr lang="zh-CN" altLang="en-US" sz="1400"/>
              <a:t>🔹 Nougat (7.0–7.1) — Split-screen multitasking, VR support, Quick reply</a:t>
            </a:r>
            <a:endParaRPr lang="zh-CN" altLang="en-US" sz="1400"/>
          </a:p>
        </p:txBody>
      </p:sp>
      <p:sp>
        <p:nvSpPr>
          <p:cNvPr id="21" name="Shape 10"/>
          <p:cNvSpPr/>
          <p:nvPr/>
        </p:nvSpPr>
        <p:spPr>
          <a:xfrm>
            <a:off x="1691640" y="1778762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zh-CN" altLang="en-US" sz="1400"/>
              <a:t>🔹 </a:t>
            </a:r>
            <a:r>
              <a:rPr lang="en-US" altLang="en-US" sz="1400"/>
              <a:t>Lollipop (5.0–5.1) — Material Design, ART Runtime, Battery Saver</a:t>
            </a:r>
            <a:endParaRPr lang="en-US" altLang="en-US" sz="1400"/>
          </a:p>
        </p:txBody>
      </p:sp>
      <p:sp>
        <p:nvSpPr>
          <p:cNvPr id="22" name="Shape 10"/>
          <p:cNvSpPr/>
          <p:nvPr/>
        </p:nvSpPr>
        <p:spPr>
          <a:xfrm>
            <a:off x="1691640" y="2286127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r>
              <a:rPr lang="zh-CN" altLang="en-US" sz="1400"/>
              <a:t>🔹 Marshmallow (6.0) — Fingerprint support, Doze mode, App permissions</a:t>
            </a:r>
            <a:endParaRPr lang="zh-CN" altLang="en-US" sz="1400"/>
          </a:p>
        </p:txBody>
      </p:sp>
      <p:sp>
        <p:nvSpPr>
          <p:cNvPr id="23" name="Shape 10"/>
          <p:cNvSpPr/>
          <p:nvPr/>
        </p:nvSpPr>
        <p:spPr>
          <a:xfrm>
            <a:off x="1681480" y="3347212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FontTx/>
            </a:pPr>
            <a:r>
              <a:rPr lang="zh-CN" altLang="en-US" sz="1400"/>
              <a:t>🔹 Oreo (8.0–8.1) — Picture-in-Picture, Autofill, Notification channels</a:t>
            </a:r>
            <a:endParaRPr lang="zh-CN" altLang="en-US" sz="1400"/>
          </a:p>
        </p:txBody>
      </p:sp>
      <p:sp>
        <p:nvSpPr>
          <p:cNvPr id="25" name="Shape 12"/>
          <p:cNvSpPr/>
          <p:nvPr/>
        </p:nvSpPr>
        <p:spPr>
          <a:xfrm>
            <a:off x="1308608" y="3908552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1298448" y="3311906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1298448" y="4504436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8" name="Shape 10"/>
          <p:cNvSpPr/>
          <p:nvPr/>
        </p:nvSpPr>
        <p:spPr>
          <a:xfrm>
            <a:off x="1681480" y="3881882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FontTx/>
            </a:pPr>
            <a:r>
              <a:rPr lang="zh-CN" altLang="en-US" sz="1400"/>
              <a:t>🔹 Pie (9.0) — Gesture navigation, Adaptive battery, Digital Wellbeing</a:t>
            </a:r>
            <a:endParaRPr lang="zh-CN" altLang="en-US" sz="1400"/>
          </a:p>
        </p:txBody>
      </p:sp>
      <p:sp>
        <p:nvSpPr>
          <p:cNvPr id="29" name="Shape 10"/>
          <p:cNvSpPr/>
          <p:nvPr/>
        </p:nvSpPr>
        <p:spPr>
          <a:xfrm>
            <a:off x="1681480" y="4416552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FontTx/>
            </a:pPr>
            <a:r>
              <a:rPr lang="zh-CN" altLang="en-US" sz="1400"/>
              <a:t>🔹 Android 10 — Dark mode, Smart replies, Privacy controls</a:t>
            </a:r>
            <a:endParaRPr lang="zh-CN" altLang="en-US" sz="1400"/>
          </a:p>
        </p:txBody>
      </p:sp>
      <p:sp>
        <p:nvSpPr>
          <p:cNvPr id="30" name="Text 17"/>
          <p:cNvSpPr/>
          <p:nvPr/>
        </p:nvSpPr>
        <p:spPr>
          <a:xfrm>
            <a:off x="69215" y="388188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2018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48895" y="444449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2019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74295" y="3224657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2017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Version Timeline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H="1">
            <a:off x="1400810" y="658495"/>
            <a:ext cx="76200" cy="3763645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694944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64008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2020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91640" y="658368"/>
            <a:ext cx="7132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658368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/>
              <a:t>🔹 </a:t>
            </a:r>
            <a:r>
              <a:rPr lang="en-US" altLang="en-US" sz="1400" dirty="0"/>
              <a:t>Android 11 — Chat bubbles, Screen recorder, One-time permissions</a:t>
            </a:r>
            <a:endParaRPr lang="en-US" alt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98448" y="1207008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" y="1152144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2021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91640" y="1170432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170432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🔹 </a:t>
            </a:r>
            <a:r>
              <a:rPr lang="en-US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12 — Material You design, Privacy dashboard, Dynamic colors</a:t>
            </a:r>
            <a:endParaRPr lang="en-US" altLang="en-US" sz="14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08608" y="1719072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90" y="172643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98448" y="2266061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15" y="2171827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1298448" y="2813812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41" name="Text 17"/>
          <p:cNvSpPr/>
          <p:nvPr/>
        </p:nvSpPr>
        <p:spPr>
          <a:xfrm>
            <a:off x="48895" y="2740787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681480" y="2843657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FontTx/>
            </a:pPr>
            <a:r>
              <a:rPr lang="zh-CN" altLang="en-US" sz="1400"/>
              <a:t>🔹 </a:t>
            </a:r>
            <a:r>
              <a:rPr lang="en-US" altLang="en-US" sz="1400"/>
              <a:t>Android 15 — Private Space, Theft Detection Lock, Partial screen sharing, Better multitasking</a:t>
            </a:r>
            <a:endParaRPr lang="en-US" altLang="en-US" sz="1400"/>
          </a:p>
        </p:txBody>
      </p:sp>
      <p:sp>
        <p:nvSpPr>
          <p:cNvPr id="21" name="Shape 10"/>
          <p:cNvSpPr/>
          <p:nvPr/>
        </p:nvSpPr>
        <p:spPr>
          <a:xfrm>
            <a:off x="1691640" y="1778762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zh-CN" altLang="en-US" sz="1400"/>
              <a:t>🔹 </a:t>
            </a:r>
            <a:r>
              <a:rPr lang="en-US" altLang="en-US" sz="1400"/>
              <a:t>Android 13 — Per-app language, Clipboard privacy, Bluetooth LE Audio</a:t>
            </a:r>
            <a:r>
              <a:rPr lang="en-US" altLang="en-US" sz="1400"/>
              <a:t>r</a:t>
            </a:r>
            <a:endParaRPr lang="en-US" altLang="en-US" sz="1400"/>
          </a:p>
        </p:txBody>
      </p:sp>
      <p:sp>
        <p:nvSpPr>
          <p:cNvPr id="22" name="Shape 10"/>
          <p:cNvSpPr/>
          <p:nvPr/>
        </p:nvSpPr>
        <p:spPr>
          <a:xfrm>
            <a:off x="1691640" y="2286127"/>
            <a:ext cx="7132320" cy="3474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r>
              <a:rPr lang="zh-CN" altLang="en-US" sz="1400"/>
              <a:t>🔹 </a:t>
            </a:r>
            <a:r>
              <a:rPr lang="en-US" altLang="en-US" sz="1400"/>
              <a:t>Android 14 — Better battery optimization, Lock screen customization, Ultra HDR</a:t>
            </a:r>
            <a:endParaRPr lang="en-US" altLang="en-US" sz="1400"/>
          </a:p>
        </p:txBody>
      </p:sp>
      <p:sp>
        <p:nvSpPr>
          <p:cNvPr id="23" name="Shape 10"/>
          <p:cNvSpPr/>
          <p:nvPr/>
        </p:nvSpPr>
        <p:spPr>
          <a:xfrm>
            <a:off x="1681480" y="3347085"/>
            <a:ext cx="7132320" cy="43815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FontTx/>
            </a:pPr>
            <a:r>
              <a:rPr lang="zh-CN" altLang="en-US" sz="1400"/>
              <a:t>🔹 </a:t>
            </a:r>
            <a:r>
              <a:rPr lang="en-US" altLang="en-US" sz="1400"/>
              <a:t>Android 16 — Live Updates, Auracast audio sharing, Advanced Protection security, Desktop mode improvements</a:t>
            </a:r>
            <a:endParaRPr lang="en-US" altLang="en-US" sz="1400"/>
          </a:p>
        </p:txBody>
      </p:sp>
      <p:sp>
        <p:nvSpPr>
          <p:cNvPr id="25" name="Shape 12"/>
          <p:cNvSpPr/>
          <p:nvPr/>
        </p:nvSpPr>
        <p:spPr>
          <a:xfrm>
            <a:off x="1308608" y="3908552"/>
            <a:ext cx="256032" cy="256032"/>
          </a:xfrm>
          <a:prstGeom prst="ellipse">
            <a:avLst/>
          </a:prstGeom>
          <a:solidFill>
            <a:srgbClr val="3DDC84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1298448" y="3311906"/>
            <a:ext cx="256032" cy="256032"/>
          </a:xfrm>
          <a:prstGeom prst="ellipse">
            <a:avLst/>
          </a:prstGeom>
          <a:solidFill>
            <a:srgbClr val="1A2A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8" name="Shape 10"/>
          <p:cNvSpPr/>
          <p:nvPr/>
        </p:nvSpPr>
        <p:spPr>
          <a:xfrm>
            <a:off x="1671320" y="4003675"/>
            <a:ext cx="7132320" cy="591185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 algn="l">
              <a:buClrTx/>
              <a:buSzTx/>
              <a:buFontTx/>
            </a:pPr>
            <a:r>
              <a:rPr lang="zh-CN" altLang="en-US" sz="1400"/>
              <a:t>🔹 </a:t>
            </a:r>
            <a:r>
              <a:rPr lang="en-US" altLang="en-US" sz="1400"/>
              <a:t>Android 17 — Gemini AI integration, Cross-device app continuity, Scam detection, Enhanced ecosystem features</a:t>
            </a:r>
            <a:endParaRPr lang="en-US" altLang="en-US" sz="1400"/>
          </a:p>
        </p:txBody>
      </p:sp>
      <p:sp>
        <p:nvSpPr>
          <p:cNvPr id="30" name="Text 17"/>
          <p:cNvSpPr/>
          <p:nvPr/>
        </p:nvSpPr>
        <p:spPr>
          <a:xfrm>
            <a:off x="69215" y="388188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74295" y="3224657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1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</a:t>
            </a:r>
            <a:endParaRPr lang="en-IN" altLang="en-US" sz="1100" b="1" dirty="0">
              <a:solidFill>
                <a:srgbClr val="00A5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3DDC84">
              <a:alpha val="12000"/>
            </a:srgbClr>
          </a:solidFill>
          <a:ln w="12700">
            <a:solidFill>
              <a:srgbClr val="3DDC84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943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layers of Android work together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Software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87782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1323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042416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Phone, Browser, Maps, Camera, Custom Apps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0" y="9144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A2A3A"/>
                </a:solidFill>
              </a:rPr>
              <a:t>Layer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877824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1907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Framework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048256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Activity Manager  ·  Notification Manager  ·  Content Providers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Layer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877824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2491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Libraries &amp; Android Runtime (ART)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054096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 ·  Media  ·  WebKit  ·  Dalvik / ART VM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2926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Layer 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675888"/>
            <a:ext cx="8229600" cy="87782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075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Kernel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059936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Drivers  ·  Power Management  ·  Security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39319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Layer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</a:rPr>
              <a:t>Each layer builds on the one below — from hardware to user-facing apps.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3DDC84">
              <a:alpha val="12000"/>
            </a:srgbClr>
          </a:solidFill>
          <a:ln w="12700">
            <a:solidFill>
              <a:srgbClr val="3DDC84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943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Android powerful and popular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Key Features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260604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13232"/>
            <a:ext cx="260604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4231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Anyone can view, modify, or distribute Android source 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713232"/>
            <a:ext cx="260604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13232"/>
            <a:ext cx="260604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841248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2801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Multi-touch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24231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Gestures like pinch, swipe, and tap on touchscreens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713232"/>
            <a:ext cx="260604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713232"/>
            <a:ext cx="260604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841248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2801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600200"/>
            <a:ext cx="24231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Built-in lightweight database for local data storage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16352"/>
            <a:ext cx="260604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16352"/>
            <a:ext cx="260604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44368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24231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Wi-Fi, Bluetooth, NFC, 4G/5G — all supported natively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816352"/>
            <a:ext cx="260604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16352"/>
            <a:ext cx="260604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44368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91840" y="33832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703320"/>
            <a:ext cx="24231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Per-app processes, permission model, encryption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816352"/>
            <a:ext cx="260604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16352"/>
            <a:ext cx="260604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944368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38328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Access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26480" y="3703320"/>
            <a:ext cx="24231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Camera, GPS, Compass, Accelerometer, Sensors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3DDC84">
              <a:alpha val="12000"/>
            </a:srgbClr>
          </a:solidFill>
          <a:ln w="12700">
            <a:solidFill>
              <a:srgbClr val="3DDC84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Tools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943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need to build Android apps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Development Essentials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02920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23544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235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786384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078992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Official IDE based on IntelliJ IDEA — code, design, debug, 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502920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47672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47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181051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SDK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Development Kit — APIs, tools, and documentation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502920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971800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Emulator (AVD)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127248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apps on a virtual device without real hardware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85616"/>
            <a:ext cx="502920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95928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95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8587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ADB (Android Debug Bridge)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151376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Command-line tool to communicate with devices/emulators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713232"/>
            <a:ext cx="31089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804672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Languages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325880"/>
            <a:ext cx="2651760" cy="804672"/>
          </a:xfrm>
          <a:prstGeom prst="rect">
            <a:avLst/>
          </a:prstGeom>
          <a:solidFill>
            <a:srgbClr val="3DDC84">
              <a:alpha val="12000"/>
            </a:srgbClr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39903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Kotlin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989320" y="172821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97880" y="2377440"/>
            <a:ext cx="2651760" cy="804672"/>
          </a:xfrm>
          <a:prstGeom prst="rect">
            <a:avLst/>
          </a:prstGeom>
          <a:solidFill>
            <a:srgbClr val="1976D2">
              <a:alpha val="12000"/>
            </a:srgbClr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4505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76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989320" y="277977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Widely used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97880" y="3429000"/>
            <a:ext cx="2651760" cy="804672"/>
          </a:xfrm>
          <a:prstGeom prst="rect">
            <a:avLst/>
          </a:prstGeom>
          <a:solidFill>
            <a:srgbClr val="FF7043">
              <a:alpha val="12000"/>
            </a:srgbClr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50215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0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/ C++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89320" y="3831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NDK (native)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3DDC84">
              <a:alpha val="12000"/>
            </a:srgbClr>
          </a:solidFill>
          <a:ln w="12700">
            <a:solidFill>
              <a:srgbClr val="3DDC84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Market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943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Publishing and distributing your apps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Play Store &amp; App Distribution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029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457200" cy="71323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13232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7772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Play Store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06070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Official store — largest reach, easy discovery, handles payments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5029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54480"/>
            <a:ext cx="457200" cy="71323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54480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6184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Self-publish (Website)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901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.apk on your own server; users download directly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502920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95728"/>
            <a:ext cx="457200" cy="71323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95728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45973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Third-party Stores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Amazon Appstore, Samsung Galaxy Store, etc.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5029200" cy="1371600"/>
          </a:xfrm>
          <a:prstGeom prst="rect">
            <a:avLst/>
          </a:prstGeom>
          <a:solidFill>
            <a:srgbClr val="EDF7ED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832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Play — Revenue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4663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$25 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one-time developer registration fee
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Developer earns </a:t>
            </a: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of each app sale
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Remaining 30% goes to Google / carriers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713232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to Publish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0" y="1143000"/>
            <a:ext cx="411480" cy="4114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11430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88736" y="1554480"/>
            <a:ext cx="64008" cy="34747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17043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on Play Console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15000" y="1920240"/>
            <a:ext cx="411480" cy="4114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19202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88736" y="2331720"/>
            <a:ext cx="64008" cy="34747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94767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keystore &amp; sign app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715000" y="2697480"/>
            <a:ext cx="411480" cy="4114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26974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</a:rPr>
              <a:t>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88736" y="3108960"/>
            <a:ext cx="64008" cy="34747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72491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.apk / .aab file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715000" y="3474720"/>
            <a:ext cx="411480" cy="4114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34747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350215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pricing &amp; distribute</a:t>
            </a:r>
            <a:endParaRPr lang="en-US" sz="115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4160" y="4445000"/>
            <a:ext cx="1178560" cy="5499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4941</Words>
  <Application>WPS Presentation</Application>
  <PresentationFormat>On-screen Show (16:9)</PresentationFormat>
  <Paragraphs>359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NotoSansSymbols</vt:lpstr>
      <vt:lpstr>Calibri</vt:lpstr>
      <vt:lpstr>Calibri-Bold</vt:lpstr>
      <vt:lpstr>Segoe Print</vt:lpstr>
      <vt:lpstr>Wingdings</vt:lpstr>
      <vt:lpstr>Times New Roman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Android Platform</dc:title>
  <dc:creator>PptxGenJS</dc:creator>
  <dc:subject>PptxGenJS Presentation</dc:subject>
  <cp:lastModifiedBy>Riyana</cp:lastModifiedBy>
  <cp:revision>3</cp:revision>
  <dcterms:created xsi:type="dcterms:W3CDTF">2026-05-25T08:31:00Z</dcterms:created>
  <dcterms:modified xsi:type="dcterms:W3CDTF">2026-05-25T09:41:39Z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CE790F85028B4BAC877967B1DF18D504_13</vt:lpwstr>
  </property>
</Properties>
</file>