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5" roundtripDataSignature="AMtx7miiJYNNy2s/x15bjFj004QykD7b0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5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" name="Google Shape;2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" name="Google Shape;53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" name="Google Shape;76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" name="Google Shape;98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8" name="Google Shape;108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6" name="Google Shape;146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9" name="Google Shape;179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0" name="Google Shape;220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8" name="Google Shape;248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0" name="Google Shape;270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2" name="Google Shape;292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1" name="Google Shape;311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1" name="Google Shape;321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1" name="Google Shape;331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1" name="Google Shape;341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0" name="Google Shape;370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2" name="Google Shape;392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4" name="Google Shape;414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6" name="Google Shape;436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7.png"/><Relationship Id="rId4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19.png"/><Relationship Id="rId6" Type="http://schemas.openxmlformats.org/officeDocument/2006/relationships/image" Target="../media/image1.png"/><Relationship Id="rId7" Type="http://schemas.openxmlformats.org/officeDocument/2006/relationships/image" Target="../media/image5.png"/><Relationship Id="rId8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5.png"/><Relationship Id="rId4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Relationship Id="rId4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4.png"/><Relationship Id="rId4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7.png"/><Relationship Id="rId9" Type="http://schemas.openxmlformats.org/officeDocument/2006/relationships/image" Target="../media/image4.png"/><Relationship Id="rId5" Type="http://schemas.openxmlformats.org/officeDocument/2006/relationships/image" Target="../media/image28.png"/><Relationship Id="rId6" Type="http://schemas.openxmlformats.org/officeDocument/2006/relationships/image" Target="../media/image1.png"/><Relationship Id="rId7" Type="http://schemas.openxmlformats.org/officeDocument/2006/relationships/image" Target="../media/image6.png"/><Relationship Id="rId8" Type="http://schemas.openxmlformats.org/officeDocument/2006/relationships/image" Target="../media/image1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7.png"/><Relationship Id="rId11" Type="http://schemas.openxmlformats.org/officeDocument/2006/relationships/image" Target="../media/image1.png"/><Relationship Id="rId10" Type="http://schemas.openxmlformats.org/officeDocument/2006/relationships/image" Target="../media/image9.png"/><Relationship Id="rId9" Type="http://schemas.openxmlformats.org/officeDocument/2006/relationships/image" Target="../media/image26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6.png"/><Relationship Id="rId8" Type="http://schemas.openxmlformats.org/officeDocument/2006/relationships/image" Target="../media/image2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1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Relationship Id="rId4" Type="http://schemas.openxmlformats.org/officeDocument/2006/relationships/image" Target="../media/image2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Relationship Id="rId4" Type="http://schemas.openxmlformats.org/officeDocument/2006/relationships/image" Target="../media/image2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Relationship Id="rId4" Type="http://schemas.openxmlformats.org/officeDocument/2006/relationships/image" Target="../media/image1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Relationship Id="rId4" Type="http://schemas.openxmlformats.org/officeDocument/2006/relationships/image" Target="../media/image3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Relationship Id="rId4" Type="http://schemas.openxmlformats.org/officeDocument/2006/relationships/image" Target="../media/image2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Relationship Id="rId4" Type="http://schemas.openxmlformats.org/officeDocument/2006/relationships/image" Target="../media/image1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png"/><Relationship Id="rId4" Type="http://schemas.openxmlformats.org/officeDocument/2006/relationships/image" Target="../media/image17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.png"/><Relationship Id="rId4" Type="http://schemas.openxmlformats.org/officeDocument/2006/relationships/image" Target="../media/image2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.png"/><Relationship Id="rId4" Type="http://schemas.openxmlformats.org/officeDocument/2006/relationships/image" Target="../media/image3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8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237E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283593"/>
          </a:solidFill>
          <a:ln cap="flat" cmpd="sng" w="12700">
            <a:solidFill>
              <a:srgbClr val="2835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" name="Google Shape;17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8000" y="457200"/>
            <a:ext cx="1645920" cy="2926080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1"/>
          <p:cNvSpPr/>
          <p:nvPr/>
        </p:nvSpPr>
        <p:spPr>
          <a:xfrm>
            <a:off x="457200" y="914400"/>
            <a:ext cx="621792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Calibri"/>
              <a:buNone/>
            </a:pPr>
            <a:r>
              <a:rPr b="1" i="0" lang="en-US" sz="7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View</a:t>
            </a:r>
            <a:endParaRPr b="0" i="0" sz="7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457200" y="2514600"/>
            <a:ext cx="62179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A8DA"/>
              </a:buClr>
              <a:buSzPts val="2000"/>
              <a:buFont typeface="Calibri"/>
              <a:buNone/>
            </a:pPr>
            <a:r>
              <a:rPr b="0" i="1" lang="en-US" sz="2000" u="none" cap="none" strike="noStrike">
                <a:solidFill>
                  <a:srgbClr val="9FA8DA"/>
                </a:solidFill>
                <a:latin typeface="Calibri"/>
                <a:ea typeface="Calibri"/>
                <a:cs typeface="Calibri"/>
                <a:sym typeface="Calibri"/>
              </a:rPr>
              <a:t>Android UI Components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457200" y="3063240"/>
            <a:ext cx="62179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986CB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7986CB"/>
                </a:solidFill>
                <a:latin typeface="Calibri"/>
                <a:ea typeface="Calibri"/>
                <a:cs typeface="Calibri"/>
                <a:sym typeface="Calibri"/>
              </a:rPr>
              <a:t>Views · ViewGroups · Layouts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" name="Google Shape;21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66710" y="4538345"/>
            <a:ext cx="1116330" cy="5251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"/>
          <p:cNvSpPr/>
          <p:nvPr/>
        </p:nvSpPr>
        <p:spPr>
          <a:xfrm>
            <a:off x="457200" y="274320"/>
            <a:ext cx="64008" cy="548640"/>
          </a:xfrm>
          <a:prstGeom prst="rect">
            <a:avLst/>
          </a:prstGeom>
          <a:solidFill>
            <a:srgbClr val="1A237E"/>
          </a:solidFill>
          <a:ln cap="flat" cmpd="sng" w="12700">
            <a:solidFill>
              <a:srgbClr val="1A23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2"/>
          <p:cNvSpPr/>
          <p:nvPr/>
        </p:nvSpPr>
        <p:spPr>
          <a:xfrm>
            <a:off x="658368" y="256032"/>
            <a:ext cx="80467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Contents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" name="Google Shape;29;p2"/>
          <p:cNvCxnSpPr/>
          <p:nvPr/>
        </p:nvCxnSpPr>
        <p:spPr>
          <a:xfrm>
            <a:off x="457200" y="960120"/>
            <a:ext cx="8229600" cy="0"/>
          </a:xfrm>
          <a:prstGeom prst="straightConnector1">
            <a:avLst/>
          </a:prstGeom>
          <a:noFill/>
          <a:ln cap="flat" cmpd="sng" w="12700">
            <a:solidFill>
              <a:srgbClr val="C5CAE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" name="Google Shape;30;p2"/>
          <p:cNvSpPr/>
          <p:nvPr/>
        </p:nvSpPr>
        <p:spPr>
          <a:xfrm>
            <a:off x="457200" y="1097280"/>
            <a:ext cx="3931920" cy="868680"/>
          </a:xfrm>
          <a:prstGeom prst="rect">
            <a:avLst/>
          </a:prstGeom>
          <a:solidFill>
            <a:srgbClr val="E8EAF6"/>
          </a:solidFill>
          <a:ln cap="flat" cmpd="sng" w="12700">
            <a:solidFill>
              <a:srgbClr val="C5CA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1" name="Google Shape;31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1792" y="128016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2"/>
          <p:cNvSpPr/>
          <p:nvPr/>
        </p:nvSpPr>
        <p:spPr>
          <a:xfrm>
            <a:off x="1143000" y="1170432"/>
            <a:ext cx="457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757575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1143000" y="1444752"/>
            <a:ext cx="3017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Views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4846320" y="1097280"/>
            <a:ext cx="3931920" cy="868680"/>
          </a:xfrm>
          <a:prstGeom prst="rect">
            <a:avLst/>
          </a:prstGeom>
          <a:solidFill>
            <a:srgbClr val="E8EAF6"/>
          </a:solidFill>
          <a:ln cap="flat" cmpd="sng" w="12700">
            <a:solidFill>
              <a:srgbClr val="C5CA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5" name="Google Shape;35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10912" y="128016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2"/>
          <p:cNvSpPr/>
          <p:nvPr/>
        </p:nvSpPr>
        <p:spPr>
          <a:xfrm>
            <a:off x="5532120" y="1170432"/>
            <a:ext cx="457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757575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5532120" y="1444752"/>
            <a:ext cx="3017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A Tree-Structured UI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457200" y="2148840"/>
            <a:ext cx="3931920" cy="868680"/>
          </a:xfrm>
          <a:prstGeom prst="rect">
            <a:avLst/>
          </a:prstGeom>
          <a:solidFill>
            <a:srgbClr val="E8EAF6"/>
          </a:solidFill>
          <a:ln cap="flat" cmpd="sng" w="12700">
            <a:solidFill>
              <a:srgbClr val="C5CA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9" name="Google Shape;39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1792" y="233172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2"/>
          <p:cNvSpPr/>
          <p:nvPr/>
        </p:nvSpPr>
        <p:spPr>
          <a:xfrm>
            <a:off x="1143000" y="2221992"/>
            <a:ext cx="457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757575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1143000" y="2496312"/>
            <a:ext cx="3017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Android vs Swing UI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4846320" y="2148840"/>
            <a:ext cx="3931920" cy="868680"/>
          </a:xfrm>
          <a:prstGeom prst="rect">
            <a:avLst/>
          </a:prstGeom>
          <a:solidFill>
            <a:srgbClr val="E8EAF6"/>
          </a:solidFill>
          <a:ln cap="flat" cmpd="sng" w="12700">
            <a:solidFill>
              <a:srgbClr val="C5CA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3" name="Google Shape;43;p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010912" y="233172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2"/>
          <p:cNvSpPr/>
          <p:nvPr/>
        </p:nvSpPr>
        <p:spPr>
          <a:xfrm>
            <a:off x="5532120" y="2221992"/>
            <a:ext cx="457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757575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5532120" y="2496312"/>
            <a:ext cx="3017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Basic Views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457200" y="3200400"/>
            <a:ext cx="3931920" cy="868680"/>
          </a:xfrm>
          <a:prstGeom prst="rect">
            <a:avLst/>
          </a:prstGeom>
          <a:solidFill>
            <a:srgbClr val="E8EAF6"/>
          </a:solidFill>
          <a:ln cap="flat" cmpd="sng" w="12700">
            <a:solidFill>
              <a:srgbClr val="C5CA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7" name="Google Shape;47;p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21792" y="338328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2"/>
          <p:cNvSpPr/>
          <p:nvPr/>
        </p:nvSpPr>
        <p:spPr>
          <a:xfrm>
            <a:off x="1143000" y="3273552"/>
            <a:ext cx="457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757575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1143000" y="3547872"/>
            <a:ext cx="3017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Viewgroups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0" name="Google Shape;50;p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966710" y="4538345"/>
            <a:ext cx="1116330" cy="5251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3"/>
          <p:cNvSpPr/>
          <p:nvPr/>
        </p:nvSpPr>
        <p:spPr>
          <a:xfrm>
            <a:off x="457200" y="274320"/>
            <a:ext cx="64008" cy="548640"/>
          </a:xfrm>
          <a:prstGeom prst="rect">
            <a:avLst/>
          </a:prstGeom>
          <a:solidFill>
            <a:srgbClr val="1A237E"/>
          </a:solidFill>
          <a:ln cap="flat" cmpd="sng" w="12700">
            <a:solidFill>
              <a:srgbClr val="1A23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3"/>
          <p:cNvSpPr/>
          <p:nvPr/>
        </p:nvSpPr>
        <p:spPr>
          <a:xfrm>
            <a:off x="658368" y="256032"/>
            <a:ext cx="80467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Introduction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8" name="Google Shape;58;p3"/>
          <p:cNvCxnSpPr/>
          <p:nvPr/>
        </p:nvCxnSpPr>
        <p:spPr>
          <a:xfrm>
            <a:off x="457200" y="960120"/>
            <a:ext cx="8229600" cy="0"/>
          </a:xfrm>
          <a:prstGeom prst="straightConnector1">
            <a:avLst/>
          </a:prstGeom>
          <a:noFill/>
          <a:ln cap="flat" cmpd="sng" w="12700">
            <a:solidFill>
              <a:srgbClr val="C5CAE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9" name="Google Shape;59;p3"/>
          <p:cNvSpPr/>
          <p:nvPr/>
        </p:nvSpPr>
        <p:spPr>
          <a:xfrm>
            <a:off x="457200" y="1097280"/>
            <a:ext cx="2926080" cy="3657600"/>
          </a:xfrm>
          <a:prstGeom prst="rect">
            <a:avLst/>
          </a:prstGeom>
          <a:solidFill>
            <a:srgbClr val="E8EAF6"/>
          </a:solidFill>
          <a:ln cap="flat" cmpd="sng" w="12700">
            <a:solidFill>
              <a:srgbClr val="C5CA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0" name="Google Shape;60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68680" y="1554480"/>
            <a:ext cx="2103120" cy="2560320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3"/>
          <p:cNvSpPr/>
          <p:nvPr/>
        </p:nvSpPr>
        <p:spPr>
          <a:xfrm>
            <a:off x="3657600" y="1234440"/>
            <a:ext cx="5029200" cy="960120"/>
          </a:xfrm>
          <a:prstGeom prst="rect">
            <a:avLst/>
          </a:prstGeom>
          <a:solidFill>
            <a:srgbClr val="E8EAF6"/>
          </a:solidFill>
          <a:ln cap="flat" cmpd="sng" w="12700">
            <a:solidFill>
              <a:srgbClr val="C5CA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3"/>
          <p:cNvSpPr/>
          <p:nvPr/>
        </p:nvSpPr>
        <p:spPr>
          <a:xfrm>
            <a:off x="3657600" y="1234440"/>
            <a:ext cx="64008" cy="960120"/>
          </a:xfrm>
          <a:prstGeom prst="rect">
            <a:avLst/>
          </a:prstGeom>
          <a:solidFill>
            <a:srgbClr val="1A237E"/>
          </a:solidFill>
          <a:ln cap="flat" cmpd="sng" w="12700">
            <a:solidFill>
              <a:srgbClr val="1A23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3"/>
          <p:cNvSpPr/>
          <p:nvPr/>
        </p:nvSpPr>
        <p:spPr>
          <a:xfrm>
            <a:off x="3767328" y="1234440"/>
            <a:ext cx="45720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3"/>
          <p:cNvSpPr/>
          <p:nvPr/>
        </p:nvSpPr>
        <p:spPr>
          <a:xfrm>
            <a:off x="4251960" y="1307592"/>
            <a:ext cx="42976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Basic unit of an Android app is the Activity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(android.app.Activity).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3"/>
          <p:cNvSpPr/>
          <p:nvPr/>
        </p:nvSpPr>
        <p:spPr>
          <a:xfrm>
            <a:off x="3657600" y="2331720"/>
            <a:ext cx="5029200" cy="960120"/>
          </a:xfrm>
          <a:prstGeom prst="rect">
            <a:avLst/>
          </a:prstGeom>
          <a:solidFill>
            <a:srgbClr val="E8EAF6"/>
          </a:solidFill>
          <a:ln cap="flat" cmpd="sng" w="12700">
            <a:solidFill>
              <a:srgbClr val="C5CA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3"/>
          <p:cNvSpPr/>
          <p:nvPr/>
        </p:nvSpPr>
        <p:spPr>
          <a:xfrm>
            <a:off x="3657600" y="2331720"/>
            <a:ext cx="64008" cy="960120"/>
          </a:xfrm>
          <a:prstGeom prst="rect">
            <a:avLst/>
          </a:prstGeom>
          <a:solidFill>
            <a:srgbClr val="1A237E"/>
          </a:solidFill>
          <a:ln cap="flat" cmpd="sng" w="12700">
            <a:solidFill>
              <a:srgbClr val="1A23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3"/>
          <p:cNvSpPr/>
          <p:nvPr/>
        </p:nvSpPr>
        <p:spPr>
          <a:xfrm>
            <a:off x="3767328" y="2331720"/>
            <a:ext cx="45720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3"/>
          <p:cNvSpPr/>
          <p:nvPr/>
        </p:nvSpPr>
        <p:spPr>
          <a:xfrm>
            <a:off x="4251960" y="2404872"/>
            <a:ext cx="42976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An Activity alone has no screen presence.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3"/>
          <p:cNvSpPr/>
          <p:nvPr/>
        </p:nvSpPr>
        <p:spPr>
          <a:xfrm>
            <a:off x="3657600" y="3429000"/>
            <a:ext cx="5029200" cy="960120"/>
          </a:xfrm>
          <a:prstGeom prst="rect">
            <a:avLst/>
          </a:prstGeom>
          <a:solidFill>
            <a:srgbClr val="E8EAF6"/>
          </a:solidFill>
          <a:ln cap="flat" cmpd="sng" w="12700">
            <a:solidFill>
              <a:srgbClr val="C5CA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3"/>
          <p:cNvSpPr/>
          <p:nvPr/>
        </p:nvSpPr>
        <p:spPr>
          <a:xfrm>
            <a:off x="3657600" y="3429000"/>
            <a:ext cx="64008" cy="960120"/>
          </a:xfrm>
          <a:prstGeom prst="rect">
            <a:avLst/>
          </a:prstGeom>
          <a:solidFill>
            <a:srgbClr val="1A237E"/>
          </a:solidFill>
          <a:ln cap="flat" cmpd="sng" w="12700">
            <a:solidFill>
              <a:srgbClr val="1A23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3"/>
          <p:cNvSpPr/>
          <p:nvPr/>
        </p:nvSpPr>
        <p:spPr>
          <a:xfrm>
            <a:off x="3767328" y="3429000"/>
            <a:ext cx="45720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3"/>
          <p:cNvSpPr/>
          <p:nvPr/>
        </p:nvSpPr>
        <p:spPr>
          <a:xfrm>
            <a:off x="4251960" y="3502152"/>
            <a:ext cx="42976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Views and ViewGroups are used to design the UI.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3" name="Google Shape;73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66710" y="4538345"/>
            <a:ext cx="1116330" cy="5251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4"/>
          <p:cNvSpPr/>
          <p:nvPr/>
        </p:nvSpPr>
        <p:spPr>
          <a:xfrm>
            <a:off x="457200" y="274320"/>
            <a:ext cx="64008" cy="548640"/>
          </a:xfrm>
          <a:prstGeom prst="rect">
            <a:avLst/>
          </a:prstGeom>
          <a:solidFill>
            <a:srgbClr val="1A237E"/>
          </a:solidFill>
          <a:ln cap="flat" cmpd="sng" w="12700">
            <a:solidFill>
              <a:srgbClr val="1A23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4"/>
          <p:cNvSpPr/>
          <p:nvPr/>
        </p:nvSpPr>
        <p:spPr>
          <a:xfrm>
            <a:off x="658368" y="256032"/>
            <a:ext cx="80467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Views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1" name="Google Shape;81;p4"/>
          <p:cNvCxnSpPr/>
          <p:nvPr/>
        </p:nvCxnSpPr>
        <p:spPr>
          <a:xfrm>
            <a:off x="457200" y="960120"/>
            <a:ext cx="8229600" cy="0"/>
          </a:xfrm>
          <a:prstGeom prst="straightConnector1">
            <a:avLst/>
          </a:prstGeom>
          <a:noFill/>
          <a:ln cap="flat" cmpd="sng" w="12700">
            <a:solidFill>
              <a:srgbClr val="C5CAE9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preencoded.png" id="82" name="Google Shape;82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051560"/>
            <a:ext cx="2926080" cy="256032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4"/>
          <p:cNvSpPr/>
          <p:nvPr/>
        </p:nvSpPr>
        <p:spPr>
          <a:xfrm>
            <a:off x="3657600" y="1143000"/>
            <a:ext cx="5029200" cy="960120"/>
          </a:xfrm>
          <a:prstGeom prst="rect">
            <a:avLst/>
          </a:prstGeom>
          <a:solidFill>
            <a:srgbClr val="E8EAF6"/>
          </a:solidFill>
          <a:ln cap="flat" cmpd="sng" w="12700">
            <a:solidFill>
              <a:srgbClr val="C5CA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4"/>
          <p:cNvSpPr/>
          <p:nvPr/>
        </p:nvSpPr>
        <p:spPr>
          <a:xfrm>
            <a:off x="3657600" y="1143000"/>
            <a:ext cx="64008" cy="960120"/>
          </a:xfrm>
          <a:prstGeom prst="rect">
            <a:avLst/>
          </a:prstGeom>
          <a:solidFill>
            <a:srgbClr val="1A237E"/>
          </a:solidFill>
          <a:ln cap="flat" cmpd="sng" w="12700">
            <a:solidFill>
              <a:srgbClr val="1A23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4"/>
          <p:cNvSpPr/>
          <p:nvPr/>
        </p:nvSpPr>
        <p:spPr>
          <a:xfrm>
            <a:off x="3794760" y="1188720"/>
            <a:ext cx="10058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Extends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4"/>
          <p:cNvSpPr/>
          <p:nvPr/>
        </p:nvSpPr>
        <p:spPr>
          <a:xfrm>
            <a:off x="3794760" y="1618488"/>
            <a:ext cx="46634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android.view.View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4"/>
          <p:cNvSpPr/>
          <p:nvPr/>
        </p:nvSpPr>
        <p:spPr>
          <a:xfrm>
            <a:off x="3657600" y="2240280"/>
            <a:ext cx="5029200" cy="960120"/>
          </a:xfrm>
          <a:prstGeom prst="rect">
            <a:avLst/>
          </a:prstGeom>
          <a:solidFill>
            <a:srgbClr val="E8EAF6"/>
          </a:solidFill>
          <a:ln cap="flat" cmpd="sng" w="12700">
            <a:solidFill>
              <a:srgbClr val="C5CA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4"/>
          <p:cNvSpPr/>
          <p:nvPr/>
        </p:nvSpPr>
        <p:spPr>
          <a:xfrm>
            <a:off x="3657600" y="2240280"/>
            <a:ext cx="64008" cy="960120"/>
          </a:xfrm>
          <a:prstGeom prst="rect">
            <a:avLst/>
          </a:prstGeom>
          <a:solidFill>
            <a:srgbClr val="1A237E"/>
          </a:solidFill>
          <a:ln cap="flat" cmpd="sng" w="12700">
            <a:solidFill>
              <a:srgbClr val="1A23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4"/>
          <p:cNvSpPr/>
          <p:nvPr/>
        </p:nvSpPr>
        <p:spPr>
          <a:xfrm>
            <a:off x="3794760" y="2286000"/>
            <a:ext cx="10058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Stores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4"/>
          <p:cNvSpPr/>
          <p:nvPr/>
        </p:nvSpPr>
        <p:spPr>
          <a:xfrm>
            <a:off x="3794760" y="2715768"/>
            <a:ext cx="46634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Layout &amp; content for a rectangular screen area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4"/>
          <p:cNvSpPr/>
          <p:nvPr/>
        </p:nvSpPr>
        <p:spPr>
          <a:xfrm>
            <a:off x="3657600" y="3337560"/>
            <a:ext cx="5029200" cy="960120"/>
          </a:xfrm>
          <a:prstGeom prst="rect">
            <a:avLst/>
          </a:prstGeom>
          <a:solidFill>
            <a:srgbClr val="E8EAF6"/>
          </a:solidFill>
          <a:ln cap="flat" cmpd="sng" w="12700">
            <a:solidFill>
              <a:srgbClr val="C5CA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4"/>
          <p:cNvSpPr/>
          <p:nvPr/>
        </p:nvSpPr>
        <p:spPr>
          <a:xfrm>
            <a:off x="3657600" y="3337560"/>
            <a:ext cx="64008" cy="960120"/>
          </a:xfrm>
          <a:prstGeom prst="rect">
            <a:avLst/>
          </a:prstGeom>
          <a:solidFill>
            <a:srgbClr val="1A237E"/>
          </a:solidFill>
          <a:ln cap="flat" cmpd="sng" w="12700">
            <a:solidFill>
              <a:srgbClr val="1A23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4"/>
          <p:cNvSpPr/>
          <p:nvPr/>
        </p:nvSpPr>
        <p:spPr>
          <a:xfrm>
            <a:off x="3794760" y="3383280"/>
            <a:ext cx="10058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Handles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4"/>
          <p:cNvSpPr/>
          <p:nvPr/>
        </p:nvSpPr>
        <p:spPr>
          <a:xfrm>
            <a:off x="3794760" y="3813048"/>
            <a:ext cx="46634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Measuring, drawing, focus, scrolling, gestures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5" name="Google Shape;95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66710" y="4538345"/>
            <a:ext cx="1116330" cy="5251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5"/>
          <p:cNvSpPr/>
          <p:nvPr/>
        </p:nvSpPr>
        <p:spPr>
          <a:xfrm>
            <a:off x="457200" y="274320"/>
            <a:ext cx="64008" cy="548640"/>
          </a:xfrm>
          <a:prstGeom prst="rect">
            <a:avLst/>
          </a:prstGeom>
          <a:solidFill>
            <a:srgbClr val="1A237E"/>
          </a:solidFill>
          <a:ln cap="flat" cmpd="sng" w="12700">
            <a:solidFill>
              <a:srgbClr val="1A23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5"/>
          <p:cNvSpPr/>
          <p:nvPr/>
        </p:nvSpPr>
        <p:spPr>
          <a:xfrm>
            <a:off x="658368" y="256032"/>
            <a:ext cx="80467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A Tree-Structured UI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3" name="Google Shape;103;p5"/>
          <p:cNvCxnSpPr/>
          <p:nvPr/>
        </p:nvCxnSpPr>
        <p:spPr>
          <a:xfrm>
            <a:off x="457200" y="960120"/>
            <a:ext cx="8229600" cy="0"/>
          </a:xfrm>
          <a:prstGeom prst="straightConnector1">
            <a:avLst/>
          </a:prstGeom>
          <a:noFill/>
          <a:ln cap="flat" cmpd="sng" w="12700">
            <a:solidFill>
              <a:srgbClr val="C5CAE9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preencoded.png" id="104" name="Google Shape;104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005840"/>
            <a:ext cx="8229600" cy="39319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66710" y="4538345"/>
            <a:ext cx="1116330" cy="5251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66710" y="4538345"/>
            <a:ext cx="1116330" cy="525145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6"/>
          <p:cNvSpPr/>
          <p:nvPr/>
        </p:nvSpPr>
        <p:spPr>
          <a:xfrm>
            <a:off x="457200" y="274320"/>
            <a:ext cx="64008" cy="548640"/>
          </a:xfrm>
          <a:prstGeom prst="rect">
            <a:avLst/>
          </a:prstGeom>
          <a:solidFill>
            <a:srgbClr val="1A237E"/>
          </a:solidFill>
          <a:ln cap="flat" cmpd="sng" w="12700">
            <a:solidFill>
              <a:srgbClr val="1A23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6"/>
          <p:cNvSpPr/>
          <p:nvPr/>
        </p:nvSpPr>
        <p:spPr>
          <a:xfrm>
            <a:off x="658368" y="256032"/>
            <a:ext cx="80467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Comparing Android UI Elements to Swing UI Elements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4" name="Google Shape;114;p6"/>
          <p:cNvCxnSpPr/>
          <p:nvPr/>
        </p:nvCxnSpPr>
        <p:spPr>
          <a:xfrm>
            <a:off x="457200" y="960120"/>
            <a:ext cx="8229600" cy="0"/>
          </a:xfrm>
          <a:prstGeom prst="straightConnector1">
            <a:avLst/>
          </a:prstGeom>
          <a:noFill/>
          <a:ln cap="flat" cmpd="sng" w="12700">
            <a:solidFill>
              <a:srgbClr val="C5CAE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5" name="Google Shape;115;p6"/>
          <p:cNvSpPr/>
          <p:nvPr/>
        </p:nvSpPr>
        <p:spPr>
          <a:xfrm>
            <a:off x="457200" y="1051560"/>
            <a:ext cx="3840480" cy="438912"/>
          </a:xfrm>
          <a:prstGeom prst="rect">
            <a:avLst/>
          </a:prstGeom>
          <a:solidFill>
            <a:srgbClr val="1A237E"/>
          </a:solidFill>
          <a:ln cap="flat" cmpd="sng" w="12700">
            <a:solidFill>
              <a:srgbClr val="1A23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6"/>
          <p:cNvSpPr/>
          <p:nvPr/>
        </p:nvSpPr>
        <p:spPr>
          <a:xfrm>
            <a:off x="457200" y="1051560"/>
            <a:ext cx="384048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Android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6"/>
          <p:cNvSpPr/>
          <p:nvPr/>
        </p:nvSpPr>
        <p:spPr>
          <a:xfrm>
            <a:off x="4846320" y="1051560"/>
            <a:ext cx="3840480" cy="438912"/>
          </a:xfrm>
          <a:prstGeom prst="rect">
            <a:avLst/>
          </a:prstGeom>
          <a:solidFill>
            <a:srgbClr val="283593"/>
          </a:solidFill>
          <a:ln cap="flat" cmpd="sng" w="12700">
            <a:solidFill>
              <a:srgbClr val="2835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6"/>
          <p:cNvSpPr/>
          <p:nvPr/>
        </p:nvSpPr>
        <p:spPr>
          <a:xfrm>
            <a:off x="4846320" y="1051560"/>
            <a:ext cx="384048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Swing (Java)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6"/>
          <p:cNvSpPr/>
          <p:nvPr/>
        </p:nvSpPr>
        <p:spPr>
          <a:xfrm>
            <a:off x="457200" y="1581912"/>
            <a:ext cx="3840480" cy="457200"/>
          </a:xfrm>
          <a:prstGeom prst="rect">
            <a:avLst/>
          </a:prstGeom>
          <a:solidFill>
            <a:srgbClr val="E8EAF6"/>
          </a:solidFill>
          <a:ln cap="flat" cmpd="sng" w="12700">
            <a:solidFill>
              <a:srgbClr val="C5CA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6"/>
          <p:cNvSpPr/>
          <p:nvPr/>
        </p:nvSpPr>
        <p:spPr>
          <a:xfrm>
            <a:off x="457200" y="1581912"/>
            <a:ext cx="3840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Activity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6"/>
          <p:cNvSpPr/>
          <p:nvPr/>
        </p:nvSpPr>
        <p:spPr>
          <a:xfrm>
            <a:off x="4315968" y="1581912"/>
            <a:ext cx="51206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757575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6"/>
          <p:cNvSpPr/>
          <p:nvPr/>
        </p:nvSpPr>
        <p:spPr>
          <a:xfrm>
            <a:off x="4846320" y="1581912"/>
            <a:ext cx="3840480" cy="457200"/>
          </a:xfrm>
          <a:prstGeom prst="rect">
            <a:avLst/>
          </a:prstGeom>
          <a:solidFill>
            <a:srgbClr val="E8EAF6"/>
          </a:solidFill>
          <a:ln cap="flat" cmpd="sng" w="12700">
            <a:solidFill>
              <a:srgbClr val="C5CA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6"/>
          <p:cNvSpPr/>
          <p:nvPr/>
        </p:nvSpPr>
        <p:spPr>
          <a:xfrm>
            <a:off x="4846320" y="1581912"/>
            <a:ext cx="3840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JFrame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6"/>
          <p:cNvSpPr/>
          <p:nvPr/>
        </p:nvSpPr>
        <p:spPr>
          <a:xfrm>
            <a:off x="457200" y="2093976"/>
            <a:ext cx="3840480" cy="4572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5CA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6"/>
          <p:cNvSpPr/>
          <p:nvPr/>
        </p:nvSpPr>
        <p:spPr>
          <a:xfrm>
            <a:off x="457200" y="2093976"/>
            <a:ext cx="3840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View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6"/>
          <p:cNvSpPr/>
          <p:nvPr/>
        </p:nvSpPr>
        <p:spPr>
          <a:xfrm>
            <a:off x="4315968" y="2093976"/>
            <a:ext cx="51206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757575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6"/>
          <p:cNvSpPr/>
          <p:nvPr/>
        </p:nvSpPr>
        <p:spPr>
          <a:xfrm>
            <a:off x="4846320" y="2093976"/>
            <a:ext cx="3840480" cy="4572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5CA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6"/>
          <p:cNvSpPr/>
          <p:nvPr/>
        </p:nvSpPr>
        <p:spPr>
          <a:xfrm>
            <a:off x="4846320" y="2093976"/>
            <a:ext cx="3840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JComponent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6"/>
          <p:cNvSpPr/>
          <p:nvPr/>
        </p:nvSpPr>
        <p:spPr>
          <a:xfrm>
            <a:off x="457200" y="2606040"/>
            <a:ext cx="3840480" cy="457200"/>
          </a:xfrm>
          <a:prstGeom prst="rect">
            <a:avLst/>
          </a:prstGeom>
          <a:solidFill>
            <a:srgbClr val="E8EAF6"/>
          </a:solidFill>
          <a:ln cap="flat" cmpd="sng" w="12700">
            <a:solidFill>
              <a:srgbClr val="C5CA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6"/>
          <p:cNvSpPr/>
          <p:nvPr/>
        </p:nvSpPr>
        <p:spPr>
          <a:xfrm>
            <a:off x="457200" y="2606040"/>
            <a:ext cx="3840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TextView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6"/>
          <p:cNvSpPr/>
          <p:nvPr/>
        </p:nvSpPr>
        <p:spPr>
          <a:xfrm>
            <a:off x="4315968" y="2606040"/>
            <a:ext cx="51206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757575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6"/>
          <p:cNvSpPr/>
          <p:nvPr/>
        </p:nvSpPr>
        <p:spPr>
          <a:xfrm>
            <a:off x="4846320" y="2606040"/>
            <a:ext cx="3840480" cy="457200"/>
          </a:xfrm>
          <a:prstGeom prst="rect">
            <a:avLst/>
          </a:prstGeom>
          <a:solidFill>
            <a:srgbClr val="E8EAF6"/>
          </a:solidFill>
          <a:ln cap="flat" cmpd="sng" w="12700">
            <a:solidFill>
              <a:srgbClr val="C5CA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6"/>
          <p:cNvSpPr/>
          <p:nvPr/>
        </p:nvSpPr>
        <p:spPr>
          <a:xfrm>
            <a:off x="4846320" y="2606040"/>
            <a:ext cx="3840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JLabel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6"/>
          <p:cNvSpPr/>
          <p:nvPr/>
        </p:nvSpPr>
        <p:spPr>
          <a:xfrm>
            <a:off x="457200" y="3118104"/>
            <a:ext cx="3840480" cy="4572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5CA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6"/>
          <p:cNvSpPr/>
          <p:nvPr/>
        </p:nvSpPr>
        <p:spPr>
          <a:xfrm>
            <a:off x="457200" y="3118104"/>
            <a:ext cx="3840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EditText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6"/>
          <p:cNvSpPr/>
          <p:nvPr/>
        </p:nvSpPr>
        <p:spPr>
          <a:xfrm>
            <a:off x="4315968" y="3118104"/>
            <a:ext cx="51206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757575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6"/>
          <p:cNvSpPr/>
          <p:nvPr/>
        </p:nvSpPr>
        <p:spPr>
          <a:xfrm>
            <a:off x="4846320" y="3118104"/>
            <a:ext cx="3840480" cy="4572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5CA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6"/>
          <p:cNvSpPr/>
          <p:nvPr/>
        </p:nvSpPr>
        <p:spPr>
          <a:xfrm>
            <a:off x="4846320" y="3118104"/>
            <a:ext cx="3840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JTextField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6"/>
          <p:cNvSpPr/>
          <p:nvPr/>
        </p:nvSpPr>
        <p:spPr>
          <a:xfrm>
            <a:off x="457200" y="3630168"/>
            <a:ext cx="3840480" cy="457200"/>
          </a:xfrm>
          <a:prstGeom prst="rect">
            <a:avLst/>
          </a:prstGeom>
          <a:solidFill>
            <a:srgbClr val="E8EAF6"/>
          </a:solidFill>
          <a:ln cap="flat" cmpd="sng" w="12700">
            <a:solidFill>
              <a:srgbClr val="C5CA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6"/>
          <p:cNvSpPr/>
          <p:nvPr/>
        </p:nvSpPr>
        <p:spPr>
          <a:xfrm>
            <a:off x="457200" y="3630168"/>
            <a:ext cx="3840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Button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6"/>
          <p:cNvSpPr/>
          <p:nvPr/>
        </p:nvSpPr>
        <p:spPr>
          <a:xfrm>
            <a:off x="4315968" y="3630168"/>
            <a:ext cx="51206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757575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6"/>
          <p:cNvSpPr/>
          <p:nvPr/>
        </p:nvSpPr>
        <p:spPr>
          <a:xfrm>
            <a:off x="4846320" y="3630168"/>
            <a:ext cx="3840480" cy="457200"/>
          </a:xfrm>
          <a:prstGeom prst="rect">
            <a:avLst/>
          </a:prstGeom>
          <a:solidFill>
            <a:srgbClr val="E8EAF6"/>
          </a:solidFill>
          <a:ln cap="flat" cmpd="sng" w="12700">
            <a:solidFill>
              <a:srgbClr val="C5CA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6"/>
          <p:cNvSpPr/>
          <p:nvPr/>
        </p:nvSpPr>
        <p:spPr>
          <a:xfrm>
            <a:off x="4846320" y="3630168"/>
            <a:ext cx="3840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JButton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Google Shape;149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66710" y="4538345"/>
            <a:ext cx="1116330" cy="525145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7"/>
          <p:cNvSpPr/>
          <p:nvPr/>
        </p:nvSpPr>
        <p:spPr>
          <a:xfrm>
            <a:off x="457200" y="274320"/>
            <a:ext cx="64008" cy="548640"/>
          </a:xfrm>
          <a:prstGeom prst="rect">
            <a:avLst/>
          </a:prstGeom>
          <a:solidFill>
            <a:srgbClr val="1A237E"/>
          </a:solidFill>
          <a:ln cap="flat" cmpd="sng" w="12700">
            <a:solidFill>
              <a:srgbClr val="1A23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7"/>
          <p:cNvSpPr/>
          <p:nvPr/>
        </p:nvSpPr>
        <p:spPr>
          <a:xfrm>
            <a:off x="658368" y="256032"/>
            <a:ext cx="80467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Basic Views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2" name="Google Shape;152;p7"/>
          <p:cNvCxnSpPr/>
          <p:nvPr/>
        </p:nvCxnSpPr>
        <p:spPr>
          <a:xfrm>
            <a:off x="457200" y="960120"/>
            <a:ext cx="8229600" cy="0"/>
          </a:xfrm>
          <a:prstGeom prst="straightConnector1">
            <a:avLst/>
          </a:prstGeom>
          <a:noFill/>
          <a:ln cap="flat" cmpd="sng" w="12700">
            <a:solidFill>
              <a:srgbClr val="C5CAE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3" name="Google Shape;153;p7"/>
          <p:cNvSpPr/>
          <p:nvPr/>
        </p:nvSpPr>
        <p:spPr>
          <a:xfrm>
            <a:off x="365760" y="1097280"/>
            <a:ext cx="2606040" cy="1645920"/>
          </a:xfrm>
          <a:prstGeom prst="rect">
            <a:avLst/>
          </a:prstGeom>
          <a:solidFill>
            <a:srgbClr val="E8EAF6"/>
          </a:solidFill>
          <a:ln cap="flat" cmpd="sng" w="12700">
            <a:solidFill>
              <a:srgbClr val="C5CA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54" name="Google Shape;154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2920" y="1280160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7"/>
          <p:cNvSpPr/>
          <p:nvPr/>
        </p:nvSpPr>
        <p:spPr>
          <a:xfrm>
            <a:off x="1115568" y="1188720"/>
            <a:ext cx="1737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Basic Views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7"/>
          <p:cNvSpPr/>
          <p:nvPr/>
        </p:nvSpPr>
        <p:spPr>
          <a:xfrm>
            <a:off x="1115568" y="1572768"/>
            <a:ext cx="17373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TextView, EditText, Button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7"/>
          <p:cNvSpPr/>
          <p:nvPr/>
        </p:nvSpPr>
        <p:spPr>
          <a:xfrm>
            <a:off x="3200400" y="1097280"/>
            <a:ext cx="2606040" cy="1645920"/>
          </a:xfrm>
          <a:prstGeom prst="rect">
            <a:avLst/>
          </a:prstGeom>
          <a:solidFill>
            <a:srgbClr val="E8EAF6"/>
          </a:solidFill>
          <a:ln cap="flat" cmpd="sng" w="12700">
            <a:solidFill>
              <a:srgbClr val="C5CA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58" name="Google Shape;158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337560" y="1280160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7"/>
          <p:cNvSpPr/>
          <p:nvPr/>
        </p:nvSpPr>
        <p:spPr>
          <a:xfrm>
            <a:off x="3950208" y="1188720"/>
            <a:ext cx="1737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Picker Views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7"/>
          <p:cNvSpPr/>
          <p:nvPr/>
        </p:nvSpPr>
        <p:spPr>
          <a:xfrm>
            <a:off x="3950208" y="1572768"/>
            <a:ext cx="17373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TimePicker, DatePicker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7"/>
          <p:cNvSpPr/>
          <p:nvPr/>
        </p:nvSpPr>
        <p:spPr>
          <a:xfrm>
            <a:off x="6035040" y="1097280"/>
            <a:ext cx="2606040" cy="1645920"/>
          </a:xfrm>
          <a:prstGeom prst="rect">
            <a:avLst/>
          </a:prstGeom>
          <a:solidFill>
            <a:srgbClr val="E8EAF6"/>
          </a:solidFill>
          <a:ln cap="flat" cmpd="sng" w="12700">
            <a:solidFill>
              <a:srgbClr val="C5CA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62" name="Google Shape;162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172200" y="1280160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7"/>
          <p:cNvSpPr/>
          <p:nvPr/>
        </p:nvSpPr>
        <p:spPr>
          <a:xfrm>
            <a:off x="6784848" y="1188720"/>
            <a:ext cx="1737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List Views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7"/>
          <p:cNvSpPr/>
          <p:nvPr/>
        </p:nvSpPr>
        <p:spPr>
          <a:xfrm>
            <a:off x="6784848" y="1572768"/>
            <a:ext cx="17373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ListView, Spinner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7"/>
          <p:cNvSpPr/>
          <p:nvPr/>
        </p:nvSpPr>
        <p:spPr>
          <a:xfrm>
            <a:off x="365760" y="2971800"/>
            <a:ext cx="2606040" cy="1645920"/>
          </a:xfrm>
          <a:prstGeom prst="rect">
            <a:avLst/>
          </a:prstGeom>
          <a:solidFill>
            <a:srgbClr val="E8EAF6"/>
          </a:solidFill>
          <a:ln cap="flat" cmpd="sng" w="12700">
            <a:solidFill>
              <a:srgbClr val="C5CA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66" name="Google Shape;166;p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02920" y="3154680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7"/>
          <p:cNvSpPr/>
          <p:nvPr/>
        </p:nvSpPr>
        <p:spPr>
          <a:xfrm>
            <a:off x="1115568" y="3063240"/>
            <a:ext cx="1737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Display Views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7"/>
          <p:cNvSpPr/>
          <p:nvPr/>
        </p:nvSpPr>
        <p:spPr>
          <a:xfrm>
            <a:off x="1115568" y="3447288"/>
            <a:ext cx="17373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Gallery, ImageSwitcher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7"/>
          <p:cNvSpPr/>
          <p:nvPr/>
        </p:nvSpPr>
        <p:spPr>
          <a:xfrm>
            <a:off x="3200400" y="2971800"/>
            <a:ext cx="2606040" cy="1645920"/>
          </a:xfrm>
          <a:prstGeom prst="rect">
            <a:avLst/>
          </a:prstGeom>
          <a:solidFill>
            <a:srgbClr val="E8EAF6"/>
          </a:solidFill>
          <a:ln cap="flat" cmpd="sng" w="12700">
            <a:solidFill>
              <a:srgbClr val="C5CA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0" name="Google Shape;170;p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337560" y="3154680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7"/>
          <p:cNvSpPr/>
          <p:nvPr/>
        </p:nvSpPr>
        <p:spPr>
          <a:xfrm>
            <a:off x="3950208" y="3063240"/>
            <a:ext cx="1737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Menus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7"/>
          <p:cNvSpPr/>
          <p:nvPr/>
        </p:nvSpPr>
        <p:spPr>
          <a:xfrm>
            <a:off x="3950208" y="3447288"/>
            <a:ext cx="17373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Context-sensitive menu items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7"/>
          <p:cNvSpPr/>
          <p:nvPr/>
        </p:nvSpPr>
        <p:spPr>
          <a:xfrm>
            <a:off x="6035040" y="2971800"/>
            <a:ext cx="2606040" cy="1645920"/>
          </a:xfrm>
          <a:prstGeom prst="rect">
            <a:avLst/>
          </a:prstGeom>
          <a:solidFill>
            <a:srgbClr val="E8EAF6"/>
          </a:solidFill>
          <a:ln cap="flat" cmpd="sng" w="12700">
            <a:solidFill>
              <a:srgbClr val="C5CA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4" name="Google Shape;174;p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172200" y="3154680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7"/>
          <p:cNvSpPr/>
          <p:nvPr/>
        </p:nvSpPr>
        <p:spPr>
          <a:xfrm>
            <a:off x="6784848" y="3063240"/>
            <a:ext cx="1737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Additional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7"/>
          <p:cNvSpPr/>
          <p:nvPr/>
        </p:nvSpPr>
        <p:spPr>
          <a:xfrm>
            <a:off x="6784848" y="3447288"/>
            <a:ext cx="17373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AnalogClock, DigitalClock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2" name="Google Shape;182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66710" y="4538345"/>
            <a:ext cx="1116330" cy="525145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8"/>
          <p:cNvSpPr/>
          <p:nvPr/>
        </p:nvSpPr>
        <p:spPr>
          <a:xfrm>
            <a:off x="457200" y="274320"/>
            <a:ext cx="64008" cy="548640"/>
          </a:xfrm>
          <a:prstGeom prst="rect">
            <a:avLst/>
          </a:prstGeom>
          <a:solidFill>
            <a:srgbClr val="1A237E"/>
          </a:solidFill>
          <a:ln cap="flat" cmpd="sng" w="12700">
            <a:solidFill>
              <a:srgbClr val="1A23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8"/>
          <p:cNvSpPr/>
          <p:nvPr/>
        </p:nvSpPr>
        <p:spPr>
          <a:xfrm>
            <a:off x="658368" y="256032"/>
            <a:ext cx="80467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Basic Views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5" name="Google Shape;185;p8"/>
          <p:cNvCxnSpPr/>
          <p:nvPr/>
        </p:nvCxnSpPr>
        <p:spPr>
          <a:xfrm>
            <a:off x="457200" y="960120"/>
            <a:ext cx="8229600" cy="0"/>
          </a:xfrm>
          <a:prstGeom prst="straightConnector1">
            <a:avLst/>
          </a:prstGeom>
          <a:noFill/>
          <a:ln cap="flat" cmpd="sng" w="12700">
            <a:solidFill>
              <a:srgbClr val="C5CAE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6" name="Google Shape;186;p8"/>
          <p:cNvSpPr/>
          <p:nvPr/>
        </p:nvSpPr>
        <p:spPr>
          <a:xfrm>
            <a:off x="365760" y="1051560"/>
            <a:ext cx="4023360" cy="868680"/>
          </a:xfrm>
          <a:prstGeom prst="rect">
            <a:avLst/>
          </a:prstGeom>
          <a:solidFill>
            <a:srgbClr val="E8EAF6"/>
          </a:solidFill>
          <a:ln cap="flat" cmpd="sng" w="12700">
            <a:solidFill>
              <a:srgbClr val="C5CA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87" name="Google Shape;187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2920" y="1234440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8"/>
          <p:cNvSpPr/>
          <p:nvPr/>
        </p:nvSpPr>
        <p:spPr>
          <a:xfrm>
            <a:off x="1115568" y="1143000"/>
            <a:ext cx="3154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TextView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8"/>
          <p:cNvSpPr/>
          <p:nvPr/>
        </p:nvSpPr>
        <p:spPr>
          <a:xfrm>
            <a:off x="1115568" y="1527048"/>
            <a:ext cx="31546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Display text on screen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8"/>
          <p:cNvSpPr/>
          <p:nvPr/>
        </p:nvSpPr>
        <p:spPr>
          <a:xfrm>
            <a:off x="4800600" y="1051560"/>
            <a:ext cx="4023360" cy="868680"/>
          </a:xfrm>
          <a:prstGeom prst="rect">
            <a:avLst/>
          </a:prstGeom>
          <a:solidFill>
            <a:srgbClr val="E8EAF6"/>
          </a:solidFill>
          <a:ln cap="flat" cmpd="sng" w="12700">
            <a:solidFill>
              <a:srgbClr val="C5CA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91" name="Google Shape;191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937760" y="1234440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8"/>
          <p:cNvSpPr/>
          <p:nvPr/>
        </p:nvSpPr>
        <p:spPr>
          <a:xfrm>
            <a:off x="5550408" y="1143000"/>
            <a:ext cx="3154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EditText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8"/>
          <p:cNvSpPr/>
          <p:nvPr/>
        </p:nvSpPr>
        <p:spPr>
          <a:xfrm>
            <a:off x="5550408" y="1527048"/>
            <a:ext cx="31546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Editable text input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8"/>
          <p:cNvSpPr/>
          <p:nvPr/>
        </p:nvSpPr>
        <p:spPr>
          <a:xfrm>
            <a:off x="365760" y="2039112"/>
            <a:ext cx="4023360" cy="868680"/>
          </a:xfrm>
          <a:prstGeom prst="rect">
            <a:avLst/>
          </a:prstGeom>
          <a:solidFill>
            <a:srgbClr val="E8EAF6"/>
          </a:solidFill>
          <a:ln cap="flat" cmpd="sng" w="12700">
            <a:solidFill>
              <a:srgbClr val="C5CA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95" name="Google Shape;195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02920" y="2221992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8"/>
          <p:cNvSpPr/>
          <p:nvPr/>
        </p:nvSpPr>
        <p:spPr>
          <a:xfrm>
            <a:off x="1115568" y="2130552"/>
            <a:ext cx="3154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Button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8"/>
          <p:cNvSpPr/>
          <p:nvPr/>
        </p:nvSpPr>
        <p:spPr>
          <a:xfrm>
            <a:off x="1115568" y="2514600"/>
            <a:ext cx="31546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Clickable action button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8"/>
          <p:cNvSpPr/>
          <p:nvPr/>
        </p:nvSpPr>
        <p:spPr>
          <a:xfrm>
            <a:off x="4800600" y="2039112"/>
            <a:ext cx="4023360" cy="868680"/>
          </a:xfrm>
          <a:prstGeom prst="rect">
            <a:avLst/>
          </a:prstGeom>
          <a:solidFill>
            <a:srgbClr val="E8EAF6"/>
          </a:solidFill>
          <a:ln cap="flat" cmpd="sng" w="12700">
            <a:solidFill>
              <a:srgbClr val="C5CA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99" name="Google Shape;199;p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937760" y="2221992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8"/>
          <p:cNvSpPr/>
          <p:nvPr/>
        </p:nvSpPr>
        <p:spPr>
          <a:xfrm>
            <a:off x="5550408" y="2130552"/>
            <a:ext cx="3154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ImageButton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8"/>
          <p:cNvSpPr/>
          <p:nvPr/>
        </p:nvSpPr>
        <p:spPr>
          <a:xfrm>
            <a:off x="5550408" y="2514600"/>
            <a:ext cx="31546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Button with image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8"/>
          <p:cNvSpPr/>
          <p:nvPr/>
        </p:nvSpPr>
        <p:spPr>
          <a:xfrm>
            <a:off x="365760" y="3026664"/>
            <a:ext cx="4023360" cy="868680"/>
          </a:xfrm>
          <a:prstGeom prst="rect">
            <a:avLst/>
          </a:prstGeom>
          <a:solidFill>
            <a:srgbClr val="E8EAF6"/>
          </a:solidFill>
          <a:ln cap="flat" cmpd="sng" w="12700">
            <a:solidFill>
              <a:srgbClr val="C5CA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03" name="Google Shape;203;p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02920" y="3209544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8"/>
          <p:cNvSpPr/>
          <p:nvPr/>
        </p:nvSpPr>
        <p:spPr>
          <a:xfrm>
            <a:off x="1115568" y="3118104"/>
            <a:ext cx="3154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CheckBox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8"/>
          <p:cNvSpPr/>
          <p:nvPr/>
        </p:nvSpPr>
        <p:spPr>
          <a:xfrm>
            <a:off x="1115568" y="3502152"/>
            <a:ext cx="31546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Multiple yes/no selection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8"/>
          <p:cNvSpPr/>
          <p:nvPr/>
        </p:nvSpPr>
        <p:spPr>
          <a:xfrm>
            <a:off x="4800600" y="3026664"/>
            <a:ext cx="4023360" cy="868680"/>
          </a:xfrm>
          <a:prstGeom prst="rect">
            <a:avLst/>
          </a:prstGeom>
          <a:solidFill>
            <a:srgbClr val="E8EAF6"/>
          </a:solidFill>
          <a:ln cap="flat" cmpd="sng" w="12700">
            <a:solidFill>
              <a:srgbClr val="C5CA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07" name="Google Shape;207;p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937760" y="3209544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8"/>
          <p:cNvSpPr/>
          <p:nvPr/>
        </p:nvSpPr>
        <p:spPr>
          <a:xfrm>
            <a:off x="5550408" y="3118104"/>
            <a:ext cx="3154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ToggleButton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8"/>
          <p:cNvSpPr/>
          <p:nvPr/>
        </p:nvSpPr>
        <p:spPr>
          <a:xfrm>
            <a:off x="5550408" y="3502152"/>
            <a:ext cx="31546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On/Off toggle switch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8"/>
          <p:cNvSpPr/>
          <p:nvPr/>
        </p:nvSpPr>
        <p:spPr>
          <a:xfrm>
            <a:off x="365760" y="4014216"/>
            <a:ext cx="4023360" cy="868680"/>
          </a:xfrm>
          <a:prstGeom prst="rect">
            <a:avLst/>
          </a:prstGeom>
          <a:solidFill>
            <a:srgbClr val="E8EAF6"/>
          </a:solidFill>
          <a:ln cap="flat" cmpd="sng" w="12700">
            <a:solidFill>
              <a:srgbClr val="C5CA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1" name="Google Shape;211;p8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502920" y="4197096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8"/>
          <p:cNvSpPr/>
          <p:nvPr/>
        </p:nvSpPr>
        <p:spPr>
          <a:xfrm>
            <a:off x="1115568" y="4105656"/>
            <a:ext cx="3154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RadioButton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8"/>
          <p:cNvSpPr/>
          <p:nvPr/>
        </p:nvSpPr>
        <p:spPr>
          <a:xfrm>
            <a:off x="1115568" y="4489704"/>
            <a:ext cx="31546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Single choice selection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8"/>
          <p:cNvSpPr/>
          <p:nvPr/>
        </p:nvSpPr>
        <p:spPr>
          <a:xfrm>
            <a:off x="4800600" y="4014216"/>
            <a:ext cx="4023360" cy="868680"/>
          </a:xfrm>
          <a:prstGeom prst="rect">
            <a:avLst/>
          </a:prstGeom>
          <a:solidFill>
            <a:srgbClr val="E8EAF6"/>
          </a:solidFill>
          <a:ln cap="flat" cmpd="sng" w="12700">
            <a:solidFill>
              <a:srgbClr val="C5CA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5" name="Google Shape;215;p8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4937760" y="4197096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8"/>
          <p:cNvSpPr/>
          <p:nvPr/>
        </p:nvSpPr>
        <p:spPr>
          <a:xfrm>
            <a:off x="5550408" y="4105656"/>
            <a:ext cx="3154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RadioGroup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8"/>
          <p:cNvSpPr/>
          <p:nvPr/>
        </p:nvSpPr>
        <p:spPr>
          <a:xfrm>
            <a:off x="5550408" y="4489704"/>
            <a:ext cx="31546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Groups radio buttons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Google Shape;223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66710" y="4538345"/>
            <a:ext cx="1116330" cy="525145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9"/>
          <p:cNvSpPr/>
          <p:nvPr/>
        </p:nvSpPr>
        <p:spPr>
          <a:xfrm>
            <a:off x="457200" y="274320"/>
            <a:ext cx="64008" cy="548640"/>
          </a:xfrm>
          <a:prstGeom prst="rect">
            <a:avLst/>
          </a:prstGeom>
          <a:solidFill>
            <a:srgbClr val="1A237E"/>
          </a:solidFill>
          <a:ln cap="flat" cmpd="sng" w="12700">
            <a:solidFill>
              <a:srgbClr val="1A23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9"/>
          <p:cNvSpPr/>
          <p:nvPr/>
        </p:nvSpPr>
        <p:spPr>
          <a:xfrm>
            <a:off x="658368" y="256032"/>
            <a:ext cx="80467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TextView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6" name="Google Shape;226;p9"/>
          <p:cNvCxnSpPr/>
          <p:nvPr/>
        </p:nvCxnSpPr>
        <p:spPr>
          <a:xfrm>
            <a:off x="457200" y="960120"/>
            <a:ext cx="8229600" cy="0"/>
          </a:xfrm>
          <a:prstGeom prst="straightConnector1">
            <a:avLst/>
          </a:prstGeom>
          <a:noFill/>
          <a:ln cap="flat" cmpd="sng" w="12700">
            <a:solidFill>
              <a:srgbClr val="C5CAE9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preencoded.png" id="227" name="Google Shape;227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7200" y="1051560"/>
            <a:ext cx="2286000" cy="3108960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9"/>
          <p:cNvSpPr/>
          <p:nvPr/>
        </p:nvSpPr>
        <p:spPr>
          <a:xfrm>
            <a:off x="3017520" y="1097280"/>
            <a:ext cx="5669280" cy="530352"/>
          </a:xfrm>
          <a:prstGeom prst="rect">
            <a:avLst/>
          </a:prstGeom>
          <a:solidFill>
            <a:srgbClr val="E8EAF6"/>
          </a:solidFill>
          <a:ln cap="flat" cmpd="sng" w="12700">
            <a:solidFill>
              <a:srgbClr val="C5CA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9"/>
          <p:cNvSpPr/>
          <p:nvPr/>
        </p:nvSpPr>
        <p:spPr>
          <a:xfrm>
            <a:off x="3108960" y="1133856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Draws text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9"/>
          <p:cNvSpPr/>
          <p:nvPr/>
        </p:nvSpPr>
        <p:spPr>
          <a:xfrm>
            <a:off x="4526280" y="1133856"/>
            <a:ext cx="4023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Basic UI control to draw text on screen.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9"/>
          <p:cNvSpPr/>
          <p:nvPr/>
        </p:nvSpPr>
        <p:spPr>
          <a:xfrm>
            <a:off x="3017520" y="1700784"/>
            <a:ext cx="5669280" cy="53035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5CA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9"/>
          <p:cNvSpPr/>
          <p:nvPr/>
        </p:nvSpPr>
        <p:spPr>
          <a:xfrm>
            <a:off x="3108960" y="173736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Labels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9"/>
          <p:cNvSpPr/>
          <p:nvPr/>
        </p:nvSpPr>
        <p:spPr>
          <a:xfrm>
            <a:off x="4526280" y="1737360"/>
            <a:ext cx="4023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Used for fixed text strings or labels.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9"/>
          <p:cNvSpPr/>
          <p:nvPr/>
        </p:nvSpPr>
        <p:spPr>
          <a:xfrm>
            <a:off x="3017520" y="2304288"/>
            <a:ext cx="5669280" cy="530352"/>
          </a:xfrm>
          <a:prstGeom prst="rect">
            <a:avLst/>
          </a:prstGeom>
          <a:solidFill>
            <a:srgbClr val="E8EAF6"/>
          </a:solidFill>
          <a:ln cap="flat" cmpd="sng" w="12700">
            <a:solidFill>
              <a:srgbClr val="C5CA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9"/>
          <p:cNvSpPr/>
          <p:nvPr/>
        </p:nvSpPr>
        <p:spPr>
          <a:xfrm>
            <a:off x="3108960" y="2340864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Child control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9"/>
          <p:cNvSpPr/>
          <p:nvPr/>
        </p:nvSpPr>
        <p:spPr>
          <a:xfrm>
            <a:off x="4526280" y="2340864"/>
            <a:ext cx="4023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Embedded within other screen elements.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9"/>
          <p:cNvSpPr/>
          <p:nvPr/>
        </p:nvSpPr>
        <p:spPr>
          <a:xfrm>
            <a:off x="3017520" y="2907792"/>
            <a:ext cx="5669280" cy="53035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5CA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9"/>
          <p:cNvSpPr/>
          <p:nvPr/>
        </p:nvSpPr>
        <p:spPr>
          <a:xfrm>
            <a:off x="3108960" y="2944368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Package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9"/>
          <p:cNvSpPr/>
          <p:nvPr/>
        </p:nvSpPr>
        <p:spPr>
          <a:xfrm>
            <a:off x="4526280" y="2944368"/>
            <a:ext cx="4023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Derived from View; in android.widget.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9"/>
          <p:cNvSpPr/>
          <p:nvPr/>
        </p:nvSpPr>
        <p:spPr>
          <a:xfrm>
            <a:off x="3017520" y="3511296"/>
            <a:ext cx="5669280" cy="530352"/>
          </a:xfrm>
          <a:prstGeom prst="rect">
            <a:avLst/>
          </a:prstGeom>
          <a:solidFill>
            <a:srgbClr val="E8EAF6"/>
          </a:solidFill>
          <a:ln cap="flat" cmpd="sng" w="12700">
            <a:solidFill>
              <a:srgbClr val="C5CA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9"/>
          <p:cNvSpPr/>
          <p:nvPr/>
        </p:nvSpPr>
        <p:spPr>
          <a:xfrm>
            <a:off x="3108960" y="3547872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Attributes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9"/>
          <p:cNvSpPr/>
          <p:nvPr/>
        </p:nvSpPr>
        <p:spPr>
          <a:xfrm>
            <a:off x="4526280" y="3547872"/>
            <a:ext cx="4023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width, height, padding, visibility.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9"/>
          <p:cNvSpPr/>
          <p:nvPr/>
        </p:nvSpPr>
        <p:spPr>
          <a:xfrm>
            <a:off x="3017520" y="4114800"/>
            <a:ext cx="5669280" cy="53035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5CA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9"/>
          <p:cNvSpPr/>
          <p:nvPr/>
        </p:nvSpPr>
        <p:spPr>
          <a:xfrm>
            <a:off x="3108960" y="4151376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XML tag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9"/>
          <p:cNvSpPr/>
          <p:nvPr/>
        </p:nvSpPr>
        <p:spPr>
          <a:xfrm>
            <a:off x="4526280" y="4151376"/>
            <a:ext cx="4023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&lt;TextView&gt;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1" name="Google Shape;251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66710" y="4538345"/>
            <a:ext cx="1116330" cy="525145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10"/>
          <p:cNvSpPr/>
          <p:nvPr/>
        </p:nvSpPr>
        <p:spPr>
          <a:xfrm>
            <a:off x="457200" y="274320"/>
            <a:ext cx="64008" cy="548640"/>
          </a:xfrm>
          <a:prstGeom prst="rect">
            <a:avLst/>
          </a:prstGeom>
          <a:solidFill>
            <a:srgbClr val="1A237E"/>
          </a:solidFill>
          <a:ln cap="flat" cmpd="sng" w="12700">
            <a:solidFill>
              <a:srgbClr val="1A23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10"/>
          <p:cNvSpPr/>
          <p:nvPr/>
        </p:nvSpPr>
        <p:spPr>
          <a:xfrm>
            <a:off x="658368" y="256032"/>
            <a:ext cx="80467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TextView and EditText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4" name="Google Shape;254;p10"/>
          <p:cNvCxnSpPr/>
          <p:nvPr/>
        </p:nvCxnSpPr>
        <p:spPr>
          <a:xfrm>
            <a:off x="457200" y="960120"/>
            <a:ext cx="8229600" cy="0"/>
          </a:xfrm>
          <a:prstGeom prst="straightConnector1">
            <a:avLst/>
          </a:prstGeom>
          <a:noFill/>
          <a:ln cap="flat" cmpd="sng" w="12700">
            <a:solidFill>
              <a:srgbClr val="C5CAE9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preencoded.png" id="255" name="Google Shape;255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7200" y="1051560"/>
            <a:ext cx="2743200" cy="3063240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10"/>
          <p:cNvSpPr/>
          <p:nvPr/>
        </p:nvSpPr>
        <p:spPr>
          <a:xfrm>
            <a:off x="3474720" y="1188720"/>
            <a:ext cx="5212080" cy="777240"/>
          </a:xfrm>
          <a:prstGeom prst="rect">
            <a:avLst/>
          </a:prstGeom>
          <a:solidFill>
            <a:srgbClr val="E8EAF6"/>
          </a:solidFill>
          <a:ln cap="flat" cmpd="sng" w="12700">
            <a:solidFill>
              <a:srgbClr val="C5CA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10"/>
          <p:cNvSpPr/>
          <p:nvPr/>
        </p:nvSpPr>
        <p:spPr>
          <a:xfrm>
            <a:off x="3474720" y="1188720"/>
            <a:ext cx="64008" cy="777240"/>
          </a:xfrm>
          <a:prstGeom prst="rect">
            <a:avLst/>
          </a:prstGeom>
          <a:solidFill>
            <a:srgbClr val="1A237E"/>
          </a:solidFill>
          <a:ln cap="flat" cmpd="sng" w="12700">
            <a:solidFill>
              <a:srgbClr val="1A23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10"/>
          <p:cNvSpPr/>
          <p:nvPr/>
        </p:nvSpPr>
        <p:spPr>
          <a:xfrm>
            <a:off x="3657600" y="1252728"/>
            <a:ext cx="48920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TextView displays a text string on screen.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0"/>
          <p:cNvSpPr/>
          <p:nvPr/>
        </p:nvSpPr>
        <p:spPr>
          <a:xfrm>
            <a:off x="3474720" y="2103120"/>
            <a:ext cx="5212080" cy="777240"/>
          </a:xfrm>
          <a:prstGeom prst="rect">
            <a:avLst/>
          </a:prstGeom>
          <a:solidFill>
            <a:srgbClr val="E8EAF6"/>
          </a:solidFill>
          <a:ln cap="flat" cmpd="sng" w="12700">
            <a:solidFill>
              <a:srgbClr val="C5CA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10"/>
          <p:cNvSpPr/>
          <p:nvPr/>
        </p:nvSpPr>
        <p:spPr>
          <a:xfrm>
            <a:off x="3474720" y="2103120"/>
            <a:ext cx="64008" cy="777240"/>
          </a:xfrm>
          <a:prstGeom prst="rect">
            <a:avLst/>
          </a:prstGeom>
          <a:solidFill>
            <a:srgbClr val="1A237E"/>
          </a:solidFill>
          <a:ln cap="flat" cmpd="sng" w="12700">
            <a:solidFill>
              <a:srgbClr val="1A23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10"/>
          <p:cNvSpPr/>
          <p:nvPr/>
        </p:nvSpPr>
        <p:spPr>
          <a:xfrm>
            <a:off x="3657600" y="2167128"/>
            <a:ext cx="48920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Attributes: height, width, font, text color, background.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0"/>
          <p:cNvSpPr/>
          <p:nvPr/>
        </p:nvSpPr>
        <p:spPr>
          <a:xfrm>
            <a:off x="3474720" y="3017520"/>
            <a:ext cx="5212080" cy="777240"/>
          </a:xfrm>
          <a:prstGeom prst="rect">
            <a:avLst/>
          </a:prstGeom>
          <a:solidFill>
            <a:srgbClr val="E8EAF6"/>
          </a:solidFill>
          <a:ln cap="flat" cmpd="sng" w="12700">
            <a:solidFill>
              <a:srgbClr val="C5CA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10"/>
          <p:cNvSpPr/>
          <p:nvPr/>
        </p:nvSpPr>
        <p:spPr>
          <a:xfrm>
            <a:off x="3474720" y="3017520"/>
            <a:ext cx="64008" cy="777240"/>
          </a:xfrm>
          <a:prstGeom prst="rect">
            <a:avLst/>
          </a:prstGeom>
          <a:solidFill>
            <a:srgbClr val="1A237E"/>
          </a:solidFill>
          <a:ln cap="flat" cmpd="sng" w="12700">
            <a:solidFill>
              <a:srgbClr val="1A23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10"/>
          <p:cNvSpPr/>
          <p:nvPr/>
        </p:nvSpPr>
        <p:spPr>
          <a:xfrm>
            <a:off x="3657600" y="3081528"/>
            <a:ext cx="48920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EditText is an editable version of TextView.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0"/>
          <p:cNvSpPr/>
          <p:nvPr/>
        </p:nvSpPr>
        <p:spPr>
          <a:xfrm>
            <a:off x="3474720" y="3931920"/>
            <a:ext cx="5212080" cy="777240"/>
          </a:xfrm>
          <a:prstGeom prst="rect">
            <a:avLst/>
          </a:prstGeom>
          <a:solidFill>
            <a:srgbClr val="E8EAF6"/>
          </a:solidFill>
          <a:ln cap="flat" cmpd="sng" w="12700">
            <a:solidFill>
              <a:srgbClr val="C5CA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10"/>
          <p:cNvSpPr/>
          <p:nvPr/>
        </p:nvSpPr>
        <p:spPr>
          <a:xfrm>
            <a:off x="3474720" y="3931920"/>
            <a:ext cx="64008" cy="777240"/>
          </a:xfrm>
          <a:prstGeom prst="rect">
            <a:avLst/>
          </a:prstGeom>
          <a:solidFill>
            <a:srgbClr val="1A237E"/>
          </a:solidFill>
          <a:ln cap="flat" cmpd="sng" w="12700">
            <a:solidFill>
              <a:srgbClr val="1A23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10"/>
          <p:cNvSpPr/>
          <p:nvPr/>
        </p:nvSpPr>
        <p:spPr>
          <a:xfrm>
            <a:off x="3657600" y="3995928"/>
            <a:ext cx="48920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Accepts user input; used in forms and login screens.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3" name="Google Shape;273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66710" y="4538345"/>
            <a:ext cx="1116330" cy="525145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11"/>
          <p:cNvSpPr/>
          <p:nvPr/>
        </p:nvSpPr>
        <p:spPr>
          <a:xfrm>
            <a:off x="457200" y="274320"/>
            <a:ext cx="64008" cy="548640"/>
          </a:xfrm>
          <a:prstGeom prst="rect">
            <a:avLst/>
          </a:prstGeom>
          <a:solidFill>
            <a:srgbClr val="1A237E"/>
          </a:solidFill>
          <a:ln cap="flat" cmpd="sng" w="12700">
            <a:solidFill>
              <a:srgbClr val="1A23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11"/>
          <p:cNvSpPr/>
          <p:nvPr/>
        </p:nvSpPr>
        <p:spPr>
          <a:xfrm>
            <a:off x="658368" y="256032"/>
            <a:ext cx="80467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Button and ImageButton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6" name="Google Shape;276;p11"/>
          <p:cNvCxnSpPr/>
          <p:nvPr/>
        </p:nvCxnSpPr>
        <p:spPr>
          <a:xfrm>
            <a:off x="457200" y="960120"/>
            <a:ext cx="8229600" cy="0"/>
          </a:xfrm>
          <a:prstGeom prst="straightConnector1">
            <a:avLst/>
          </a:prstGeom>
          <a:noFill/>
          <a:ln cap="flat" cmpd="sng" w="12700">
            <a:solidFill>
              <a:srgbClr val="C5CAE9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preencoded.png" id="277" name="Google Shape;277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7200" y="1051560"/>
            <a:ext cx="2743200" cy="3063240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11"/>
          <p:cNvSpPr/>
          <p:nvPr/>
        </p:nvSpPr>
        <p:spPr>
          <a:xfrm>
            <a:off x="3474720" y="1188720"/>
            <a:ext cx="5212080" cy="777240"/>
          </a:xfrm>
          <a:prstGeom prst="rect">
            <a:avLst/>
          </a:prstGeom>
          <a:solidFill>
            <a:srgbClr val="E8EAF6"/>
          </a:solidFill>
          <a:ln cap="flat" cmpd="sng" w="12700">
            <a:solidFill>
              <a:srgbClr val="C5CA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11"/>
          <p:cNvSpPr/>
          <p:nvPr/>
        </p:nvSpPr>
        <p:spPr>
          <a:xfrm>
            <a:off x="3474720" y="1188720"/>
            <a:ext cx="64008" cy="777240"/>
          </a:xfrm>
          <a:prstGeom prst="rect">
            <a:avLst/>
          </a:prstGeom>
          <a:solidFill>
            <a:srgbClr val="1A237E"/>
          </a:solidFill>
          <a:ln cap="flat" cmpd="sng" w="12700">
            <a:solidFill>
              <a:srgbClr val="1A23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11"/>
          <p:cNvSpPr/>
          <p:nvPr/>
        </p:nvSpPr>
        <p:spPr>
          <a:xfrm>
            <a:off x="3657600" y="1252728"/>
            <a:ext cx="48920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Button — clickable control with a text label.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1"/>
          <p:cNvSpPr/>
          <p:nvPr/>
        </p:nvSpPr>
        <p:spPr>
          <a:xfrm>
            <a:off x="3474720" y="2103120"/>
            <a:ext cx="5212080" cy="777240"/>
          </a:xfrm>
          <a:prstGeom prst="rect">
            <a:avLst/>
          </a:prstGeom>
          <a:solidFill>
            <a:srgbClr val="E8EAF6"/>
          </a:solidFill>
          <a:ln cap="flat" cmpd="sng" w="12700">
            <a:solidFill>
              <a:srgbClr val="C5CA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11"/>
          <p:cNvSpPr/>
          <p:nvPr/>
        </p:nvSpPr>
        <p:spPr>
          <a:xfrm>
            <a:off x="3474720" y="2103120"/>
            <a:ext cx="64008" cy="777240"/>
          </a:xfrm>
          <a:prstGeom prst="rect">
            <a:avLst/>
          </a:prstGeom>
          <a:solidFill>
            <a:srgbClr val="1A237E"/>
          </a:solidFill>
          <a:ln cap="flat" cmpd="sng" w="12700">
            <a:solidFill>
              <a:srgbClr val="1A23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11"/>
          <p:cNvSpPr/>
          <p:nvPr/>
        </p:nvSpPr>
        <p:spPr>
          <a:xfrm>
            <a:off x="3657600" y="2167128"/>
            <a:ext cx="48920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User taps it to trigger an action.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1"/>
          <p:cNvSpPr/>
          <p:nvPr/>
        </p:nvSpPr>
        <p:spPr>
          <a:xfrm>
            <a:off x="3474720" y="3017520"/>
            <a:ext cx="5212080" cy="777240"/>
          </a:xfrm>
          <a:prstGeom prst="rect">
            <a:avLst/>
          </a:prstGeom>
          <a:solidFill>
            <a:srgbClr val="E8EAF6"/>
          </a:solidFill>
          <a:ln cap="flat" cmpd="sng" w="12700">
            <a:solidFill>
              <a:srgbClr val="C5CA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11"/>
          <p:cNvSpPr/>
          <p:nvPr/>
        </p:nvSpPr>
        <p:spPr>
          <a:xfrm>
            <a:off x="3474720" y="3017520"/>
            <a:ext cx="64008" cy="777240"/>
          </a:xfrm>
          <a:prstGeom prst="rect">
            <a:avLst/>
          </a:prstGeom>
          <a:solidFill>
            <a:srgbClr val="1A237E"/>
          </a:solidFill>
          <a:ln cap="flat" cmpd="sng" w="12700">
            <a:solidFill>
              <a:srgbClr val="1A23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11"/>
          <p:cNvSpPr/>
          <p:nvPr/>
        </p:nvSpPr>
        <p:spPr>
          <a:xfrm>
            <a:off x="3657600" y="3081528"/>
            <a:ext cx="48920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ImageButton — displays an image instead of text.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1"/>
          <p:cNvSpPr/>
          <p:nvPr/>
        </p:nvSpPr>
        <p:spPr>
          <a:xfrm>
            <a:off x="3474720" y="3931920"/>
            <a:ext cx="5212080" cy="777240"/>
          </a:xfrm>
          <a:prstGeom prst="rect">
            <a:avLst/>
          </a:prstGeom>
          <a:solidFill>
            <a:srgbClr val="E8EAF6"/>
          </a:solidFill>
          <a:ln cap="flat" cmpd="sng" w="12700">
            <a:solidFill>
              <a:srgbClr val="C5CA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11"/>
          <p:cNvSpPr/>
          <p:nvPr/>
        </p:nvSpPr>
        <p:spPr>
          <a:xfrm>
            <a:off x="3474720" y="3931920"/>
            <a:ext cx="64008" cy="777240"/>
          </a:xfrm>
          <a:prstGeom prst="rect">
            <a:avLst/>
          </a:prstGeom>
          <a:solidFill>
            <a:srgbClr val="1A237E"/>
          </a:solidFill>
          <a:ln cap="flat" cmpd="sng" w="12700">
            <a:solidFill>
              <a:srgbClr val="1A23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11"/>
          <p:cNvSpPr/>
          <p:nvPr/>
        </p:nvSpPr>
        <p:spPr>
          <a:xfrm>
            <a:off x="3657600" y="3995928"/>
            <a:ext cx="48920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Used in visual, mobile-oriented interfaces.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5" name="Google Shape;295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66710" y="4538345"/>
            <a:ext cx="1116330" cy="525145"/>
          </a:xfrm>
          <a:prstGeom prst="rect">
            <a:avLst/>
          </a:prstGeom>
          <a:noFill/>
          <a:ln>
            <a:noFill/>
          </a:ln>
        </p:spPr>
      </p:pic>
      <p:sp>
        <p:nvSpPr>
          <p:cNvPr id="296" name="Google Shape;296;p12"/>
          <p:cNvSpPr/>
          <p:nvPr/>
        </p:nvSpPr>
        <p:spPr>
          <a:xfrm>
            <a:off x="457200" y="274320"/>
            <a:ext cx="64008" cy="548640"/>
          </a:xfrm>
          <a:prstGeom prst="rect">
            <a:avLst/>
          </a:prstGeom>
          <a:solidFill>
            <a:srgbClr val="1A237E"/>
          </a:solidFill>
          <a:ln cap="flat" cmpd="sng" w="12700">
            <a:solidFill>
              <a:srgbClr val="1A23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12"/>
          <p:cNvSpPr/>
          <p:nvPr/>
        </p:nvSpPr>
        <p:spPr>
          <a:xfrm>
            <a:off x="658368" y="256032"/>
            <a:ext cx="80467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Adapters and AdapterViews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8" name="Google Shape;298;p12"/>
          <p:cNvCxnSpPr/>
          <p:nvPr/>
        </p:nvCxnSpPr>
        <p:spPr>
          <a:xfrm>
            <a:off x="457200" y="960120"/>
            <a:ext cx="8229600" cy="0"/>
          </a:xfrm>
          <a:prstGeom prst="straightConnector1">
            <a:avLst/>
          </a:prstGeom>
          <a:noFill/>
          <a:ln cap="flat" cmpd="sng" w="12700">
            <a:solidFill>
              <a:srgbClr val="C5CAE9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preencoded.png" id="299" name="Google Shape;299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7200" y="1051560"/>
            <a:ext cx="8229600" cy="2194560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12"/>
          <p:cNvSpPr/>
          <p:nvPr/>
        </p:nvSpPr>
        <p:spPr>
          <a:xfrm>
            <a:off x="457200" y="3429000"/>
            <a:ext cx="8229600" cy="502920"/>
          </a:xfrm>
          <a:prstGeom prst="rect">
            <a:avLst/>
          </a:prstGeom>
          <a:solidFill>
            <a:srgbClr val="E8EAF6"/>
          </a:solidFill>
          <a:ln cap="flat" cmpd="sng" w="12700">
            <a:solidFill>
              <a:srgbClr val="C5CA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12"/>
          <p:cNvSpPr/>
          <p:nvPr/>
        </p:nvSpPr>
        <p:spPr>
          <a:xfrm>
            <a:off x="457200" y="3429000"/>
            <a:ext cx="64008" cy="502920"/>
          </a:xfrm>
          <a:prstGeom prst="rect">
            <a:avLst/>
          </a:prstGeom>
          <a:solidFill>
            <a:srgbClr val="1A237E"/>
          </a:solidFill>
          <a:ln cap="flat" cmpd="sng" w="12700">
            <a:solidFill>
              <a:srgbClr val="1A23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12"/>
          <p:cNvSpPr/>
          <p:nvPr/>
        </p:nvSpPr>
        <p:spPr>
          <a:xfrm>
            <a:off x="640080" y="3474720"/>
            <a:ext cx="78638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Adapter — takes data and creates Views for display.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2"/>
          <p:cNvSpPr/>
          <p:nvPr/>
        </p:nvSpPr>
        <p:spPr>
          <a:xfrm>
            <a:off x="457200" y="3995928"/>
            <a:ext cx="8229600" cy="5029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5CA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12"/>
          <p:cNvSpPr/>
          <p:nvPr/>
        </p:nvSpPr>
        <p:spPr>
          <a:xfrm>
            <a:off x="457200" y="3995928"/>
            <a:ext cx="64008" cy="502920"/>
          </a:xfrm>
          <a:prstGeom prst="rect">
            <a:avLst/>
          </a:prstGeom>
          <a:solidFill>
            <a:srgbClr val="1A237E"/>
          </a:solidFill>
          <a:ln cap="flat" cmpd="sng" w="12700">
            <a:solidFill>
              <a:srgbClr val="1A23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12"/>
          <p:cNvSpPr/>
          <p:nvPr/>
        </p:nvSpPr>
        <p:spPr>
          <a:xfrm>
            <a:off x="640080" y="4041648"/>
            <a:ext cx="78638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AdapterView — displays data provided by an Adapter.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2"/>
          <p:cNvSpPr/>
          <p:nvPr/>
        </p:nvSpPr>
        <p:spPr>
          <a:xfrm>
            <a:off x="457200" y="4562856"/>
            <a:ext cx="8229600" cy="502920"/>
          </a:xfrm>
          <a:prstGeom prst="rect">
            <a:avLst/>
          </a:prstGeom>
          <a:solidFill>
            <a:srgbClr val="E8EAF6"/>
          </a:solidFill>
          <a:ln cap="flat" cmpd="sng" w="12700">
            <a:solidFill>
              <a:srgbClr val="C5CA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12"/>
          <p:cNvSpPr/>
          <p:nvPr/>
        </p:nvSpPr>
        <p:spPr>
          <a:xfrm>
            <a:off x="457200" y="4562856"/>
            <a:ext cx="64008" cy="502920"/>
          </a:xfrm>
          <a:prstGeom prst="rect">
            <a:avLst/>
          </a:prstGeom>
          <a:solidFill>
            <a:srgbClr val="1A237E"/>
          </a:solidFill>
          <a:ln cap="flat" cmpd="sng" w="12700">
            <a:solidFill>
              <a:srgbClr val="1A23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12"/>
          <p:cNvSpPr/>
          <p:nvPr/>
        </p:nvSpPr>
        <p:spPr>
          <a:xfrm>
            <a:off x="640080" y="4608576"/>
            <a:ext cx="78638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Subclasses: ListView, GridView, Spinner, Gallery.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13"/>
          <p:cNvSpPr/>
          <p:nvPr/>
        </p:nvSpPr>
        <p:spPr>
          <a:xfrm>
            <a:off x="457200" y="274320"/>
            <a:ext cx="64008" cy="548640"/>
          </a:xfrm>
          <a:prstGeom prst="rect">
            <a:avLst/>
          </a:prstGeom>
          <a:solidFill>
            <a:srgbClr val="1A237E"/>
          </a:solidFill>
          <a:ln cap="flat" cmpd="sng" w="12700">
            <a:solidFill>
              <a:srgbClr val="1A23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13"/>
          <p:cNvSpPr/>
          <p:nvPr/>
        </p:nvSpPr>
        <p:spPr>
          <a:xfrm>
            <a:off x="658368" y="256032"/>
            <a:ext cx="80467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CheckBoxes, RadioButtons, and Spinners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16" name="Google Shape;316;p13"/>
          <p:cNvCxnSpPr/>
          <p:nvPr/>
        </p:nvCxnSpPr>
        <p:spPr>
          <a:xfrm>
            <a:off x="457200" y="960120"/>
            <a:ext cx="8229600" cy="0"/>
          </a:xfrm>
          <a:prstGeom prst="straightConnector1">
            <a:avLst/>
          </a:prstGeom>
          <a:noFill/>
          <a:ln cap="flat" cmpd="sng" w="12700">
            <a:solidFill>
              <a:srgbClr val="C5CAE9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317" name="Google Shape;317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66710" y="4538345"/>
            <a:ext cx="1116330" cy="52514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18" name="Google Shape;318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7200" y="1005840"/>
            <a:ext cx="8229600" cy="3886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4" name="Google Shape;324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66710" y="4538345"/>
            <a:ext cx="1116330" cy="525145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14"/>
          <p:cNvSpPr/>
          <p:nvPr/>
        </p:nvSpPr>
        <p:spPr>
          <a:xfrm>
            <a:off x="457200" y="274320"/>
            <a:ext cx="64008" cy="548640"/>
          </a:xfrm>
          <a:prstGeom prst="rect">
            <a:avLst/>
          </a:prstGeom>
          <a:solidFill>
            <a:srgbClr val="1A237E"/>
          </a:solidFill>
          <a:ln cap="flat" cmpd="sng" w="12700">
            <a:solidFill>
              <a:srgbClr val="1A23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14"/>
          <p:cNvSpPr/>
          <p:nvPr/>
        </p:nvSpPr>
        <p:spPr>
          <a:xfrm>
            <a:off x="658368" y="256032"/>
            <a:ext cx="80467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Viewgroups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27" name="Google Shape;327;p14"/>
          <p:cNvCxnSpPr/>
          <p:nvPr/>
        </p:nvCxnSpPr>
        <p:spPr>
          <a:xfrm>
            <a:off x="457200" y="960120"/>
            <a:ext cx="8229600" cy="0"/>
          </a:xfrm>
          <a:prstGeom prst="straightConnector1">
            <a:avLst/>
          </a:prstGeom>
          <a:noFill/>
          <a:ln cap="flat" cmpd="sng" w="12700">
            <a:solidFill>
              <a:srgbClr val="C5CAE9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preencoded.png" id="328" name="Google Shape;328;p14"/>
          <p:cNvPicPr preferRelativeResize="0"/>
          <p:nvPr/>
        </p:nvPicPr>
        <p:blipFill rotWithShape="1">
          <a:blip r:embed="rId4">
            <a:alphaModFix/>
          </a:blip>
          <a:srcRect b="5455" l="0" r="2676" t="0"/>
          <a:stretch/>
        </p:blipFill>
        <p:spPr>
          <a:xfrm>
            <a:off x="457200" y="1005849"/>
            <a:ext cx="8009674" cy="363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4" name="Google Shape;334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66710" y="4538345"/>
            <a:ext cx="1116330" cy="525145"/>
          </a:xfrm>
          <a:prstGeom prst="rect">
            <a:avLst/>
          </a:prstGeom>
          <a:noFill/>
          <a:ln>
            <a:noFill/>
          </a:ln>
        </p:spPr>
      </p:pic>
      <p:sp>
        <p:nvSpPr>
          <p:cNvPr id="335" name="Google Shape;335;p15"/>
          <p:cNvSpPr/>
          <p:nvPr/>
        </p:nvSpPr>
        <p:spPr>
          <a:xfrm>
            <a:off x="457200" y="274320"/>
            <a:ext cx="64008" cy="548640"/>
          </a:xfrm>
          <a:prstGeom prst="rect">
            <a:avLst/>
          </a:prstGeom>
          <a:solidFill>
            <a:srgbClr val="1A237E"/>
          </a:solidFill>
          <a:ln cap="flat" cmpd="sng" w="12700">
            <a:solidFill>
              <a:srgbClr val="1A23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15"/>
          <p:cNvSpPr/>
          <p:nvPr/>
        </p:nvSpPr>
        <p:spPr>
          <a:xfrm>
            <a:off x="658368" y="256032"/>
            <a:ext cx="80467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Gallery and GridView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37" name="Google Shape;337;p15"/>
          <p:cNvCxnSpPr/>
          <p:nvPr/>
        </p:nvCxnSpPr>
        <p:spPr>
          <a:xfrm>
            <a:off x="457200" y="960120"/>
            <a:ext cx="8229600" cy="0"/>
          </a:xfrm>
          <a:prstGeom prst="straightConnector1">
            <a:avLst/>
          </a:prstGeom>
          <a:noFill/>
          <a:ln cap="flat" cmpd="sng" w="12700">
            <a:solidFill>
              <a:srgbClr val="C5CAE9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preencoded.png" id="338" name="Google Shape;338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7200" y="1005840"/>
            <a:ext cx="8229600" cy="3840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4" name="Google Shape;344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66710" y="4538345"/>
            <a:ext cx="1116330" cy="525145"/>
          </a:xfrm>
          <a:prstGeom prst="rect">
            <a:avLst/>
          </a:prstGeom>
          <a:noFill/>
          <a:ln>
            <a:noFill/>
          </a:ln>
        </p:spPr>
      </p:pic>
      <p:sp>
        <p:nvSpPr>
          <p:cNvPr id="345" name="Google Shape;345;p16"/>
          <p:cNvSpPr/>
          <p:nvPr/>
        </p:nvSpPr>
        <p:spPr>
          <a:xfrm>
            <a:off x="457200" y="274320"/>
            <a:ext cx="64008" cy="548640"/>
          </a:xfrm>
          <a:prstGeom prst="rect">
            <a:avLst/>
          </a:prstGeom>
          <a:solidFill>
            <a:srgbClr val="1A237E"/>
          </a:solidFill>
          <a:ln cap="flat" cmpd="sng" w="12700">
            <a:solidFill>
              <a:srgbClr val="1A23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16"/>
          <p:cNvSpPr/>
          <p:nvPr/>
        </p:nvSpPr>
        <p:spPr>
          <a:xfrm>
            <a:off x="658368" y="256032"/>
            <a:ext cx="80467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Gallery and GridView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47" name="Google Shape;347;p16"/>
          <p:cNvCxnSpPr/>
          <p:nvPr/>
        </p:nvCxnSpPr>
        <p:spPr>
          <a:xfrm>
            <a:off x="457200" y="960120"/>
            <a:ext cx="8229600" cy="0"/>
          </a:xfrm>
          <a:prstGeom prst="straightConnector1">
            <a:avLst/>
          </a:prstGeom>
          <a:noFill/>
          <a:ln cap="flat" cmpd="sng" w="12700">
            <a:solidFill>
              <a:srgbClr val="C5CAE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48" name="Google Shape;348;p16"/>
          <p:cNvSpPr/>
          <p:nvPr/>
        </p:nvSpPr>
        <p:spPr>
          <a:xfrm>
            <a:off x="457200" y="1097280"/>
            <a:ext cx="2286000" cy="3657600"/>
          </a:xfrm>
          <a:prstGeom prst="rect">
            <a:avLst/>
          </a:prstGeom>
          <a:solidFill>
            <a:srgbClr val="E8EAF6"/>
          </a:solidFill>
          <a:ln cap="flat" cmpd="sng" w="12700">
            <a:solidFill>
              <a:srgbClr val="C5CA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49" name="Google Shape;349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7240" y="1691640"/>
            <a:ext cx="1645920" cy="1645920"/>
          </a:xfrm>
          <a:prstGeom prst="rect">
            <a:avLst/>
          </a:prstGeom>
          <a:noFill/>
          <a:ln>
            <a:noFill/>
          </a:ln>
        </p:spPr>
      </p:pic>
      <p:sp>
        <p:nvSpPr>
          <p:cNvPr id="350" name="Google Shape;350;p16"/>
          <p:cNvSpPr/>
          <p:nvPr/>
        </p:nvSpPr>
        <p:spPr>
          <a:xfrm>
            <a:off x="2926080" y="1097280"/>
            <a:ext cx="5760720" cy="530352"/>
          </a:xfrm>
          <a:prstGeom prst="rect">
            <a:avLst/>
          </a:prstGeom>
          <a:solidFill>
            <a:srgbClr val="E8EAF6"/>
          </a:solidFill>
          <a:ln cap="flat" cmpd="sng" w="12700">
            <a:solidFill>
              <a:srgbClr val="C5CA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16"/>
          <p:cNvSpPr/>
          <p:nvPr/>
        </p:nvSpPr>
        <p:spPr>
          <a:xfrm>
            <a:off x="3017520" y="1143000"/>
            <a:ext cx="14630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Slideshow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6"/>
          <p:cNvSpPr/>
          <p:nvPr/>
        </p:nvSpPr>
        <p:spPr>
          <a:xfrm>
            <a:off x="4526280" y="1143000"/>
            <a:ext cx="40233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Start a slideshow of gallery images.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6"/>
          <p:cNvSpPr/>
          <p:nvPr/>
        </p:nvSpPr>
        <p:spPr>
          <a:xfrm>
            <a:off x="2926080" y="1700784"/>
            <a:ext cx="5760720" cy="53035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5CA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16"/>
          <p:cNvSpPr/>
          <p:nvPr/>
        </p:nvSpPr>
        <p:spPr>
          <a:xfrm>
            <a:off x="3017520" y="1746504"/>
            <a:ext cx="14630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New Album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6"/>
          <p:cNvSpPr/>
          <p:nvPr/>
        </p:nvSpPr>
        <p:spPr>
          <a:xfrm>
            <a:off x="4526280" y="1746504"/>
            <a:ext cx="40233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Create a new album.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6"/>
          <p:cNvSpPr/>
          <p:nvPr/>
        </p:nvSpPr>
        <p:spPr>
          <a:xfrm>
            <a:off x="2926080" y="2304288"/>
            <a:ext cx="5760720" cy="530352"/>
          </a:xfrm>
          <a:prstGeom prst="rect">
            <a:avLst/>
          </a:prstGeom>
          <a:solidFill>
            <a:srgbClr val="E8EAF6"/>
          </a:solidFill>
          <a:ln cap="flat" cmpd="sng" w="12700">
            <a:solidFill>
              <a:srgbClr val="C5CA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16"/>
          <p:cNvSpPr/>
          <p:nvPr/>
        </p:nvSpPr>
        <p:spPr>
          <a:xfrm>
            <a:off x="3017520" y="2350008"/>
            <a:ext cx="14630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View by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6"/>
          <p:cNvSpPr/>
          <p:nvPr/>
        </p:nvSpPr>
        <p:spPr>
          <a:xfrm>
            <a:off x="4526280" y="2350008"/>
            <a:ext cx="40233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Filter: All, Device, Facebook, Picasa.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16"/>
          <p:cNvSpPr/>
          <p:nvPr/>
        </p:nvSpPr>
        <p:spPr>
          <a:xfrm>
            <a:off x="2926080" y="2907792"/>
            <a:ext cx="5760720" cy="53035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5CA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16"/>
          <p:cNvSpPr/>
          <p:nvPr/>
        </p:nvSpPr>
        <p:spPr>
          <a:xfrm>
            <a:off x="3017520" y="2953512"/>
            <a:ext cx="14630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Select Album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6"/>
          <p:cNvSpPr/>
          <p:nvPr/>
        </p:nvSpPr>
        <p:spPr>
          <a:xfrm>
            <a:off x="4526280" y="2953512"/>
            <a:ext cx="40233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Delete, share, or slideshow albums.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6"/>
          <p:cNvSpPr/>
          <p:nvPr/>
        </p:nvSpPr>
        <p:spPr>
          <a:xfrm>
            <a:off x="2926080" y="3511296"/>
            <a:ext cx="5760720" cy="530352"/>
          </a:xfrm>
          <a:prstGeom prst="rect">
            <a:avLst/>
          </a:prstGeom>
          <a:solidFill>
            <a:srgbClr val="E8EAF6"/>
          </a:solidFill>
          <a:ln cap="flat" cmpd="sng" w="12700">
            <a:solidFill>
              <a:srgbClr val="C5CA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16"/>
          <p:cNvSpPr/>
          <p:nvPr/>
        </p:nvSpPr>
        <p:spPr>
          <a:xfrm>
            <a:off x="3017520" y="3557016"/>
            <a:ext cx="14630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Nearby Scan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6"/>
          <p:cNvSpPr/>
          <p:nvPr/>
        </p:nvSpPr>
        <p:spPr>
          <a:xfrm>
            <a:off x="4526280" y="3557016"/>
            <a:ext cx="40233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Share with nearby devices wirelessly.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16"/>
          <p:cNvSpPr/>
          <p:nvPr/>
        </p:nvSpPr>
        <p:spPr>
          <a:xfrm>
            <a:off x="2926080" y="4114800"/>
            <a:ext cx="5760720" cy="53035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5CA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16"/>
          <p:cNvSpPr/>
          <p:nvPr/>
        </p:nvSpPr>
        <p:spPr>
          <a:xfrm>
            <a:off x="3017520" y="4160520"/>
            <a:ext cx="14630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Hide/Show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16"/>
          <p:cNvSpPr/>
          <p:nvPr/>
        </p:nvSpPr>
        <p:spPr>
          <a:xfrm>
            <a:off x="4526280" y="4160520"/>
            <a:ext cx="40233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Toggle nearby devices' albums.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3" name="Google Shape;373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66710" y="4538345"/>
            <a:ext cx="1116330" cy="525145"/>
          </a:xfrm>
          <a:prstGeom prst="rect">
            <a:avLst/>
          </a:prstGeom>
          <a:noFill/>
          <a:ln>
            <a:noFill/>
          </a:ln>
        </p:spPr>
      </p:pic>
      <p:sp>
        <p:nvSpPr>
          <p:cNvPr id="374" name="Google Shape;374;p17"/>
          <p:cNvSpPr/>
          <p:nvPr/>
        </p:nvSpPr>
        <p:spPr>
          <a:xfrm>
            <a:off x="457200" y="274320"/>
            <a:ext cx="64008" cy="548640"/>
          </a:xfrm>
          <a:prstGeom prst="rect">
            <a:avLst/>
          </a:prstGeom>
          <a:solidFill>
            <a:srgbClr val="1A237E"/>
          </a:solidFill>
          <a:ln cap="flat" cmpd="sng" w="12700">
            <a:solidFill>
              <a:srgbClr val="1A23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17"/>
          <p:cNvSpPr/>
          <p:nvPr/>
        </p:nvSpPr>
        <p:spPr>
          <a:xfrm>
            <a:off x="658368" y="256032"/>
            <a:ext cx="80467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ListView and ListActivity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76" name="Google Shape;376;p17"/>
          <p:cNvCxnSpPr/>
          <p:nvPr/>
        </p:nvCxnSpPr>
        <p:spPr>
          <a:xfrm>
            <a:off x="457200" y="960120"/>
            <a:ext cx="8229600" cy="0"/>
          </a:xfrm>
          <a:prstGeom prst="straightConnector1">
            <a:avLst/>
          </a:prstGeom>
          <a:noFill/>
          <a:ln cap="flat" cmpd="sng" w="12700">
            <a:solidFill>
              <a:srgbClr val="C5CAE9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preencoded.png" id="377" name="Google Shape;377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7200" y="1051560"/>
            <a:ext cx="2286000" cy="3017520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17"/>
          <p:cNvSpPr/>
          <p:nvPr/>
        </p:nvSpPr>
        <p:spPr>
          <a:xfrm>
            <a:off x="3017520" y="1188720"/>
            <a:ext cx="5669280" cy="777240"/>
          </a:xfrm>
          <a:prstGeom prst="rect">
            <a:avLst/>
          </a:prstGeom>
          <a:solidFill>
            <a:srgbClr val="E8EAF6"/>
          </a:solidFill>
          <a:ln cap="flat" cmpd="sng" w="12700">
            <a:solidFill>
              <a:srgbClr val="C5CA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17"/>
          <p:cNvSpPr/>
          <p:nvPr/>
        </p:nvSpPr>
        <p:spPr>
          <a:xfrm>
            <a:off x="3017520" y="1188720"/>
            <a:ext cx="64008" cy="777240"/>
          </a:xfrm>
          <a:prstGeom prst="rect">
            <a:avLst/>
          </a:prstGeom>
          <a:solidFill>
            <a:srgbClr val="1A237E"/>
          </a:solidFill>
          <a:ln cap="flat" cmpd="sng" w="12700">
            <a:solidFill>
              <a:srgbClr val="1A23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17"/>
          <p:cNvSpPr/>
          <p:nvPr/>
        </p:nvSpPr>
        <p:spPr>
          <a:xfrm>
            <a:off x="3200400" y="1261872"/>
            <a:ext cx="53949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ListActivity — subclass of Activity with a built-in ListView.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17"/>
          <p:cNvSpPr/>
          <p:nvPr/>
        </p:nvSpPr>
        <p:spPr>
          <a:xfrm>
            <a:off x="3017520" y="2103120"/>
            <a:ext cx="5669280" cy="777240"/>
          </a:xfrm>
          <a:prstGeom prst="rect">
            <a:avLst/>
          </a:prstGeom>
          <a:solidFill>
            <a:srgbClr val="E8EAF6"/>
          </a:solidFill>
          <a:ln cap="flat" cmpd="sng" w="12700">
            <a:solidFill>
              <a:srgbClr val="C5CA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17"/>
          <p:cNvSpPr/>
          <p:nvPr/>
        </p:nvSpPr>
        <p:spPr>
          <a:xfrm>
            <a:off x="3017520" y="2103120"/>
            <a:ext cx="64008" cy="777240"/>
          </a:xfrm>
          <a:prstGeom prst="rect">
            <a:avLst/>
          </a:prstGeom>
          <a:solidFill>
            <a:srgbClr val="1A237E"/>
          </a:solidFill>
          <a:ln cap="flat" cmpd="sng" w="12700">
            <a:solidFill>
              <a:srgbClr val="1A23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17"/>
          <p:cNvSpPr/>
          <p:nvPr/>
        </p:nvSpPr>
        <p:spPr>
          <a:xfrm>
            <a:off x="3200400" y="2176272"/>
            <a:ext cx="53949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Can connect to arrays or query cursors as data sources.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17"/>
          <p:cNvSpPr/>
          <p:nvPr/>
        </p:nvSpPr>
        <p:spPr>
          <a:xfrm>
            <a:off x="3017520" y="3017520"/>
            <a:ext cx="5669280" cy="777240"/>
          </a:xfrm>
          <a:prstGeom prst="rect">
            <a:avLst/>
          </a:prstGeom>
          <a:solidFill>
            <a:srgbClr val="E8EAF6"/>
          </a:solidFill>
          <a:ln cap="flat" cmpd="sng" w="12700">
            <a:solidFill>
              <a:srgbClr val="C5CA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17"/>
          <p:cNvSpPr/>
          <p:nvPr/>
        </p:nvSpPr>
        <p:spPr>
          <a:xfrm>
            <a:off x="3017520" y="3017520"/>
            <a:ext cx="64008" cy="777240"/>
          </a:xfrm>
          <a:prstGeom prst="rect">
            <a:avLst/>
          </a:prstGeom>
          <a:solidFill>
            <a:srgbClr val="1A237E"/>
          </a:solidFill>
          <a:ln cap="flat" cmpd="sng" w="12700">
            <a:solidFill>
              <a:srgbClr val="1A23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17"/>
          <p:cNvSpPr/>
          <p:nvPr/>
        </p:nvSpPr>
        <p:spPr>
          <a:xfrm>
            <a:off x="3200400" y="3090672"/>
            <a:ext cx="53949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Displays items as a scrollable list on screen.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17"/>
          <p:cNvSpPr/>
          <p:nvPr/>
        </p:nvSpPr>
        <p:spPr>
          <a:xfrm>
            <a:off x="3017520" y="3931920"/>
            <a:ext cx="5669280" cy="777240"/>
          </a:xfrm>
          <a:prstGeom prst="rect">
            <a:avLst/>
          </a:prstGeom>
          <a:solidFill>
            <a:srgbClr val="E8EAF6"/>
          </a:solidFill>
          <a:ln cap="flat" cmpd="sng" w="12700">
            <a:solidFill>
              <a:srgbClr val="C5CA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17"/>
          <p:cNvSpPr/>
          <p:nvPr/>
        </p:nvSpPr>
        <p:spPr>
          <a:xfrm>
            <a:off x="3017520" y="3931920"/>
            <a:ext cx="64008" cy="777240"/>
          </a:xfrm>
          <a:prstGeom prst="rect">
            <a:avLst/>
          </a:prstGeom>
          <a:solidFill>
            <a:srgbClr val="1A237E"/>
          </a:solidFill>
          <a:ln cap="flat" cmpd="sng" w="12700">
            <a:solidFill>
              <a:srgbClr val="1A23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17"/>
          <p:cNvSpPr/>
          <p:nvPr/>
        </p:nvSpPr>
        <p:spPr>
          <a:xfrm>
            <a:off x="3200400" y="4005072"/>
            <a:ext cx="53949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Use setListAdapter() with an ArrayAdapter to populate.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5" name="Google Shape;395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66710" y="4538345"/>
            <a:ext cx="1116330" cy="525145"/>
          </a:xfrm>
          <a:prstGeom prst="rect">
            <a:avLst/>
          </a:prstGeom>
          <a:noFill/>
          <a:ln>
            <a:noFill/>
          </a:ln>
        </p:spPr>
      </p:pic>
      <p:sp>
        <p:nvSpPr>
          <p:cNvPr id="396" name="Google Shape;396;p18"/>
          <p:cNvSpPr/>
          <p:nvPr/>
        </p:nvSpPr>
        <p:spPr>
          <a:xfrm>
            <a:off x="457200" y="274320"/>
            <a:ext cx="64008" cy="548640"/>
          </a:xfrm>
          <a:prstGeom prst="rect">
            <a:avLst/>
          </a:prstGeom>
          <a:solidFill>
            <a:srgbClr val="1A237E"/>
          </a:solidFill>
          <a:ln cap="flat" cmpd="sng" w="12700">
            <a:solidFill>
              <a:srgbClr val="1A23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18"/>
          <p:cNvSpPr/>
          <p:nvPr/>
        </p:nvSpPr>
        <p:spPr>
          <a:xfrm>
            <a:off x="658368" y="256032"/>
            <a:ext cx="80467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ScrollView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98" name="Google Shape;398;p18"/>
          <p:cNvCxnSpPr/>
          <p:nvPr/>
        </p:nvCxnSpPr>
        <p:spPr>
          <a:xfrm>
            <a:off x="457200" y="960120"/>
            <a:ext cx="8229600" cy="0"/>
          </a:xfrm>
          <a:prstGeom prst="straightConnector1">
            <a:avLst/>
          </a:prstGeom>
          <a:noFill/>
          <a:ln cap="flat" cmpd="sng" w="12700">
            <a:solidFill>
              <a:srgbClr val="C5CAE9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preencoded.png" id="399" name="Google Shape;399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7200" y="1051560"/>
            <a:ext cx="2286000" cy="3017520"/>
          </a:xfrm>
          <a:prstGeom prst="rect">
            <a:avLst/>
          </a:prstGeom>
          <a:noFill/>
          <a:ln>
            <a:noFill/>
          </a:ln>
        </p:spPr>
      </p:pic>
      <p:sp>
        <p:nvSpPr>
          <p:cNvPr id="400" name="Google Shape;400;p18"/>
          <p:cNvSpPr/>
          <p:nvPr/>
        </p:nvSpPr>
        <p:spPr>
          <a:xfrm>
            <a:off x="3017520" y="1188720"/>
            <a:ext cx="5669280" cy="777240"/>
          </a:xfrm>
          <a:prstGeom prst="rect">
            <a:avLst/>
          </a:prstGeom>
          <a:solidFill>
            <a:srgbClr val="E8EAF6"/>
          </a:solidFill>
          <a:ln cap="flat" cmpd="sng" w="12700">
            <a:solidFill>
              <a:srgbClr val="C5CA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p18"/>
          <p:cNvSpPr/>
          <p:nvPr/>
        </p:nvSpPr>
        <p:spPr>
          <a:xfrm>
            <a:off x="3017520" y="1188720"/>
            <a:ext cx="64008" cy="777240"/>
          </a:xfrm>
          <a:prstGeom prst="rect">
            <a:avLst/>
          </a:prstGeom>
          <a:solidFill>
            <a:srgbClr val="1A237E"/>
          </a:solidFill>
          <a:ln cap="flat" cmpd="sng" w="12700">
            <a:solidFill>
              <a:srgbClr val="1A23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18"/>
          <p:cNvSpPr/>
          <p:nvPr/>
        </p:nvSpPr>
        <p:spPr>
          <a:xfrm>
            <a:off x="3200400" y="1261872"/>
            <a:ext cx="53949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Container that enables vertical scrolling of its child View.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18"/>
          <p:cNvSpPr/>
          <p:nvPr/>
        </p:nvSpPr>
        <p:spPr>
          <a:xfrm>
            <a:off x="3017520" y="2103120"/>
            <a:ext cx="5669280" cy="777240"/>
          </a:xfrm>
          <a:prstGeom prst="rect">
            <a:avLst/>
          </a:prstGeom>
          <a:solidFill>
            <a:srgbClr val="E8EAF6"/>
          </a:solidFill>
          <a:ln cap="flat" cmpd="sng" w="12700">
            <a:solidFill>
              <a:srgbClr val="C5CA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18"/>
          <p:cNvSpPr/>
          <p:nvPr/>
        </p:nvSpPr>
        <p:spPr>
          <a:xfrm>
            <a:off x="3017520" y="2103120"/>
            <a:ext cx="64008" cy="777240"/>
          </a:xfrm>
          <a:prstGeom prst="rect">
            <a:avLst/>
          </a:prstGeom>
          <a:solidFill>
            <a:srgbClr val="1A237E"/>
          </a:solidFill>
          <a:ln cap="flat" cmpd="sng" w="12700">
            <a:solidFill>
              <a:srgbClr val="1A23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18"/>
          <p:cNvSpPr/>
          <p:nvPr/>
        </p:nvSpPr>
        <p:spPr>
          <a:xfrm>
            <a:off x="3200400" y="2176272"/>
            <a:ext cx="53949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Often wraps a LinearLayout with multiple Views.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18"/>
          <p:cNvSpPr/>
          <p:nvPr/>
        </p:nvSpPr>
        <p:spPr>
          <a:xfrm>
            <a:off x="3017520" y="3017520"/>
            <a:ext cx="5669280" cy="777240"/>
          </a:xfrm>
          <a:prstGeom prst="rect">
            <a:avLst/>
          </a:prstGeom>
          <a:solidFill>
            <a:srgbClr val="E8EAF6"/>
          </a:solidFill>
          <a:ln cap="flat" cmpd="sng" w="12700">
            <a:solidFill>
              <a:srgbClr val="C5CA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p18"/>
          <p:cNvSpPr/>
          <p:nvPr/>
        </p:nvSpPr>
        <p:spPr>
          <a:xfrm>
            <a:off x="3017520" y="3017520"/>
            <a:ext cx="64008" cy="777240"/>
          </a:xfrm>
          <a:prstGeom prst="rect">
            <a:avLst/>
          </a:prstGeom>
          <a:solidFill>
            <a:srgbClr val="1A237E"/>
          </a:solidFill>
          <a:ln cap="flat" cmpd="sng" w="12700">
            <a:solidFill>
              <a:srgbClr val="1A23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p18"/>
          <p:cNvSpPr/>
          <p:nvPr/>
        </p:nvSpPr>
        <p:spPr>
          <a:xfrm>
            <a:off x="3200400" y="3090672"/>
            <a:ext cx="53949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Allows any View to scroll vertically.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18"/>
          <p:cNvSpPr/>
          <p:nvPr/>
        </p:nvSpPr>
        <p:spPr>
          <a:xfrm>
            <a:off x="3017520" y="3931920"/>
            <a:ext cx="5669280" cy="777240"/>
          </a:xfrm>
          <a:prstGeom prst="rect">
            <a:avLst/>
          </a:prstGeom>
          <a:solidFill>
            <a:srgbClr val="E8EAF6"/>
          </a:solidFill>
          <a:ln cap="flat" cmpd="sng" w="12700">
            <a:solidFill>
              <a:srgbClr val="C5CA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18"/>
          <p:cNvSpPr/>
          <p:nvPr/>
        </p:nvSpPr>
        <p:spPr>
          <a:xfrm>
            <a:off x="3017520" y="3931920"/>
            <a:ext cx="64008" cy="777240"/>
          </a:xfrm>
          <a:prstGeom prst="rect">
            <a:avLst/>
          </a:prstGeom>
          <a:solidFill>
            <a:srgbClr val="1A237E"/>
          </a:solidFill>
          <a:ln cap="flat" cmpd="sng" w="12700">
            <a:solidFill>
              <a:srgbClr val="1A23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p18"/>
          <p:cNvSpPr/>
          <p:nvPr/>
        </p:nvSpPr>
        <p:spPr>
          <a:xfrm>
            <a:off x="3200400" y="4005072"/>
            <a:ext cx="53949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Avoid placing a ListView inside a ScrollView.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7" name="Google Shape;417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78360" y="114945"/>
            <a:ext cx="1116330" cy="525145"/>
          </a:xfrm>
          <a:prstGeom prst="rect">
            <a:avLst/>
          </a:prstGeom>
          <a:noFill/>
          <a:ln>
            <a:noFill/>
          </a:ln>
          <a:effectLst>
            <a:reflection blurRad="0" dir="5400000" dist="38100" endA="0" endPos="30000" fadeDir="5400012" kx="0" rotWithShape="0" algn="bl" stPos="0" sy="-100000" ky="0"/>
          </a:effectLst>
        </p:spPr>
      </p:pic>
      <p:sp>
        <p:nvSpPr>
          <p:cNvPr id="418" name="Google Shape;418;p19"/>
          <p:cNvSpPr/>
          <p:nvPr/>
        </p:nvSpPr>
        <p:spPr>
          <a:xfrm>
            <a:off x="457200" y="274320"/>
            <a:ext cx="64008" cy="548640"/>
          </a:xfrm>
          <a:prstGeom prst="rect">
            <a:avLst/>
          </a:prstGeom>
          <a:solidFill>
            <a:srgbClr val="1A237E"/>
          </a:solidFill>
          <a:ln cap="flat" cmpd="sng" w="12700">
            <a:solidFill>
              <a:srgbClr val="1A23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p19"/>
          <p:cNvSpPr/>
          <p:nvPr/>
        </p:nvSpPr>
        <p:spPr>
          <a:xfrm>
            <a:off x="658368" y="256032"/>
            <a:ext cx="80467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TabHost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20" name="Google Shape;420;p19"/>
          <p:cNvCxnSpPr/>
          <p:nvPr/>
        </p:nvCxnSpPr>
        <p:spPr>
          <a:xfrm>
            <a:off x="457200" y="960120"/>
            <a:ext cx="8229600" cy="0"/>
          </a:xfrm>
          <a:prstGeom prst="straightConnector1">
            <a:avLst/>
          </a:prstGeom>
          <a:noFill/>
          <a:ln cap="flat" cmpd="sng" w="12700">
            <a:solidFill>
              <a:srgbClr val="C5CAE9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preencoded.png" id="421" name="Google Shape;421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7200" y="1051560"/>
            <a:ext cx="2743200" cy="3063240"/>
          </a:xfrm>
          <a:prstGeom prst="rect">
            <a:avLst/>
          </a:prstGeom>
          <a:noFill/>
          <a:ln>
            <a:noFill/>
          </a:ln>
        </p:spPr>
      </p:pic>
      <p:sp>
        <p:nvSpPr>
          <p:cNvPr id="422" name="Google Shape;422;p19"/>
          <p:cNvSpPr/>
          <p:nvPr/>
        </p:nvSpPr>
        <p:spPr>
          <a:xfrm>
            <a:off x="3474720" y="1188720"/>
            <a:ext cx="5212080" cy="685800"/>
          </a:xfrm>
          <a:prstGeom prst="rect">
            <a:avLst/>
          </a:prstGeom>
          <a:solidFill>
            <a:srgbClr val="E8EAF6"/>
          </a:solidFill>
          <a:ln cap="flat" cmpd="sng" w="12700">
            <a:solidFill>
              <a:srgbClr val="C5CA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p19"/>
          <p:cNvSpPr/>
          <p:nvPr/>
        </p:nvSpPr>
        <p:spPr>
          <a:xfrm>
            <a:off x="3474720" y="1188720"/>
            <a:ext cx="64008" cy="685800"/>
          </a:xfrm>
          <a:prstGeom prst="rect">
            <a:avLst/>
          </a:prstGeom>
          <a:solidFill>
            <a:srgbClr val="1A237E"/>
          </a:solidFill>
          <a:ln cap="flat" cmpd="sng" w="12700">
            <a:solidFill>
              <a:srgbClr val="1A23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p19"/>
          <p:cNvSpPr/>
          <p:nvPr/>
        </p:nvSpPr>
        <p:spPr>
          <a:xfrm>
            <a:off x="3630168" y="1280160"/>
            <a:ext cx="49377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Lets users navigate multiple pages using tabs.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19"/>
          <p:cNvSpPr/>
          <p:nvPr/>
        </p:nvSpPr>
        <p:spPr>
          <a:xfrm>
            <a:off x="3474720" y="1965960"/>
            <a:ext cx="5212080" cy="6858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5CA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p19"/>
          <p:cNvSpPr/>
          <p:nvPr/>
        </p:nvSpPr>
        <p:spPr>
          <a:xfrm>
            <a:off x="3474720" y="1965960"/>
            <a:ext cx="64008" cy="685800"/>
          </a:xfrm>
          <a:prstGeom prst="rect">
            <a:avLst/>
          </a:prstGeom>
          <a:solidFill>
            <a:srgbClr val="1A237E"/>
          </a:solidFill>
          <a:ln cap="flat" cmpd="sng" w="12700">
            <a:solidFill>
              <a:srgbClr val="1A23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p19"/>
          <p:cNvSpPr/>
          <p:nvPr/>
        </p:nvSpPr>
        <p:spPr>
          <a:xfrm>
            <a:off x="3630168" y="2057400"/>
            <a:ext cx="49377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Each tab press shows a different screen of content.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19"/>
          <p:cNvSpPr/>
          <p:nvPr/>
        </p:nvSpPr>
        <p:spPr>
          <a:xfrm>
            <a:off x="3474720" y="2743200"/>
            <a:ext cx="5212080" cy="685800"/>
          </a:xfrm>
          <a:prstGeom prst="rect">
            <a:avLst/>
          </a:prstGeom>
          <a:solidFill>
            <a:srgbClr val="E8EAF6"/>
          </a:solidFill>
          <a:ln cap="flat" cmpd="sng" w="12700">
            <a:solidFill>
              <a:srgbClr val="C5CA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" name="Google Shape;429;p19"/>
          <p:cNvSpPr/>
          <p:nvPr/>
        </p:nvSpPr>
        <p:spPr>
          <a:xfrm>
            <a:off x="3630168" y="2834640"/>
            <a:ext cx="49377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  • Set content to an Intent.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19"/>
          <p:cNvSpPr/>
          <p:nvPr/>
        </p:nvSpPr>
        <p:spPr>
          <a:xfrm>
            <a:off x="3474720" y="3520440"/>
            <a:ext cx="5212080" cy="6858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5CA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p19"/>
          <p:cNvSpPr/>
          <p:nvPr/>
        </p:nvSpPr>
        <p:spPr>
          <a:xfrm>
            <a:off x="3630168" y="3611880"/>
            <a:ext cx="49377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  • Use TabContentFactory (on-the-fly).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19"/>
          <p:cNvSpPr/>
          <p:nvPr/>
        </p:nvSpPr>
        <p:spPr>
          <a:xfrm>
            <a:off x="3474720" y="4297680"/>
            <a:ext cx="5212080" cy="685800"/>
          </a:xfrm>
          <a:prstGeom prst="rect">
            <a:avLst/>
          </a:prstGeom>
          <a:solidFill>
            <a:srgbClr val="E8EAF6"/>
          </a:solidFill>
          <a:ln cap="flat" cmpd="sng" w="12700">
            <a:solidFill>
              <a:srgbClr val="C5CA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Google Shape;433;p19"/>
          <p:cNvSpPr/>
          <p:nvPr/>
        </p:nvSpPr>
        <p:spPr>
          <a:xfrm>
            <a:off x="3630168" y="4389120"/>
            <a:ext cx="49377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  • Load from an XML layout file.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237E"/>
        </a:solidFill>
      </p:bgPr>
    </p:bg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20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283593"/>
          </a:solidFill>
          <a:ln cap="flat" cmpd="sng" w="12700">
            <a:solidFill>
              <a:srgbClr val="2835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40" name="Google Shape;440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8000" y="640080"/>
            <a:ext cx="1828800" cy="2926080"/>
          </a:xfrm>
          <a:prstGeom prst="rect">
            <a:avLst/>
          </a:prstGeom>
          <a:noFill/>
          <a:ln>
            <a:noFill/>
          </a:ln>
        </p:spPr>
      </p:pic>
      <p:sp>
        <p:nvSpPr>
          <p:cNvPr id="441" name="Google Shape;441;p20"/>
          <p:cNvSpPr/>
          <p:nvPr/>
        </p:nvSpPr>
        <p:spPr>
          <a:xfrm>
            <a:off x="457200" y="1371600"/>
            <a:ext cx="621792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Calibri"/>
              <a:buNone/>
            </a:pPr>
            <a:r>
              <a:rPr b="1" i="0" lang="en-US" sz="5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Thank you</a:t>
            </a:r>
            <a:endParaRPr b="0" i="0" sz="5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20"/>
          <p:cNvSpPr/>
          <p:nvPr/>
        </p:nvSpPr>
        <p:spPr>
          <a:xfrm>
            <a:off x="457200" y="2743200"/>
            <a:ext cx="62179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A8DA"/>
              </a:buClr>
              <a:buSzPts val="1600"/>
              <a:buFont typeface="Calibri"/>
              <a:buNone/>
            </a:pPr>
            <a:r>
              <a:rPr b="0" i="1" lang="en-US" sz="1600" u="none" cap="none" strike="noStrike">
                <a:solidFill>
                  <a:srgbClr val="9FA8DA"/>
                </a:solidFill>
                <a:latin typeface="Calibri"/>
                <a:ea typeface="Calibri"/>
                <a:cs typeface="Calibri"/>
                <a:sym typeface="Calibri"/>
              </a:rPr>
              <a:t>Android Views &amp; UI Components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43" name="Google Shape;443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66710" y="4538345"/>
            <a:ext cx="1116330" cy="5251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2026-06-03T07:43:00Z</dcterms:created>
  <dc:creator>PptxGenJS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1033-12.1.0.26880</vt:lpwstr>
  </property>
  <property fmtid="{D5CDD505-2E9C-101B-9397-08002B2CF9AE}" pid="3" name="ICV">
    <vt:lpwstr>D7766301C393479FA64E9979A783BEC0_12</vt:lpwstr>
  </property>
</Properties>
</file>