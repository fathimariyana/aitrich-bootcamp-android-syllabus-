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6" r:id="rId21"/>
    <p:sldId id="277" r:id="rId22"/>
    <p:sldId id="279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852295" y="2171700"/>
            <a:ext cx="543941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</a:rPr>
              <a:t>LAYOUTS</a:t>
            </a:r>
            <a:endParaRPr lang="en-US" sz="4500" b="1" dirty="0">
              <a:solidFill>
                <a:srgbClr val="FFFFFF"/>
              </a:solidFill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Layout?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The foundation of Android 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D8"/>
                </a:solidFill>
              </a:rPr>
              <a:t>A Layout is a container that defines how UI elements (Views) are arranged and positioned on the screen. It controls the visual structure of your app's interface.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023360" cy="128016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9" name="Text 7"/>
          <p:cNvSpPr/>
          <p:nvPr/>
        </p:nvSpPr>
        <p:spPr>
          <a:xfrm>
            <a:off x="475488" y="1828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ViewGroup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A Layout is a subclass of ViewGroup — it holds and organizes child views.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28016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3" name="Text 11"/>
          <p:cNvSpPr/>
          <p:nvPr/>
        </p:nvSpPr>
        <p:spPr>
          <a:xfrm>
            <a:off x="4864608" y="1828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XML-based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2084832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Layouts are usually defined in XML files inside the res/layout/ folder.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28016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7" name="Text 15"/>
          <p:cNvSpPr/>
          <p:nvPr/>
        </p:nvSpPr>
        <p:spPr>
          <a:xfrm>
            <a:off x="475488" y="32461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 Visual 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502152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They control size, position, alignment and spacing of all UI elements.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4023360" cy="128016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21" name="Text 19"/>
          <p:cNvSpPr/>
          <p:nvPr/>
        </p:nvSpPr>
        <p:spPr>
          <a:xfrm>
            <a:off x="4864608" y="32461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 Inflated at Runtime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3502152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Android inflates XML layouts into View objects when the activity loads.</a:t>
            </a:r>
            <a:endParaRPr lang="en-US" sz="10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View vs ViewGroup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Core building blocks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840480" cy="3474720"/>
          </a:xfrm>
          <a:prstGeom prst="rect">
            <a:avLst/>
          </a:prstGeom>
          <a:solidFill>
            <a:srgbClr val="0F7173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single UI element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Draws something on screen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 • TextView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 • Button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 • ImageView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 • EditText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840480" cy="3474720"/>
          </a:xfrm>
          <a:prstGeom prst="rect">
            <a:avLst/>
          </a:prstGeom>
          <a:solidFill>
            <a:srgbClr val="0A4A5A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3840480" cy="45720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1" name="Text 9"/>
          <p:cNvSpPr/>
          <p:nvPr/>
        </p:nvSpPr>
        <p:spPr>
          <a:xfrm>
            <a:off x="4846320" y="960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VIEWGROUP (Layout)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A container for other Views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Invisible itself — just arranges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  • LinearLayout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  • ConstraintLayout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  • FrameLayout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8"/>
                </a:solidFill>
              </a:rPr>
              <a:t>  • RelativeLayout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2560320"/>
            <a:ext cx="502920" cy="73152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4" name="Text 12"/>
          <p:cNvSpPr/>
          <p:nvPr/>
        </p:nvSpPr>
        <p:spPr>
          <a:xfrm>
            <a:off x="4206240" y="23774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5B5"/>
                </a:solidFill>
              </a:rPr>
              <a:t>extends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6" name="Text 9"/>
          <p:cNvSpPr/>
          <p:nvPr/>
        </p:nvSpPr>
        <p:spPr>
          <a:xfrm>
            <a:off x="475615" y="960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VIEW</a:t>
            </a:r>
            <a:endParaRPr lang="en-US" sz="16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Common Layout Attributes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Properties every layout uses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7" name="Text 5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Attribute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96012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96012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07592"/>
            <a:ext cx="8412480" cy="43891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1" name="Text 9"/>
          <p:cNvSpPr/>
          <p:nvPr/>
        </p:nvSpPr>
        <p:spPr>
          <a:xfrm>
            <a:off x="502920" y="130759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layout_width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3075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D8"/>
                </a:solidFill>
              </a:rPr>
              <a:t>Sets the width of the 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3075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match_parent / wrap_content / dp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764792"/>
            <a:ext cx="8412480" cy="438912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5" name="Text 13"/>
          <p:cNvSpPr/>
          <p:nvPr/>
        </p:nvSpPr>
        <p:spPr>
          <a:xfrm>
            <a:off x="502920" y="176479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layout_height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17647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D8"/>
                </a:solidFill>
              </a:rPr>
              <a:t>Sets the height of the 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7647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match_parent / wrap_content / dp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21992"/>
            <a:ext cx="8412480" cy="43891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9" name="Text 17"/>
          <p:cNvSpPr/>
          <p:nvPr/>
        </p:nvSpPr>
        <p:spPr>
          <a:xfrm>
            <a:off x="502920" y="222199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layout_margin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2219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D8"/>
                </a:solidFill>
              </a:rPr>
              <a:t>Space outside the view boundary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2219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8dp, 16dp 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79192"/>
            <a:ext cx="8412480" cy="438912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23" name="Text 21"/>
          <p:cNvSpPr/>
          <p:nvPr/>
        </p:nvSpPr>
        <p:spPr>
          <a:xfrm>
            <a:off x="502920" y="267919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padding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26791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D8"/>
                </a:solidFill>
              </a:rPr>
              <a:t>Space inside the view boundary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6791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8dp, 16dp …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136392"/>
            <a:ext cx="8412480" cy="43891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27" name="Text 25"/>
          <p:cNvSpPr/>
          <p:nvPr/>
        </p:nvSpPr>
        <p:spPr>
          <a:xfrm>
            <a:off x="502920" y="313639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gravity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1363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D8"/>
                </a:solidFill>
              </a:rPr>
              <a:t>Aligns content inside the 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1363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center, start, end, top …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593592"/>
            <a:ext cx="8412480" cy="438912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31" name="Text 29"/>
          <p:cNvSpPr/>
          <p:nvPr/>
        </p:nvSpPr>
        <p:spPr>
          <a:xfrm>
            <a:off x="502920" y="359359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layout_gravity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35935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D8"/>
                </a:solidFill>
              </a:rPr>
              <a:t>Aligns the view within parent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5935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center, start, end …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LinearLayout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Arrange views in a single row or column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LinearLayout stacks its children one after another, either horizontally or vertically. It is simple to use and ideal when views need to be placed in a 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931920" cy="1051560"/>
          </a:xfrm>
          <a:prstGeom prst="rect">
            <a:avLst/>
          </a:prstGeom>
          <a:solidFill>
            <a:srgbClr val="0F7173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27632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⬇️  VERTICAL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</a:rPr>
              <a:t>Views stack top to bottom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1051560"/>
          </a:xfrm>
          <a:prstGeom prst="rect">
            <a:avLst/>
          </a:prstGeom>
          <a:solidFill>
            <a:srgbClr val="0F7173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627632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➡️  HORIZONTAL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02996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</a:rPr>
              <a:t>Views arrange left to right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24785"/>
            <a:ext cx="8412480" cy="2243455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24785"/>
            <a:ext cx="87630" cy="2251075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5" name="Text 13"/>
          <p:cNvSpPr/>
          <p:nvPr/>
        </p:nvSpPr>
        <p:spPr>
          <a:xfrm>
            <a:off x="502920" y="2724912"/>
            <a:ext cx="8229600" cy="219456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&lt;LinearLayout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android:orientation="vertical"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android:layout_height="wrap_content"&gt;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&lt;TextView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android:text="Hello"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android:text="Click Me"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&lt;/LinearLayout&gt;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LinearLayout — layout_weight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9662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The layout_weight attribute lets you assign a relative size to views inside a LinearLayout. Views with higher weight take more available space.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18920"/>
            <a:ext cx="1943100" cy="640080"/>
          </a:xfrm>
          <a:prstGeom prst="rect">
            <a:avLst/>
          </a:prstGeom>
          <a:solidFill>
            <a:srgbClr val="0F7173"/>
          </a:solidFill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18920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weight=1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8900" y="1518920"/>
            <a:ext cx="3886200" cy="64008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0" name="Text 8"/>
          <p:cNvSpPr/>
          <p:nvPr/>
        </p:nvSpPr>
        <p:spPr>
          <a:xfrm>
            <a:off x="2628900" y="1512570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weight=2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15100" y="1518920"/>
            <a:ext cx="1943100" cy="640080"/>
          </a:xfrm>
          <a:prstGeom prst="rect">
            <a:avLst/>
          </a:prstGeom>
          <a:solidFill>
            <a:srgbClr val="0A4A5A"/>
          </a:solidFill>
        </p:spPr>
      </p:sp>
      <p:sp>
        <p:nvSpPr>
          <p:cNvPr id="12" name="Text 10"/>
          <p:cNvSpPr/>
          <p:nvPr/>
        </p:nvSpPr>
        <p:spPr>
          <a:xfrm>
            <a:off x="6515100" y="1518920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weight=1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19960"/>
            <a:ext cx="8412480" cy="282956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73152" cy="256032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5" name="Text 13"/>
          <p:cNvSpPr/>
          <p:nvPr/>
        </p:nvSpPr>
        <p:spPr>
          <a:xfrm>
            <a:off x="502920" y="2331720"/>
            <a:ext cx="8229600" cy="25603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&lt;LinearLayout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android:orientation="horizontal"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android:layout_height="wrap_content"&gt;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 android:text="Left"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android:layout_width="0dp"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android:layout_weight="1"/&gt;</a:t>
            </a:r>
            <a:endParaRPr lang="en-US" sz="950" dirty="0"/>
          </a:p>
          <a:p>
            <a:pPr marL="457200" lvl="1" indent="0">
              <a:buNone/>
            </a:pP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 android:text="Center"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android:layout_width="0dp"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android:layout_weight="2"/&gt;</a:t>
            </a:r>
            <a:endParaRPr lang="en-US" sz="950" dirty="0"/>
          </a:p>
          <a:p>
            <a:pPr marL="457200" lvl="1" indent="0">
              <a:buNone/>
            </a:pP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 android:text="Right"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android:layout_width="0dp"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</a:t>
            </a:r>
            <a:endParaRPr lang="en-US" sz="950" dirty="0"/>
          </a:p>
          <a:p>
            <a:pPr marL="457200" lvl="1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android:layout_weight="1"/&gt;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&lt;/LinearLayout&gt;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  <p:txBody>
          <a:bodyPr/>
          <a:p>
            <a:r>
              <a:rPr lang="en-US"/>
              <a:t>X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RelativeLayout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737235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RelativeLayout lets you place each view relative to the parent container or to other views using relationship rules. It is flexible but can get complex with deep hierarchies.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95857"/>
            <a:ext cx="8412480" cy="365760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8" name="Shape 6"/>
          <p:cNvSpPr/>
          <p:nvPr/>
        </p:nvSpPr>
        <p:spPr>
          <a:xfrm>
            <a:off x="320040" y="1395857"/>
            <a:ext cx="45720" cy="3657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9" name="Text 7"/>
          <p:cNvSpPr/>
          <p:nvPr/>
        </p:nvSpPr>
        <p:spPr>
          <a:xfrm>
            <a:off x="548640" y="1389507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layout_alignParentTop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43475" y="1389507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Align to top of parent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13433"/>
            <a:ext cx="8412480" cy="365760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2" name="Shape 10"/>
          <p:cNvSpPr/>
          <p:nvPr/>
        </p:nvSpPr>
        <p:spPr>
          <a:xfrm>
            <a:off x="320040" y="1813433"/>
            <a:ext cx="45720" cy="3657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3" name="Text 11"/>
          <p:cNvSpPr/>
          <p:nvPr/>
        </p:nvSpPr>
        <p:spPr>
          <a:xfrm>
            <a:off x="548640" y="1813433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layout_centerInParent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43475" y="1813433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Center inside parent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31644"/>
            <a:ext cx="8412480" cy="365760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6" name="Shape 14"/>
          <p:cNvSpPr/>
          <p:nvPr/>
        </p:nvSpPr>
        <p:spPr>
          <a:xfrm>
            <a:off x="320040" y="2231644"/>
            <a:ext cx="45720" cy="3657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7" name="Text 15"/>
          <p:cNvSpPr/>
          <p:nvPr/>
        </p:nvSpPr>
        <p:spPr>
          <a:xfrm>
            <a:off x="548640" y="223164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layout_below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43475" y="223164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Place below another 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34310"/>
            <a:ext cx="8412480" cy="365760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20" name="Shape 18"/>
          <p:cNvSpPr/>
          <p:nvPr/>
        </p:nvSpPr>
        <p:spPr>
          <a:xfrm>
            <a:off x="320040" y="2734310"/>
            <a:ext cx="45720" cy="365760"/>
          </a:xfrm>
          <a:prstGeom prst="rect">
            <a:avLst/>
          </a:prstGeom>
          <a:solidFill>
            <a:srgbClr val="28B5B5"/>
          </a:solidFill>
        </p:spPr>
        <p:txBody>
          <a:bodyPr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73431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layout_toRightOf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43475" y="27584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Place to the right of a 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169666"/>
            <a:ext cx="8412480" cy="365760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24" name="Shape 22"/>
          <p:cNvSpPr/>
          <p:nvPr/>
        </p:nvSpPr>
        <p:spPr>
          <a:xfrm>
            <a:off x="320040" y="3169666"/>
            <a:ext cx="45720" cy="3657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25" name="Text 23"/>
          <p:cNvSpPr/>
          <p:nvPr/>
        </p:nvSpPr>
        <p:spPr>
          <a:xfrm>
            <a:off x="548640" y="3218561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layout_alignParentEnd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43475" y="3211576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Align to end (right) of parent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6165"/>
            <a:ext cx="8412480" cy="1490345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3060" y="3617595"/>
            <a:ext cx="85725" cy="1475105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29" name="Text 27"/>
          <p:cNvSpPr/>
          <p:nvPr/>
        </p:nvSpPr>
        <p:spPr>
          <a:xfrm>
            <a:off x="502920" y="3703320"/>
            <a:ext cx="8229600" cy="123444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&lt;RelativeLayout ...&gt;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&lt;TextView android:id="@+id/title"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android:layout_alignParentTop="true"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android:text="Title" .../&gt;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android:layout_below="@id/title"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android:layout_centerHorizontal="true"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android:text="Submit" .../&gt;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&lt;/RelativeLayout&gt;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ConstraintLayout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Google's recommended flexible layout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ConstraintLayout is the most powerful and recommended layout in Android. Views are positioned using constraints — connections to parent edges, guidelines, or other views. It creates flat, efficient hierarchies.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023360" cy="114300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9" name="Text 7"/>
          <p:cNvSpPr/>
          <p:nvPr/>
        </p:nvSpPr>
        <p:spPr>
          <a:xfrm>
            <a:off x="502920" y="178308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Flat Hierarchy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No nested layouts needed — improves performance.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14300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3" name="Text 11"/>
          <p:cNvSpPr/>
          <p:nvPr/>
        </p:nvSpPr>
        <p:spPr>
          <a:xfrm>
            <a:off x="4892040" y="178308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Constraint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07568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Connect views to parent, guidelines, or siblings.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114300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7" name="Text 15"/>
          <p:cNvSpPr/>
          <p:nvPr/>
        </p:nvSpPr>
        <p:spPr>
          <a:xfrm>
            <a:off x="502920" y="306324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📏  Bias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5584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Control positioning between two constraints (0.0–1.0).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23360" cy="114300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21" name="Text 19"/>
          <p:cNvSpPr/>
          <p:nvPr/>
        </p:nvSpPr>
        <p:spPr>
          <a:xfrm>
            <a:off x="4892040" y="306324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🧩  Chains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35584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Group views and distribute space using chain styles.</a:t>
            </a:r>
            <a:endParaRPr lang="en-US" sz="10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ConstraintLayout — Code Example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Every view must have at least one horizontal and one vertical constraint. Use app: namespace for constraint attributes.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28750"/>
            <a:ext cx="8412480" cy="358394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2585" y="1428750"/>
            <a:ext cx="76200" cy="3584575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8229600" cy="338328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&lt;androidx.constraintlayout.widget.ConstraintLayout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android:layout_height="match_parent"&gt;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&lt;TextView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android:id="@+id/tvTitle"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android:text="Welcome"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app:layout_constraintTop_toTopOf="parent"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app:layout_constraintStart_toStartOf="parent"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app:layout_constraintEnd_toEndOf="parent"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android:layout_marginTop="32dp"/&gt;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android:text="Start"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app:layout_constraintTop_toBottomOf="@id/tvTitle"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app:layout_constraintEnd_toEndOf="parent"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android:layout_marginTop="16dp"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android:layout_marginEnd="24dp"/&gt;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&lt;/androidx.constraintlayout.widget.ConstraintLayout&gt;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FrameLayout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Stack views on top of each other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FrameLayout places all its children stacked at the top-left by default. It is ideal for holding a single child, overlaying views, or as a Fragment container.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474720" cy="2560320"/>
          </a:xfrm>
          <a:prstGeom prst="rect">
            <a:avLst/>
          </a:prstGeom>
          <a:solidFill>
            <a:srgbClr val="0F7173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ImageView (background)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2926080" cy="1645920"/>
          </a:xfrm>
          <a:prstGeom prst="rect">
            <a:avLst/>
          </a:prstGeom>
          <a:solidFill>
            <a:srgbClr val="28B5B5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38"/>
                </a:solidFill>
              </a:rPr>
              <a:t>TextView (overlay)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3017520"/>
            <a:ext cx="2194560" cy="822960"/>
          </a:xfrm>
          <a:prstGeom prst="rect">
            <a:avLst/>
          </a:prstGeom>
          <a:solidFill>
            <a:srgbClr val="0D2B3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31546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Button (top layer)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4572000" cy="260604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600200"/>
            <a:ext cx="73152" cy="260604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5" name="Text 13"/>
          <p:cNvSpPr/>
          <p:nvPr/>
        </p:nvSpPr>
        <p:spPr>
          <a:xfrm>
            <a:off x="4526280" y="1600200"/>
            <a:ext cx="4389120" cy="260604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&lt;FrameLayout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android:layout_height="300dp"&gt;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&lt;ImageView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android:src="@drawable/bg"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android:scaleType="centerCrop"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android:layout_height="match_parent"/&gt;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&lt;TextView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android:text="Caption"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android:layout_gravity="bottom|center"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&lt;/FrameLayout&gt;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8B5B5"/>
                </a:solidFill>
              </a:rPr>
              <a:t>💡  Best Use: Fragment containers &amp; overlapping views</a:t>
            </a:r>
            <a:endParaRPr lang="en-US" sz="11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RelativeLayout vs ConstraintLayout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Choosing the right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47548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7" name="Text 5"/>
          <p:cNvSpPr/>
          <p:nvPr/>
        </p:nvSpPr>
        <p:spPr>
          <a:xfrm>
            <a:off x="502920" y="9601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9601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RelativeLayout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9601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ConstraintLayout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8412480" cy="475488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1" name="Text 9"/>
          <p:cNvSpPr/>
          <p:nvPr/>
        </p:nvSpPr>
        <p:spPr>
          <a:xfrm>
            <a:off x="502920" y="14630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Hierarchy depth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Can be nested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Flat (preferred)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8412480" cy="475488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5" name="Text 13"/>
          <p:cNvSpPr/>
          <p:nvPr/>
        </p:nvSpPr>
        <p:spPr>
          <a:xfrm>
            <a:off x="502920" y="196596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Moderate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8412480" cy="475488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9" name="Text 17"/>
          <p:cNvSpPr/>
          <p:nvPr/>
        </p:nvSpPr>
        <p:spPr>
          <a:xfrm>
            <a:off x="502920" y="24688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Visual editor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24688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Limited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24688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Excellent in Android Studio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8412480" cy="475488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23" name="Text 21"/>
          <p:cNvSpPr/>
          <p:nvPr/>
        </p:nvSpPr>
        <p:spPr>
          <a:xfrm>
            <a:off x="502920" y="297180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Chains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297180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Not supported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297180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Fully supported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8412480" cy="475488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27" name="Text 25"/>
          <p:cNvSpPr/>
          <p:nvPr/>
        </p:nvSpPr>
        <p:spPr>
          <a:xfrm>
            <a:off x="502920" y="34747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Bias control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34747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34747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Available (0.0–1.0)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8412480" cy="475488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31" name="Text 29"/>
          <p:cNvSpPr/>
          <p:nvPr/>
        </p:nvSpPr>
        <p:spPr>
          <a:xfrm>
            <a:off x="502920" y="3977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CA"/>
                </a:solidFill>
              </a:rPr>
              <a:t>Recommended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0" y="3977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Legacy projects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0" y="3977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New projects ✅</a:t>
            </a:r>
            <a:endParaRPr lang="en-US" sz="10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Organize views in rows and columns like an HTML 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TableLayout arranges its children into rows (TableRow). Each TableRow can contain multiple views, and each view occupies a column. Columns can be stretched or collapsed.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029200" cy="438912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8" name="Text 6"/>
          <p:cNvSpPr/>
          <p:nvPr/>
        </p:nvSpPr>
        <p:spPr>
          <a:xfrm>
            <a:off x="548640" y="16276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6276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6276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5029200" cy="438912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2" name="Text 10"/>
          <p:cNvSpPr/>
          <p:nvPr/>
        </p:nvSpPr>
        <p:spPr>
          <a:xfrm>
            <a:off x="548640" y="20848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Alice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0848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0848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Mumbai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5029200" cy="43891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6" name="Text 14"/>
          <p:cNvSpPr/>
          <p:nvPr/>
        </p:nvSpPr>
        <p:spPr>
          <a:xfrm>
            <a:off x="548640" y="25420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Bob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5420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30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5420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Delhi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99232"/>
            <a:ext cx="5029200" cy="438912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20" name="Text 18"/>
          <p:cNvSpPr/>
          <p:nvPr/>
        </p:nvSpPr>
        <p:spPr>
          <a:xfrm>
            <a:off x="548640" y="29992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Carol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29992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99923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D8"/>
                </a:solidFill>
              </a:rPr>
              <a:t>Pune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1627632"/>
            <a:ext cx="3383280" cy="292608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1627632"/>
            <a:ext cx="73152" cy="292608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25" name="Text 23"/>
          <p:cNvSpPr/>
          <p:nvPr/>
        </p:nvSpPr>
        <p:spPr>
          <a:xfrm>
            <a:off x="5715000" y="1627632"/>
            <a:ext cx="3200400" cy="292608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&lt;TableLayout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android:stretchColumns="*"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android:layout_height="wrap_content"&gt;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&lt;TableRow&gt;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android:text="Name"/&gt;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android:text="Age"/&gt;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&lt;/TableRow&gt;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&lt;TableRow&gt;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android:text="Alice"/&gt;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android:text="24"/&gt;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&lt;/TableRow&gt;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&lt;/TableLayout&gt;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55371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stretchColumns="*" → all columns stretch to fill space</a:t>
            </a:r>
            <a:endParaRPr lang="en-US" sz="10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GridLayout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Place views in a flexible grid of rows and columns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GridLayout divides the screen into a grid. Each child specifies which row and column it occupies and how many cells it spans. Unlike TableLayout, children can span multiple rows/columns.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325880" cy="822960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8" name="Text 6"/>
          <p:cNvSpPr/>
          <p:nvPr/>
        </p:nvSpPr>
        <p:spPr>
          <a:xfrm>
            <a:off x="457200" y="16002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(0,0)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1600200"/>
            <a:ext cx="1325880" cy="8229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0" name="Text 8"/>
          <p:cNvSpPr/>
          <p:nvPr/>
        </p:nvSpPr>
        <p:spPr>
          <a:xfrm>
            <a:off x="1874520" y="16002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(0,1)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1325880" cy="822960"/>
          </a:xfrm>
          <a:prstGeom prst="rect">
            <a:avLst/>
          </a:prstGeom>
          <a:solidFill>
            <a:srgbClr val="0A4A5A"/>
          </a:solidFill>
        </p:spPr>
      </p:sp>
      <p:sp>
        <p:nvSpPr>
          <p:cNvPr id="12" name="Text 10"/>
          <p:cNvSpPr/>
          <p:nvPr/>
        </p:nvSpPr>
        <p:spPr>
          <a:xfrm>
            <a:off x="3291840" y="16002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(0,2)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325880" cy="822960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4" name="Text 12"/>
          <p:cNvSpPr/>
          <p:nvPr/>
        </p:nvSpPr>
        <p:spPr>
          <a:xfrm>
            <a:off x="457200" y="25146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(1,0)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2514600"/>
            <a:ext cx="1325880" cy="8229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6" name="Text 14"/>
          <p:cNvSpPr/>
          <p:nvPr/>
        </p:nvSpPr>
        <p:spPr>
          <a:xfrm>
            <a:off x="1874520" y="25146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(1,1)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514600"/>
            <a:ext cx="1325880" cy="822960"/>
          </a:xfrm>
          <a:prstGeom prst="rect">
            <a:avLst/>
          </a:prstGeom>
          <a:solidFill>
            <a:srgbClr val="0A4A5A"/>
          </a:solidFill>
        </p:spPr>
      </p:sp>
      <p:sp>
        <p:nvSpPr>
          <p:cNvPr id="18" name="Text 16"/>
          <p:cNvSpPr/>
          <p:nvPr/>
        </p:nvSpPr>
        <p:spPr>
          <a:xfrm>
            <a:off x="3291840" y="25146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(1,2)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1325880" cy="82296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20" name="Text 18"/>
          <p:cNvSpPr/>
          <p:nvPr/>
        </p:nvSpPr>
        <p:spPr>
          <a:xfrm>
            <a:off x="457200" y="34290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(2,0)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429000"/>
            <a:ext cx="1325880" cy="822960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22" name="Text 20"/>
          <p:cNvSpPr/>
          <p:nvPr/>
        </p:nvSpPr>
        <p:spPr>
          <a:xfrm>
            <a:off x="1874520" y="34290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(2,1)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429000"/>
            <a:ext cx="1325880" cy="822960"/>
          </a:xfrm>
          <a:prstGeom prst="rect">
            <a:avLst/>
          </a:prstGeom>
          <a:solidFill>
            <a:srgbClr val="0A4A5A"/>
          </a:solidFill>
        </p:spPr>
      </p:sp>
      <p:sp>
        <p:nvSpPr>
          <p:cNvPr id="24" name="Text 22"/>
          <p:cNvSpPr/>
          <p:nvPr/>
        </p:nvSpPr>
        <p:spPr>
          <a:xfrm>
            <a:off x="3291840" y="3429000"/>
            <a:ext cx="1325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(2,2)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600200"/>
            <a:ext cx="4206240" cy="278892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00200"/>
            <a:ext cx="73152" cy="278892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27" name="Text 25"/>
          <p:cNvSpPr/>
          <p:nvPr/>
        </p:nvSpPr>
        <p:spPr>
          <a:xfrm>
            <a:off x="4892040" y="1600200"/>
            <a:ext cx="4023360" cy="27889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&lt;GridLayout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android:rowCount="2"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android:columnCount="3"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android:layout_height="wrap_content"&gt;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 android:text="A"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android:layout_row="0"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android:layout_column="0"/&gt;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&lt;Button android:text="Wide"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android:layout_row="1"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android:layout_column="0"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android:layout_columnSpan="3"/&gt;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&lt;/GridLayout&gt;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ScrollView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Enable scrolling when content exceeds screen size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ScrollView wraps a single child view and allows the user to scroll vertically when content is taller than the screen. For horizontal scrolling, use HorizontalScrollView.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194560" cy="3200400"/>
          </a:xfrm>
          <a:prstGeom prst="roundRect">
            <a:avLst>
              <a:gd name="adj" fmla="val 6250"/>
            </a:avLst>
          </a:prstGeom>
          <a:solidFill>
            <a:srgbClr val="0A1E28"/>
          </a:solidFill>
        </p:spPr>
      </p:sp>
      <p:sp>
        <p:nvSpPr>
          <p:cNvPr id="8" name="Shape 6"/>
          <p:cNvSpPr/>
          <p:nvPr/>
        </p:nvSpPr>
        <p:spPr>
          <a:xfrm>
            <a:off x="777240" y="1828800"/>
            <a:ext cx="1737360" cy="38404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9" name="Text 7"/>
          <p:cNvSpPr/>
          <p:nvPr/>
        </p:nvSpPr>
        <p:spPr>
          <a:xfrm>
            <a:off x="777240" y="18288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Item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304288"/>
            <a:ext cx="1737360" cy="38404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1" name="Text 9"/>
          <p:cNvSpPr/>
          <p:nvPr/>
        </p:nvSpPr>
        <p:spPr>
          <a:xfrm>
            <a:off x="777240" y="230428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Item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779776"/>
            <a:ext cx="1737360" cy="38404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3" name="Text 11"/>
          <p:cNvSpPr/>
          <p:nvPr/>
        </p:nvSpPr>
        <p:spPr>
          <a:xfrm>
            <a:off x="777240" y="277977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Item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255264"/>
            <a:ext cx="1737360" cy="384048"/>
          </a:xfrm>
          <a:prstGeom prst="rect">
            <a:avLst/>
          </a:prstGeom>
          <a:solidFill>
            <a:srgbClr val="1A3A47"/>
          </a:solidFill>
        </p:spPr>
      </p:sp>
      <p:sp>
        <p:nvSpPr>
          <p:cNvPr id="15" name="Text 13"/>
          <p:cNvSpPr/>
          <p:nvPr/>
        </p:nvSpPr>
        <p:spPr>
          <a:xfrm>
            <a:off x="777240" y="32552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Item 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730752"/>
            <a:ext cx="1737360" cy="384048"/>
          </a:xfrm>
          <a:prstGeom prst="rect">
            <a:avLst/>
          </a:prstGeom>
          <a:solidFill>
            <a:srgbClr val="1A3A47"/>
          </a:solidFill>
        </p:spPr>
      </p:sp>
      <p:sp>
        <p:nvSpPr>
          <p:cNvPr id="17" name="Text 15"/>
          <p:cNvSpPr/>
          <p:nvPr/>
        </p:nvSpPr>
        <p:spPr>
          <a:xfrm>
            <a:off x="777240" y="37307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Item 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" y="4206240"/>
            <a:ext cx="1737360" cy="384048"/>
          </a:xfrm>
          <a:prstGeom prst="rect">
            <a:avLst/>
          </a:prstGeom>
          <a:solidFill>
            <a:srgbClr val="1A3A47"/>
          </a:solidFill>
        </p:spPr>
      </p:sp>
      <p:sp>
        <p:nvSpPr>
          <p:cNvPr id="19" name="Text 17"/>
          <p:cNvSpPr/>
          <p:nvPr/>
        </p:nvSpPr>
        <p:spPr>
          <a:xfrm>
            <a:off x="777240" y="4206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Item 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B5B5"/>
                </a:solidFill>
              </a:rPr>
              <a:t>▼ scroll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1627632"/>
            <a:ext cx="5760720" cy="320040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17520" y="1627632"/>
            <a:ext cx="73152" cy="320040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23" name="Text 21"/>
          <p:cNvSpPr/>
          <p:nvPr/>
        </p:nvSpPr>
        <p:spPr>
          <a:xfrm>
            <a:off x="3154680" y="1627632"/>
            <a:ext cx="5577840" cy="320040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&lt;ScrollView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android:layout_height="match_parent"&gt;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&lt;!-- Only ONE direct child allowed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&lt;LinearLayout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android:orientation="vertical"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&lt;!-- Add multiple views here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android:text="Item 1" .../&gt;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android:text="Item 2" .../&gt;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&lt;TextView android:text="Item 3" .../&gt;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&lt;/LinearLayout&gt;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&lt;/ScrollView&gt;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7E22"/>
                </a:solidFill>
              </a:rPr>
              <a:t>⚠️  ScrollView only accepts ONE direct child view.</a:t>
            </a:r>
            <a:endParaRPr lang="en-US" sz="11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Layout Units: dp, sp, px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Choose the right unit for consistent UI across devices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Android supports multiple measurement units. Using the right unit ensures your layout looks consistent on phones with different screen densities.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77724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1005840" cy="777240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9" name="Text 7"/>
          <p:cNvSpPr/>
          <p:nvPr/>
        </p:nvSpPr>
        <p:spPr>
          <a:xfrm>
            <a:off x="365760" y="1536192"/>
            <a:ext cx="1005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5727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Density-independent Pixel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847088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Use for all layout dimensions — widths, heights, margins, padding.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77724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1005840" cy="77724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4" name="Text 12"/>
          <p:cNvSpPr/>
          <p:nvPr/>
        </p:nvSpPr>
        <p:spPr>
          <a:xfrm>
            <a:off x="365760" y="2377440"/>
            <a:ext cx="1005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41401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Scale-independent Pixel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2688336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Use for text sizes only. Respects user's font size accessibility settings.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8412480" cy="77724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18688"/>
            <a:ext cx="1005840" cy="77724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9" name="Text 17"/>
          <p:cNvSpPr/>
          <p:nvPr/>
        </p:nvSpPr>
        <p:spPr>
          <a:xfrm>
            <a:off x="365760" y="3218688"/>
            <a:ext cx="1005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25526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Pixels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529584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Avoid in layouts. Varies with screen density — layouts break on different devices.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8412480" cy="777240"/>
          </a:xfrm>
          <a:prstGeom prst="rect">
            <a:avLst/>
          </a:prstGeom>
          <a:solidFill>
            <a:srgbClr val="0A1E28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59936"/>
            <a:ext cx="1005840" cy="777240"/>
          </a:xfrm>
          <a:prstGeom prst="rect">
            <a:avLst/>
          </a:prstGeom>
          <a:solidFill>
            <a:srgbClr val="0A4A5A"/>
          </a:solidFill>
        </p:spPr>
      </p:sp>
      <p:sp>
        <p:nvSpPr>
          <p:cNvPr id="24" name="Text 22"/>
          <p:cNvSpPr/>
          <p:nvPr/>
        </p:nvSpPr>
        <p:spPr>
          <a:xfrm>
            <a:off x="365760" y="4059936"/>
            <a:ext cx="1005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match_parent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09651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Fill Parent Width/Height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4370832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View expands to fill the parent container's available space.</a:t>
            </a:r>
            <a:endParaRPr lang="en-US" sz="10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Margin vs Padding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Understanding spacing in layouts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Margin is the space outside a view (between the view and its neighbors). Padding is the space inside a view (between the view's edge and its content).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B5B5"/>
                </a:solidFill>
              </a:rPr>
              <a:t>MARGIN (outside)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0" cy="2286000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9" name="Shape 7"/>
          <p:cNvSpPr/>
          <p:nvPr/>
        </p:nvSpPr>
        <p:spPr>
          <a:xfrm>
            <a:off x="1005840" y="2240280"/>
            <a:ext cx="2926080" cy="1645920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0" name="Text 8"/>
          <p:cNvSpPr/>
          <p:nvPr/>
        </p:nvSpPr>
        <p:spPr>
          <a:xfrm>
            <a:off x="1005840" y="224028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426110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CA"/>
                </a:solidFill>
              </a:rPr>
              <a:t>↕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62763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PADDING (inside)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938528"/>
            <a:ext cx="3840480" cy="2286000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4" name="Shape 12"/>
          <p:cNvSpPr/>
          <p:nvPr/>
        </p:nvSpPr>
        <p:spPr>
          <a:xfrm>
            <a:off x="5212080" y="2331720"/>
            <a:ext cx="2926080" cy="1508760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5" name="Text 13"/>
          <p:cNvSpPr/>
          <p:nvPr/>
        </p:nvSpPr>
        <p:spPr>
          <a:xfrm>
            <a:off x="5212080" y="2331720"/>
            <a:ext cx="29260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426110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CA"/>
                </a:solidFill>
              </a:rPr>
              <a:t>↕ padding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475488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572000"/>
            <a:ext cx="73152" cy="475488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9" name="Text 17"/>
          <p:cNvSpPr/>
          <p:nvPr/>
        </p:nvSpPr>
        <p:spPr>
          <a:xfrm>
            <a:off x="502920" y="4572000"/>
            <a:ext cx="8229600" cy="47548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android:layout_margin="16dp"   &lt;!-- outside space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android:padding="12dp"          &lt;!-- inside space  --&gt;</a:t>
            </a:r>
            <a:endParaRPr lang="en-US" sz="9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&lt;include&gt; and &lt;merge&gt; Tags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Reuse and optimize layout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Android provides special XML tags to help you reuse layouts and reduce unnecessary view nesting, improving both developer productivity and runtime performance.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B5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&lt;include&gt;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4023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A"/>
                </a:solidFill>
              </a:rPr>
              <a:t>Reuse a separate layout XML file inside another layout. Perfect for toolbars, headers, and repeated UI sections.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023360" cy="118872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73152" cy="118872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1" name="Text 9"/>
          <p:cNvSpPr/>
          <p:nvPr/>
        </p:nvSpPr>
        <p:spPr>
          <a:xfrm>
            <a:off x="502920" y="2468880"/>
            <a:ext cx="3840480" cy="11887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&lt;!-- In activity_main.xml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&lt;include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layout="@layout/toolbar_custom"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android:layout_width="match_parent"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android:layout_height="wrap_content"/&gt;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6002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&lt;merge&gt;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901952"/>
            <a:ext cx="4023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CA"/>
                </a:solidFill>
              </a:rPr>
              <a:t>Eliminates a redundant root ViewGroup when using &lt;include&gt;. The merge tag's children get added directly to the parent, saving one level of nesting.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4023360" cy="1371600"/>
          </a:xfrm>
          <a:prstGeom prst="rect">
            <a:avLst/>
          </a:prstGeom>
          <a:solidFill>
            <a:srgbClr val="1A3A47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468880"/>
            <a:ext cx="73152" cy="1371600"/>
          </a:xfrm>
          <a:prstGeom prst="rect">
            <a:avLst/>
          </a:prstGeom>
          <a:solidFill>
            <a:srgbClr val="28B5B5"/>
          </a:solidFill>
        </p:spPr>
      </p:sp>
      <p:sp>
        <p:nvSpPr>
          <p:cNvPr id="16" name="Text 14"/>
          <p:cNvSpPr/>
          <p:nvPr/>
        </p:nvSpPr>
        <p:spPr>
          <a:xfrm>
            <a:off x="4892040" y="2468880"/>
            <a:ext cx="3840480" cy="137160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&lt;!-- toolbar_custom.xml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&lt;merge xmlns:android="..."&gt;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&lt;TextView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android:text="My App"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android:layout_width="wrap_content"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android:layout_height="wrap_content"/&gt;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&lt;/merge&gt;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8B5B5"/>
                </a:solidFill>
              </a:rPr>
              <a:t>💡  Use ViewStub for layouts that should be inflated lazily (only when needed).</a:t>
            </a:r>
            <a:endParaRPr lang="en-US" sz="11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Layout Performance Tips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Write efficient layouts for smooth 60fps rendering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D8"/>
                </a:solidFill>
              </a:rPr>
              <a:t>Poor layout design can cause slow rendering and janky UIs. Android redraws views on every frame, so flatter and simpler hierarchies are crucial.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603504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8" name="Shape 6"/>
          <p:cNvSpPr/>
          <p:nvPr/>
        </p:nvSpPr>
        <p:spPr>
          <a:xfrm>
            <a:off x="365760" y="1572768"/>
            <a:ext cx="54864" cy="60350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9" name="Text 7"/>
          <p:cNvSpPr/>
          <p:nvPr/>
        </p:nvSpPr>
        <p:spPr>
          <a:xfrm>
            <a:off x="548640" y="159105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🏗️  Prefer flat hierarchies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6537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Use ConstraintLayout instead of multiple nested LinearLayouts. Deep trees slow down measure and layout passes.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603504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" cy="60350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3" name="Text 11"/>
          <p:cNvSpPr/>
          <p:nvPr/>
        </p:nvSpPr>
        <p:spPr>
          <a:xfrm>
            <a:off x="548640" y="225856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🚫  Avoid overdraw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53288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Don't stack opaque backgrounds unnecessarily. Use GPU Overdraw tool in developer options to detect issues.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603504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6" name="Shape 14"/>
          <p:cNvSpPr/>
          <p:nvPr/>
        </p:nvSpPr>
        <p:spPr>
          <a:xfrm>
            <a:off x="365760" y="2907792"/>
            <a:ext cx="54864" cy="60350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17" name="Text 15"/>
          <p:cNvSpPr/>
          <p:nvPr/>
        </p:nvSpPr>
        <p:spPr>
          <a:xfrm>
            <a:off x="548640" y="29260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Use Layout Inspector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Android Studio's Layout Inspector shows the view hierarchy and helps identify bottlenecks in real-time.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8412480" cy="603504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20" name="Shape 18"/>
          <p:cNvSpPr/>
          <p:nvPr/>
        </p:nvSpPr>
        <p:spPr>
          <a:xfrm>
            <a:off x="365760" y="3575304"/>
            <a:ext cx="54864" cy="60350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21" name="Text 19"/>
          <p:cNvSpPr/>
          <p:nvPr/>
        </p:nvSpPr>
        <p:spPr>
          <a:xfrm>
            <a:off x="548640" y="359359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💤  Use ViewStub for rare views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6791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ViewStub delays inflation of rarely-shown views (like error states), saving memory and time at startup.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42816"/>
            <a:ext cx="8412480" cy="603504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24" name="Shape 22"/>
          <p:cNvSpPr/>
          <p:nvPr/>
        </p:nvSpPr>
        <p:spPr>
          <a:xfrm>
            <a:off x="365760" y="4242816"/>
            <a:ext cx="54864" cy="603504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25" name="Text 23"/>
          <p:cNvSpPr/>
          <p:nvPr/>
        </p:nvSpPr>
        <p:spPr>
          <a:xfrm>
            <a:off x="548640" y="426110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♻️  RecyclerView over ListView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3542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CA"/>
                </a:solidFill>
              </a:rPr>
              <a:t>Always use RecyclerView for scrolling lists. It recycles views efficiently and supports flexible layouts.</a:t>
            </a:r>
            <a:endParaRPr lang="en-US" sz="100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8053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Android Layout Types —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B5B5"/>
                </a:solidFill>
              </a:rPr>
              <a:t>Quick reference guide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448056"/>
          </a:xfrm>
          <a:prstGeom prst="rect">
            <a:avLst/>
          </a:prstGeom>
          <a:solidFill>
            <a:srgbClr val="0F7173"/>
          </a:solidFill>
        </p:spPr>
      </p:sp>
      <p:sp>
        <p:nvSpPr>
          <p:cNvPr id="7" name="Text 5"/>
          <p:cNvSpPr/>
          <p:nvPr/>
        </p:nvSpPr>
        <p:spPr>
          <a:xfrm>
            <a:off x="502920" y="960120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960120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960120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Used For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35608"/>
            <a:ext cx="8412480" cy="448056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1" name="Text 9"/>
          <p:cNvSpPr/>
          <p:nvPr/>
        </p:nvSpPr>
        <p:spPr>
          <a:xfrm>
            <a:off x="502920" y="1435608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LinearLayout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1435608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H or 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435608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Simple rows/columns of views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911096"/>
            <a:ext cx="8412480" cy="448056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15" name="Text 13"/>
          <p:cNvSpPr/>
          <p:nvPr/>
        </p:nvSpPr>
        <p:spPr>
          <a:xfrm>
            <a:off x="502920" y="1911096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RelativeLayout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6160" y="1911096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Relative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1911096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Legacy positioning by rules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386584"/>
            <a:ext cx="8412480" cy="448056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19" name="Text 17"/>
          <p:cNvSpPr/>
          <p:nvPr/>
        </p:nvSpPr>
        <p:spPr>
          <a:xfrm>
            <a:off x="502920" y="2386584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ConstraintLayout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2386584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Constraint-based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2386584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Complex, flat modern UIs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862072"/>
            <a:ext cx="8412480" cy="448056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23" name="Text 21"/>
          <p:cNvSpPr/>
          <p:nvPr/>
        </p:nvSpPr>
        <p:spPr>
          <a:xfrm>
            <a:off x="502920" y="2862072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FrameLayout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2862072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Stacked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2862072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Fragments, overlays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8412480" cy="448056"/>
          </a:xfrm>
          <a:prstGeom prst="rect">
            <a:avLst/>
          </a:prstGeom>
          <a:solidFill>
            <a:srgbClr val="0D2535"/>
          </a:solidFill>
        </p:spPr>
      </p:sp>
      <p:sp>
        <p:nvSpPr>
          <p:cNvPr id="27" name="Text 25"/>
          <p:cNvSpPr/>
          <p:nvPr/>
        </p:nvSpPr>
        <p:spPr>
          <a:xfrm>
            <a:off x="502920" y="3337560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TableLayout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66160" y="3337560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Grid (rows)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3337560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Tabular data display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813048"/>
            <a:ext cx="8412480" cy="448056"/>
          </a:xfrm>
          <a:prstGeom prst="rect">
            <a:avLst/>
          </a:prstGeom>
          <a:solidFill>
            <a:srgbClr val="0A1E28"/>
          </a:solidFill>
        </p:spPr>
      </p:sp>
      <p:sp>
        <p:nvSpPr>
          <p:cNvPr id="31" name="Text 29"/>
          <p:cNvSpPr/>
          <p:nvPr/>
        </p:nvSpPr>
        <p:spPr>
          <a:xfrm>
            <a:off x="502920" y="3813048"/>
            <a:ext cx="29260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B5B5"/>
                </a:solidFill>
              </a:rPr>
              <a:t>GridLayout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66160" y="3813048"/>
            <a:ext cx="22860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Row + Column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35040" y="3813048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D8"/>
                </a:solidFill>
              </a:rPr>
              <a:t>Fixed grids with spanning</a:t>
            </a:r>
            <a:endParaRPr lang="en-US" sz="1050" dirty="0"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30585" y="427418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5"/>
          <p:cNvSpPr/>
          <p:nvPr/>
        </p:nvSpPr>
        <p:spPr>
          <a:xfrm>
            <a:off x="1852295" y="2171700"/>
            <a:ext cx="543941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</a:rPr>
              <a:t>THANKYOU</a:t>
            </a:r>
            <a:endParaRPr lang="en-US" sz="45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11366</Words>
  <Application>WPS Presentation</Application>
  <PresentationFormat>On-screen Show (16:9)</PresentationFormat>
  <Paragraphs>607</Paragraphs>
  <Slides>20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Layouts</dc:title>
  <dc:creator>PptxGenJS</dc:creator>
  <dc:subject>PptxGenJS Presentation</dc:subject>
  <cp:lastModifiedBy>WPS_1754546445</cp:lastModifiedBy>
  <cp:revision>9</cp:revision>
  <dcterms:created xsi:type="dcterms:W3CDTF">2026-06-02T06:05:00Z</dcterms:created>
  <dcterms:modified xsi:type="dcterms:W3CDTF">2026-06-02T09:37:14Z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3BC828C698C84CB096F09352FF0883FF_12</vt:lpwstr>
  </property>
</Properties>
</file>