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780395" y="125095"/>
            <a:ext cx="1188720" cy="55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780395" y="125095"/>
            <a:ext cx="1188720" cy="55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image" Target="../media/image1.png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02925" y="201930"/>
            <a:ext cx="1188720" cy="556260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02925" y="201930"/>
            <a:ext cx="1188720" cy="556260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1.xml"/><Relationship Id="rId4" Type="http://schemas.openxmlformats.org/officeDocument/2006/relationships/tags" Target="../tags/tag130.xml"/><Relationship Id="rId3" Type="http://schemas.openxmlformats.org/officeDocument/2006/relationships/image" Target="../media/image4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image" Target="../media/image4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4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1.xml"/><Relationship Id="rId4" Type="http://schemas.openxmlformats.org/officeDocument/2006/relationships/image" Target="../media/image4.png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image" Target="../media/image4.png"/><Relationship Id="rId1" Type="http://schemas.openxmlformats.org/officeDocument/2006/relationships/tags" Target="../tags/tag14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image" Target="../media/image4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image" Target="../media/image4.png"/><Relationship Id="rId1" Type="http://schemas.openxmlformats.org/officeDocument/2006/relationships/tags" Target="../tags/tag15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55.xml"/><Relationship Id="rId5" Type="http://schemas.openxmlformats.org/officeDocument/2006/relationships/image" Target="../media/image4.png"/><Relationship Id="rId4" Type="http://schemas.openxmlformats.org/officeDocument/2006/relationships/tags" Target="../tags/tag154.xml"/><Relationship Id="rId3" Type="http://schemas.openxmlformats.org/officeDocument/2006/relationships/image" Target="../media/image5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3.xml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image" Target="../media/image4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0.xml"/><Relationship Id="rId3" Type="http://schemas.openxmlformats.org/officeDocument/2006/relationships/image" Target="../media/image4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74.xml"/><Relationship Id="rId5" Type="http://schemas.openxmlformats.org/officeDocument/2006/relationships/image" Target="../media/image9.png"/><Relationship Id="rId4" Type="http://schemas.openxmlformats.org/officeDocument/2006/relationships/tags" Target="../tags/tag173.xml"/><Relationship Id="rId3" Type="http://schemas.openxmlformats.org/officeDocument/2006/relationships/image" Target="../media/image4.png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image" Target="../media/image4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4.png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8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tags" Target="../tags/tag184.xml"/><Relationship Id="rId2" Type="http://schemas.openxmlformats.org/officeDocument/2006/relationships/image" Target="../media/image4.png"/><Relationship Id="rId1" Type="http://schemas.openxmlformats.org/officeDocument/2006/relationships/tags" Target="../tags/tag18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89.xml"/><Relationship Id="rId5" Type="http://schemas.openxmlformats.org/officeDocument/2006/relationships/image" Target="../media/image12.png"/><Relationship Id="rId4" Type="http://schemas.openxmlformats.org/officeDocument/2006/relationships/tags" Target="../tags/tag188.xml"/><Relationship Id="rId3" Type="http://schemas.openxmlformats.org/officeDocument/2006/relationships/image" Target="../media/image4.png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image" Target="../media/image4.png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97.xml"/><Relationship Id="rId5" Type="http://schemas.openxmlformats.org/officeDocument/2006/relationships/image" Target="../media/image13.png"/><Relationship Id="rId4" Type="http://schemas.openxmlformats.org/officeDocument/2006/relationships/tags" Target="../tags/tag196.xml"/><Relationship Id="rId3" Type="http://schemas.openxmlformats.org/officeDocument/2006/relationships/image" Target="../media/image4.png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00.xml"/><Relationship Id="rId3" Type="http://schemas.openxmlformats.org/officeDocument/2006/relationships/image" Target="../media/image14.pn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int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330" y="199390"/>
            <a:ext cx="1668780" cy="7848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11550" y="2488565"/>
            <a:ext cx="674878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4000" b="1">
                <a:solidFill>
                  <a:srgbClr val="8AA9FF"/>
                </a:solidFill>
                <a:latin typeface="Times New Roman" panose="02020603050405020304" charset="0"/>
                <a:ea typeface="Calibri-Bold"/>
                <a:cs typeface="Times New Roman" panose="02020603050405020304" charset="0"/>
              </a:rPr>
              <a:t>ANDROID </a:t>
            </a:r>
            <a:r>
              <a:rPr lang="en-IN" sz="4000" b="1">
                <a:solidFill>
                  <a:srgbClr val="8AA9FF"/>
                </a:solidFill>
                <a:latin typeface="Times New Roman" panose="02020603050405020304" charset="0"/>
                <a:ea typeface="Calibri-Bold"/>
                <a:cs typeface="Times New Roman" panose="02020603050405020304" charset="0"/>
              </a:rPr>
              <a:t> </a:t>
            </a:r>
            <a:r>
              <a:rPr sz="4000" b="1">
                <a:solidFill>
                  <a:srgbClr val="8AA9FF"/>
                </a:solidFill>
                <a:latin typeface="Times New Roman" panose="02020603050405020304" charset="0"/>
                <a:ea typeface="Calibri-Bold"/>
                <a:cs typeface="Times New Roman" panose="02020603050405020304" charset="0"/>
              </a:rPr>
              <a:t>APPLICATION </a:t>
            </a:r>
            <a:endParaRPr sz="4000" b="1">
              <a:solidFill>
                <a:srgbClr val="8AA9FF"/>
              </a:solidFill>
              <a:latin typeface="Times New Roman" panose="02020603050405020304" charset="0"/>
              <a:ea typeface="Calibri-Bold"/>
              <a:cs typeface="Times New Roman" panose="02020603050405020304" charset="0"/>
            </a:endParaRPr>
          </a:p>
          <a:p>
            <a:pPr marL="1371600" lvl="3" indent="457200"/>
            <a:r>
              <a:rPr sz="4000" b="1">
                <a:solidFill>
                  <a:srgbClr val="8AA9FF"/>
                </a:solidFill>
                <a:latin typeface="Times New Roman" panose="02020603050405020304" charset="0"/>
                <a:ea typeface="Calibri-Bold"/>
                <a:cs typeface="Times New Roman" panose="02020603050405020304" charset="0"/>
              </a:rPr>
              <a:t>MODEL</a:t>
            </a:r>
            <a:endParaRPr sz="4000" b="1">
              <a:solidFill>
                <a:srgbClr val="8AA9FF"/>
              </a:solidFill>
              <a:latin typeface="Times New Roman" panose="02020603050405020304" charset="0"/>
              <a:ea typeface="Calibri-Bold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INTRODUCTION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66520" y="1873250"/>
            <a:ext cx="9168765" cy="2517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Android applications are programs developed for Android devices.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Android provides a platform to create mobile applications with rich user interaction.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Applications and widgets are placed at the top layer of the Android stack.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Users mainly interact with applications and widgets.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Applications and Widgets Layer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42795" y="2696210"/>
            <a:ext cx="4053205" cy="301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6767195" y="2695575"/>
            <a:ext cx="4053205" cy="301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2261235" y="3136900"/>
            <a:ext cx="3740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 the full screen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Interact directly with users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Perform complete tasks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123440" y="2250440"/>
            <a:ext cx="2580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endParaRPr lang="en-I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944360" y="3136900"/>
            <a:ext cx="3740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Operate inside a small area of the Home Screen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Show quick information and shortcuts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767195" y="2235200"/>
            <a:ext cx="2580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latin typeface="Times New Roman" panose="02020603050405020304" charset="0"/>
                <a:cs typeface="Times New Roman" panose="02020603050405020304" charset="0"/>
              </a:rPr>
              <a:t>Widgets</a:t>
            </a:r>
            <a:endParaRPr lang="en-I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Producing an Android Application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Android applications are mainly developed using: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Java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OR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Kotlin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Android does not use Java ME.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Android uses: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*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Java SE libraries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*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Android-specific libraries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Applications are packaged into: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*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.apk files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APK files are installed on Android devices.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Android Application Packaging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2098730"/>
            <a:ext cx="10969200" cy="47592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APK File</a:t>
            </a:r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APK stands for: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Android Package</a:t>
            </a:r>
            <a:endParaRPr lang="en-US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APK files contain:</a:t>
            </a:r>
            <a:r>
              <a:rPr lang="en-US" altLang="en-US">
                <a:solidFill>
                  <a:schemeClr val="tx1"/>
                </a:solidFill>
              </a:rPr>
              <a:t>Application code</a:t>
            </a:r>
            <a:r>
              <a:rPr lang="en-IN" altLang="en-US">
                <a:solidFill>
                  <a:schemeClr val="tx1"/>
                </a:solidFill>
              </a:rPr>
              <a:t>,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Resources</a:t>
            </a:r>
            <a:r>
              <a:rPr lang="en-IN" altLang="en-US">
                <a:solidFill>
                  <a:schemeClr val="tx1"/>
                </a:solidFill>
                <a:sym typeface="+mn-ea"/>
              </a:rPr>
              <a:t>,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Assets</a:t>
            </a:r>
            <a:r>
              <a:rPr lang="en-IN" altLang="en-US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Manifest file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APK files are used for: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Distribution</a:t>
            </a:r>
            <a:r>
              <a:rPr lang="en-IN" altLang="en-US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Installation of applications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an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25000"/>
          </a:bodyPr>
          <a:p>
            <a:r>
              <a:rPr lang="en-US" altLang="en-US" sz="8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Twitter Application Exampl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514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Suppose we are developing a Twitter application.</a:t>
            </a:r>
            <a:endParaRPr lang="en-US" altLang="en-US" sz="514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514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user should be able to:</a:t>
            </a:r>
            <a:endParaRPr lang="en-US" altLang="en-US" sz="514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514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Post status updates</a:t>
            </a:r>
            <a:endParaRPr lang="en-US" altLang="en-US" sz="514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514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View friends’ activities</a:t>
            </a:r>
            <a:endParaRPr lang="en-US" altLang="en-US" sz="514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514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Login using username and password</a:t>
            </a:r>
            <a:endParaRPr lang="en-US" altLang="en-US" sz="514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8000">
                <a:solidFill>
                  <a:schemeClr val="tx1"/>
                </a:solidFill>
              </a:rPr>
              <a:t>Required screens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 sz="4800">
                <a:solidFill>
                  <a:schemeClr val="tx1"/>
                </a:solidFill>
              </a:rPr>
              <a:t>Login Screen</a:t>
            </a:r>
            <a:endParaRPr lang="en-US" altLang="en-US" sz="4800">
              <a:solidFill>
                <a:schemeClr val="tx1"/>
              </a:solidFill>
            </a:endParaRPr>
          </a:p>
          <a:p>
            <a:r>
              <a:rPr lang="en-US" altLang="en-US" sz="4800">
                <a:solidFill>
                  <a:schemeClr val="tx1"/>
                </a:solidFill>
              </a:rPr>
              <a:t>Status Update Screen</a:t>
            </a:r>
            <a:endParaRPr lang="en-US" altLang="en-US" sz="4800">
              <a:solidFill>
                <a:schemeClr val="tx1"/>
              </a:solidFill>
            </a:endParaRPr>
          </a:p>
          <a:p>
            <a:r>
              <a:rPr lang="en-US" altLang="en-US" sz="4800">
                <a:solidFill>
                  <a:schemeClr val="tx1"/>
                </a:solidFill>
              </a:rPr>
              <a:t>Friends Feed Screen</a:t>
            </a:r>
            <a:endParaRPr lang="en-US" altLang="en-US" sz="4800">
              <a:solidFill>
                <a:schemeClr val="tx1"/>
              </a:solidFill>
            </a:endParaRPr>
          </a:p>
          <a:p>
            <a:endParaRPr lang="en-US" altLang="en-US" sz="4800">
              <a:solidFill>
                <a:schemeClr val="tx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5400" y="735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What an Application Would do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Background Processing and Services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 sz="6665">
                <a:solidFill>
                  <a:schemeClr val="tx1"/>
                </a:solidFill>
              </a:rPr>
              <a:t>To make the application faster and work without internet:</a:t>
            </a:r>
            <a:endParaRPr lang="en-US" altLang="en-US" sz="6665">
              <a:solidFill>
                <a:schemeClr val="tx1"/>
              </a:solidFill>
            </a:endParaRPr>
          </a:p>
          <a:p>
            <a:r>
              <a:rPr lang="en-US" altLang="en-US" sz="4500">
                <a:solidFill>
                  <a:schemeClr val="tx1"/>
                </a:solidFill>
              </a:rPr>
              <a:t>Data is downloaded when internet is available</a:t>
            </a:r>
            <a:endParaRPr lang="en-US" altLang="en-US" sz="4500">
              <a:solidFill>
                <a:schemeClr val="tx1"/>
              </a:solidFill>
            </a:endParaRPr>
          </a:p>
          <a:p>
            <a:r>
              <a:rPr lang="en-US" altLang="en-US" sz="4500">
                <a:solidFill>
                  <a:schemeClr val="tx1"/>
                </a:solidFill>
              </a:rPr>
              <a:t>Data is stored locally using cache</a:t>
            </a:r>
            <a:endParaRPr lang="en-US" altLang="en-US" sz="45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6665">
                <a:solidFill>
                  <a:schemeClr val="tx1"/>
                </a:solidFill>
              </a:rPr>
              <a:t>The application uses:</a:t>
            </a:r>
            <a:endParaRPr lang="en-US" altLang="en-US" sz="6665">
              <a:solidFill>
                <a:schemeClr val="tx1"/>
              </a:solidFill>
            </a:endParaRPr>
          </a:p>
          <a:p>
            <a:r>
              <a:rPr lang="en-US" altLang="en-US" sz="4665">
                <a:solidFill>
                  <a:schemeClr val="tx1"/>
                </a:solidFill>
              </a:rPr>
              <a:t>Background Service</a:t>
            </a:r>
            <a:endParaRPr lang="en-US" altLang="en-US" sz="4665">
              <a:solidFill>
                <a:schemeClr val="tx1"/>
              </a:solidFill>
            </a:endParaRPr>
          </a:p>
          <a:p>
            <a:r>
              <a:rPr lang="en-US" altLang="en-US" sz="4665">
                <a:solidFill>
                  <a:schemeClr val="tx1"/>
                </a:solidFill>
              </a:rPr>
              <a:t>Local Database</a:t>
            </a:r>
            <a:endParaRPr lang="en-US" altLang="en-US" sz="4665">
              <a:solidFill>
                <a:schemeClr val="tx1"/>
              </a:solidFill>
            </a:endParaRPr>
          </a:p>
          <a:p>
            <a:endParaRPr lang="en-US" altLang="en-US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an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18590" y="1757680"/>
            <a:ext cx="3848100" cy="33197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Runs in the background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Updates information automatically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Starts when the device turns 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10655" y="1757680"/>
            <a:ext cx="3848100" cy="33197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Stores data locally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Helps in faster access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Supports offline usage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4640" y="12649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400" b="1">
                <a:sym typeface="+mn-ea"/>
              </a:rPr>
              <a:t>Background Service</a:t>
            </a:r>
            <a:endParaRPr lang="en-US" altLang="en-US" sz="2400" b="1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563235" y="12973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400" b="1">
                <a:sym typeface="+mn-ea"/>
              </a:rPr>
              <a:t>Database</a:t>
            </a:r>
            <a:endParaRPr lang="en-US" altLang="en-US" sz="2400" b="1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  <a:sym typeface="+mn-ea"/>
              </a:rPr>
              <a:t>Application Components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17055" y="1909445"/>
            <a:ext cx="4930140" cy="3587115"/>
          </a:xfrm>
          <a:prstGeom prst="rect">
            <a:avLst/>
          </a:prstGeom>
        </p:spPr>
      </p:pic>
      <p:pic>
        <p:nvPicPr>
          <p:cNvPr id="4" name="Content Placeholder 3" descr="and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07695" y="2614930"/>
            <a:ext cx="5970905" cy="1628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2000"/>
              <a:t>Android applications consist of loosely coupled components, bound using a project manifest that describes each 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component and how they interact.</a:t>
            </a:r>
            <a:endParaRPr lang="en-US" altLang="en-US" sz="2000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Activity and Views in Android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Android applications usually contain multiple screens called Activities.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Each activity has: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  * </a:t>
            </a:r>
            <a:r>
              <a:rPr lang="en-US" altLang="en-US">
                <a:solidFill>
                  <a:schemeClr val="tx1"/>
                </a:solidFill>
              </a:rPr>
              <a:t>Its own window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  * </a:t>
            </a:r>
            <a:r>
              <a:rPr lang="en-US" altLang="en-US">
                <a:solidFill>
                  <a:schemeClr val="tx1"/>
                </a:solidFill>
              </a:rPr>
              <a:t>Its own lifecycle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Moving to another screen starts a new activity.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Activities can return data to previous activities.</a:t>
            </a: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80" y="3520440"/>
            <a:ext cx="1652905" cy="24396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3360" y="3519805"/>
            <a:ext cx="1814195" cy="244030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8387080" y="4413250"/>
            <a:ext cx="743585" cy="282575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Android Views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The UI of an activity is created using Views.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Android provides built-in views such as: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       *   </a:t>
            </a:r>
            <a:r>
              <a:rPr lang="en-US" altLang="en-US">
                <a:solidFill>
                  <a:schemeClr val="tx1"/>
                </a:solidFill>
              </a:rPr>
              <a:t>Buttons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       *   </a:t>
            </a:r>
            <a:r>
              <a:rPr lang="en-US" altLang="en-US">
                <a:solidFill>
                  <a:schemeClr val="tx1"/>
                </a:solidFill>
              </a:rPr>
              <a:t>Menus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       *   </a:t>
            </a:r>
            <a:r>
              <a:rPr lang="en-US" altLang="en-US">
                <a:solidFill>
                  <a:schemeClr val="tx1"/>
                </a:solidFill>
              </a:rPr>
              <a:t>Text Fields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Users interact with activities through views.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Views respond to user actions and events.</a:t>
            </a: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840" y="1052195"/>
            <a:ext cx="3162300" cy="47529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Intents in Android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Intents are message objects used for communication between Android components.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are used to request an action such as: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View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Edit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Delete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Dial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Pick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Types of Intents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83310" y="1876425"/>
            <a:ext cx="3848100" cy="33197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Specifies the exact component or activity to open.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Used mainly inside the same application.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86320" y="1935480"/>
            <a:ext cx="3848100" cy="33197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Does not specify the target component directly.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Android system automatically finds the best application to handle the request.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72895" y="147732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 b="1">
                <a:solidFill>
                  <a:schemeClr val="tx1"/>
                </a:solidFill>
              </a:rPr>
              <a:t>Explicit Intent</a:t>
            </a:r>
            <a:endParaRPr sz="2000" b="1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112000" y="153638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en-US" sz="2000" b="1">
                <a:solidFill>
                  <a:schemeClr val="tx1"/>
                </a:solidFill>
              </a:rPr>
              <a:t>Implicit Inten</a:t>
            </a:r>
            <a:r>
              <a:rPr sz="2000" b="1">
                <a:solidFill>
                  <a:schemeClr val="tx1"/>
                </a:solidFill>
              </a:rPr>
              <a:t>t</a:t>
            </a:r>
            <a:endParaRPr sz="2000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IN" altLang="en-US" b="1" u="sng">
                <a:solidFill>
                  <a:schemeClr val="accent6">
                    <a:lumMod val="75000"/>
                  </a:schemeClr>
                </a:solidFill>
              </a:rPr>
              <a:t>Intents Filters</a:t>
            </a:r>
            <a:endParaRPr lang="en-IN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1814830"/>
            <a:ext cx="6377940" cy="4434840"/>
          </a:xfrm>
        </p:spPr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Intent Filters allow components to declare their capabilities.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help Android decide which component can handle an intent.</a:t>
            </a:r>
            <a:endParaRPr lang="en-US" altLang="en-US" sz="200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270" y="2066925"/>
            <a:ext cx="4591050" cy="16865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Services in Android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A Service is a long-running background task in Android.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Services run in the background without a user interface.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are used for tasks like: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 </a:t>
            </a:r>
            <a:r>
              <a:rPr lang="en-US" altLang="en-US" sz="2000">
                <a:solidFill>
                  <a:schemeClr val="tx1"/>
                </a:solidFill>
              </a:rPr>
              <a:t>Music playback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 </a:t>
            </a:r>
            <a:r>
              <a:rPr lang="en-US" altLang="en-US" sz="2000">
                <a:solidFill>
                  <a:schemeClr val="tx1"/>
                </a:solidFill>
              </a:rPr>
              <a:t>Downloading files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* </a:t>
            </a:r>
            <a:r>
              <a:rPr lang="en-US" altLang="en-US" sz="2000">
                <a:solidFill>
                  <a:schemeClr val="tx1"/>
                </a:solidFill>
              </a:rPr>
              <a:t>Background data updates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83200" y="3216910"/>
            <a:ext cx="2768600" cy="2900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Started Service</a:t>
            </a:r>
            <a:endParaRPr lang="en-US" altLang="en-US" b="1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Started using startService()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Runs independently in the background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68995" y="3216910"/>
            <a:ext cx="3563620" cy="2900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Bound Service</a:t>
            </a:r>
            <a:endParaRPr lang="en-US" altLang="en-US" b="1">
              <a:solidFill>
                <a:schemeClr val="tx1"/>
              </a:solidFill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</a:rPr>
              <a:t>Started using bindService()</a:t>
            </a:r>
            <a:endParaRPr lang="en-US" altLang="en-US">
              <a:solidFill>
                <a:schemeClr val="tx1"/>
              </a:solidFill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</a:rPr>
              <a:t>Allows interaction between the service and other components like activities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Content Providers in Android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en-US" altLang="en-US" sz="2000">
                <a:solidFill>
                  <a:schemeClr val="tx1"/>
                </a:solidFill>
              </a:rPr>
              <a:t>Content Providers are used to share data between Android applications.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make application data available to other apps.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Applications communicate with Content Providers using a ContentResolver.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Provide methods to:Insert data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Update data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Delete data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Query data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Support different types of data storage such as:SQLite Database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Files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Other storage methods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Applications do not access data directly.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use a ContentResolver object.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Android identifies data using:</a:t>
            </a:r>
            <a:r>
              <a:rPr lang="en-IN" altLang="en-US" sz="2000">
                <a:solidFill>
                  <a:schemeClr val="tx1"/>
                </a:solidFill>
              </a:rPr>
              <a:t> </a:t>
            </a:r>
            <a:r>
              <a:rPr lang="en-US" altLang="en-US" sz="2000">
                <a:solidFill>
                  <a:schemeClr val="tx1"/>
                </a:solidFill>
              </a:rPr>
              <a:t>Content URI</a:t>
            </a:r>
            <a:r>
              <a:rPr lang="en-IN" altLang="en-US" sz="2000">
                <a:solidFill>
                  <a:schemeClr val="tx1"/>
                </a:solidFill>
              </a:rPr>
              <a:t>, </a:t>
            </a:r>
            <a:r>
              <a:rPr lang="en-US" altLang="en-US" sz="2000">
                <a:solidFill>
                  <a:schemeClr val="tx1"/>
                </a:solidFill>
              </a:rPr>
              <a:t>MIME Type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an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9710" y="1367790"/>
            <a:ext cx="4114800" cy="1400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530475"/>
            <a:ext cx="6200140" cy="37249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Broadcast Receivers in Android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Broadcast Receivers are used to listen for system or application events.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They extend the BroadcastReceiver class.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Common system broadcasts include: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Low battery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Time zone change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Network change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45885" y="3070225"/>
            <a:ext cx="4507865" cy="2900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Features</a:t>
            </a:r>
            <a:endParaRPr lang="en-US" altLang="en-US" b="1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Broadcast Receivers do not have a user interface.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They can:Start an activity</a:t>
            </a:r>
            <a:r>
              <a:rPr lang="en-IN" altLang="en-US">
                <a:solidFill>
                  <a:schemeClr val="tx1"/>
                </a:solidFill>
              </a:rPr>
              <a:t>, 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Show notifications to users</a:t>
            </a: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805" y="4951730"/>
            <a:ext cx="3800475" cy="10191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Notifications in Android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Notifications are used to alert users about important information.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A small icon appears in the status bar for user interaction.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Users can tap the notification to view details.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19340" y="3070225"/>
            <a:ext cx="3679825" cy="34867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Features</a:t>
            </a:r>
            <a:endParaRPr lang="en-US" altLang="en-US" b="1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Play sounds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Vibrate the device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Flash lights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Show status bar icons</a:t>
            </a:r>
            <a:endParaRPr lang="en-US" altLang="en-US">
              <a:solidFill>
                <a:schemeClr val="tx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Notifications are the preferred way to get the user’s attention.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</a:rPr>
              <a:t>AndroidManifest.xml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an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077460"/>
            <a:ext cx="1572895" cy="15728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r>
              <a:rPr lang="en-US" altLang="en-US" sz="2000">
                <a:solidFill>
                  <a:schemeClr val="tx1"/>
                </a:solidFill>
              </a:rPr>
              <a:t>Android must know about application components before starting them.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Components are declared in the AndroidManifest.xml file.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Components Declared in Manifest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 * </a:t>
            </a:r>
            <a:r>
              <a:rPr lang="en-US" altLang="en-US" sz="2000">
                <a:solidFill>
                  <a:schemeClr val="tx1"/>
                </a:solidFill>
              </a:rPr>
              <a:t>Activities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 * </a:t>
            </a:r>
            <a:r>
              <a:rPr lang="en-US" altLang="en-US" sz="2000">
                <a:solidFill>
                  <a:schemeClr val="tx1"/>
                </a:solidFill>
              </a:rPr>
              <a:t>Services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 * </a:t>
            </a:r>
            <a:r>
              <a:rPr lang="en-US" altLang="en-US" sz="2000">
                <a:solidFill>
                  <a:schemeClr val="tx1"/>
                </a:solidFill>
              </a:rPr>
              <a:t>Broadcast Receivers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chemeClr val="tx1"/>
                </a:solidFill>
              </a:rPr>
              <a:t>   * </a:t>
            </a:r>
            <a:r>
              <a:rPr lang="en-US" altLang="en-US" sz="2000">
                <a:solidFill>
                  <a:schemeClr val="tx1"/>
                </a:solidFill>
              </a:rPr>
              <a:t>Content Providers</a:t>
            </a:r>
            <a:endParaRPr lang="en-US" altLang="en-US" sz="20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070" y="2926080"/>
            <a:ext cx="5724525" cy="31623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en-US" b="1" u="sng">
                <a:solidFill>
                  <a:schemeClr val="accent6">
                    <a:lumMod val="75000"/>
                  </a:schemeClr>
                </a:solidFill>
                <a:sym typeface="+mn-ea"/>
              </a:rPr>
              <a:t>Features of Manifest File</a:t>
            </a:r>
            <a:endParaRPr lang="en-US" altLang="en-US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It is a structured XML file.</a:t>
            </a:r>
            <a:endParaRPr lang="en-US" altLang="en-US"/>
          </a:p>
          <a:p>
            <a:r>
              <a:rPr lang="en-US" altLang="en-US"/>
              <a:t>Every Android application must contain this file.</a:t>
            </a:r>
            <a:endParaRPr lang="en-US" altLang="en-US"/>
          </a:p>
          <a:p>
            <a:r>
              <a:rPr lang="en-US" altLang="en-US"/>
              <a:t>It defines: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*  </a:t>
            </a:r>
            <a:r>
              <a:rPr lang="en-US" altLang="en-US"/>
              <a:t>Application components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* </a:t>
            </a:r>
            <a:r>
              <a:rPr lang="en-US" altLang="en-US"/>
              <a:t>Required libraries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* </a:t>
            </a:r>
            <a:r>
              <a:rPr lang="en-US" altLang="en-US"/>
              <a:t>Permissions needed by the application.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825" y="2824480"/>
            <a:ext cx="4880610" cy="2704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4967</Words>
  <Application>WPS Presentation</Application>
  <PresentationFormat>Widescreen</PresentationFormat>
  <Paragraphs>208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Calibri-Bold</vt:lpstr>
      <vt:lpstr>Segoe Print</vt:lpstr>
      <vt:lpstr>Times New Roman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Android Application Packaging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Intents in Android</vt:lpstr>
      <vt:lpstr>Intents in Android</vt:lpstr>
      <vt:lpstr>Intents in Android</vt:lpstr>
      <vt:lpstr>Intents in Android</vt:lpstr>
      <vt:lpstr>Intents in Android</vt:lpstr>
      <vt:lpstr>Intents in Android</vt:lpstr>
      <vt:lpstr>Intents in Android</vt:lpstr>
      <vt:lpstr>Intents in Android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riyan</dc:creator>
  <cp:lastModifiedBy>Riyana</cp:lastModifiedBy>
  <cp:revision>1</cp:revision>
  <dcterms:created xsi:type="dcterms:W3CDTF">2026-05-25T11:33:32Z</dcterms:created>
  <dcterms:modified xsi:type="dcterms:W3CDTF">2026-05-25T11:33:32Z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A230001ABFED46028DF6A25FF72C44EB_11</vt:lpwstr>
  </property>
</Properties>
</file>